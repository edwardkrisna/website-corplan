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2"/>
  </p:notesMasterIdLst>
  <p:sldIdLst>
    <p:sldId id="346" r:id="rId2"/>
    <p:sldId id="347" r:id="rId3"/>
    <p:sldId id="352" r:id="rId4"/>
    <p:sldId id="333" r:id="rId5"/>
    <p:sldId id="261" r:id="rId6"/>
    <p:sldId id="325" r:id="rId7"/>
    <p:sldId id="335" r:id="rId8"/>
    <p:sldId id="327" r:id="rId9"/>
    <p:sldId id="336" r:id="rId10"/>
    <p:sldId id="329" r:id="rId11"/>
    <p:sldId id="348" r:id="rId12"/>
    <p:sldId id="337" r:id="rId13"/>
    <p:sldId id="331" r:id="rId14"/>
    <p:sldId id="338" r:id="rId15"/>
    <p:sldId id="353" r:id="rId16"/>
    <p:sldId id="312" r:id="rId17"/>
    <p:sldId id="345" r:id="rId18"/>
    <p:sldId id="351" r:id="rId19"/>
    <p:sldId id="350" r:id="rId20"/>
    <p:sldId id="344" r:id="rId21"/>
  </p:sldIdLst>
  <p:sldSz cx="9144000" cy="5143500" type="screen16x9"/>
  <p:notesSz cx="6858000" cy="9144000"/>
  <p:embeddedFontLst>
    <p:embeddedFont>
      <p:font typeface="Palanquin" panose="020B000402020302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618"/>
    <a:srgbClr val="949530"/>
    <a:srgbClr val="F1E819"/>
    <a:srgbClr val="E0D817"/>
    <a:srgbClr val="FFFFFF"/>
    <a:srgbClr val="DEDA27"/>
    <a:srgbClr val="BABC36"/>
    <a:srgbClr val="006B54"/>
    <a:srgbClr val="96C449"/>
    <a:srgbClr val="95C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E7F71-E929-8B4B-831C-49462018A49E}" v="238" dt="2026-01-13T03:17:03.510"/>
    <p1510:client id="{C48C326F-3A7D-46B2-B7FE-330C88C23950}" v="46" dt="2026-01-13T10:11:03.298"/>
  </p1510:revLst>
</p1510:revInfo>
</file>

<file path=ppt/tableStyles.xml><?xml version="1.0" encoding="utf-8"?>
<a:tblStyleLst xmlns:a="http://schemas.openxmlformats.org/drawingml/2006/main" def="{63880C63-ABA5-47B6-BCEC-ADF76586A5FF}">
  <a:tblStyle styleId="{63880C63-ABA5-47B6-BCEC-ADF76586A5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89"/>
    <p:restoredTop sz="91406"/>
  </p:normalViewPr>
  <p:slideViewPr>
    <p:cSldViewPr snapToGrid="0">
      <p:cViewPr varScale="1">
        <p:scale>
          <a:sx n="120" d="100"/>
          <a:sy n="120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9.7494223907128294E-2"/>
          <c:w val="0.95416666666666672"/>
          <c:h val="0.59822742737846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92-4DD7-A915-4443C14D8C2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88</c:v>
                </c:pt>
                <c:pt idx="2">
                  <c:v>69</c:v>
                </c:pt>
                <c:pt idx="3">
                  <c:v>20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92-4DD7-A915-4443C14D8C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297</c:v>
                </c:pt>
                <c:pt idx="1">
                  <c:v>113</c:v>
                </c:pt>
                <c:pt idx="2">
                  <c:v>42</c:v>
                </c:pt>
                <c:pt idx="3">
                  <c:v>11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92-4DD7-A915-4443C14D8C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41488108180867478"/>
          <c:y val="0.85653451897921484"/>
          <c:w val="0.17023783638265047"/>
          <c:h val="0.14346548102078521"/>
        </c:manualLayout>
      </c:layout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1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</c:v>
                </c:pt>
                <c:pt idx="1">
                  <c:v>72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9-4B53-9112-9CB95B6B1A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316</c:v>
                </c:pt>
                <c:pt idx="1">
                  <c:v>58</c:v>
                </c:pt>
                <c:pt idx="2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9-4B53-9112-9CB95B6B1A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9.7494223907128294E-2"/>
          <c:w val="0.95416666666666672"/>
          <c:h val="0.59822742737846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92-4DD7-A915-4443C14D8C2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88</c:v>
                </c:pt>
                <c:pt idx="2">
                  <c:v>69</c:v>
                </c:pt>
                <c:pt idx="3">
                  <c:v>20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92-4DD7-A915-4443C14D8C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297</c:v>
                </c:pt>
                <c:pt idx="1">
                  <c:v>113</c:v>
                </c:pt>
                <c:pt idx="2">
                  <c:v>42</c:v>
                </c:pt>
                <c:pt idx="3">
                  <c:v>11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92-4DD7-A915-4443C14D8C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1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</c:v>
                </c:pt>
                <c:pt idx="1">
                  <c:v>72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9-4B53-9112-9CB95B6B1A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316</c:v>
                </c:pt>
                <c:pt idx="1">
                  <c:v>58</c:v>
                </c:pt>
                <c:pt idx="2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9-4B53-9112-9CB95B6B1A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10611173603299E-3"/>
          <c:y val="5.0670359884236182E-2"/>
          <c:w val="0.95416666666666672"/>
          <c:h val="0.60995842137890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949530"/>
              </a:solidFill>
              <a:ln>
                <a:solidFill>
                  <a:schemeClr val="accent6">
                    <a:lumMod val="1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0-2D44-4647-BB00-010900EFB340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</c:v>
                </c:pt>
                <c:pt idx="1">
                  <c:v>59</c:v>
                </c:pt>
                <c:pt idx="2">
                  <c:v>53</c:v>
                </c:pt>
                <c:pt idx="3">
                  <c:v>39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A1-454A-AF54-53EF44483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Asset Valuation</c:v>
                </c:pt>
                <c:pt idx="1">
                  <c:v>Business Valuation</c:v>
                </c:pt>
                <c:pt idx="2">
                  <c:v>Consultancy</c:v>
                </c:pt>
                <c:pt idx="3">
                  <c:v>Monitoring</c:v>
                </c:pt>
                <c:pt idx="4">
                  <c:v>Others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239</c:v>
                </c:pt>
                <c:pt idx="1">
                  <c:v>73</c:v>
                </c:pt>
                <c:pt idx="2">
                  <c:v>29</c:v>
                </c:pt>
                <c:pt idx="3">
                  <c:v>15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A1-454A-AF54-53EF444832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3.5092663721912817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</c:v>
                </c:pt>
                <c:pt idx="1">
                  <c:v>95</c:v>
                </c:pt>
                <c:pt idx="2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1C-4D96-971F-AB21141CC5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EDA27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EFE618"/>
              </a:solidFill>
              <a:ln>
                <a:solidFill>
                  <a:schemeClr val="accent6">
                    <a:lumMod val="1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0-0F01-074D-BCEB-9574F84A6FFB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Property</c:v>
                </c:pt>
                <c:pt idx="1">
                  <c:v>Agri</c:v>
                </c:pt>
                <c:pt idx="2">
                  <c:v>Industry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250</c:v>
                </c:pt>
                <c:pt idx="1">
                  <c:v>48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1C-4D96-971F-AB21141CC5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3.5092663721912817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7-4F43-9759-9EABEF2702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183</c:v>
                </c:pt>
                <c:pt idx="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E7-4F43-9759-9EABEF2702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916666666666665E-2"/>
          <c:y val="3.5092663721912817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7-4F43-9759-9EABEF2702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Client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183</c:v>
                </c:pt>
                <c:pt idx="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E7-4F43-9759-9EABEF2702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011971717820987E-2"/>
          <c:y val="2.9716366099398865E-2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49530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RKT</c:v>
                </c:pt>
                <c:pt idx="1">
                  <c:v>HMD</c:v>
                </c:pt>
                <c:pt idx="2">
                  <c:v>DSP</c:v>
                </c:pt>
                <c:pt idx="3">
                  <c:v>MDS</c:v>
                </c:pt>
                <c:pt idx="4">
                  <c:v>VVN</c:v>
                </c:pt>
                <c:pt idx="5">
                  <c:v>NST</c:v>
                </c:pt>
                <c:pt idx="6">
                  <c:v>JLK</c:v>
                </c:pt>
                <c:pt idx="7">
                  <c:v>DBI</c:v>
                </c:pt>
                <c:pt idx="8">
                  <c:v>LRA</c:v>
                </c:pt>
                <c:pt idx="9">
                  <c:v>AGH</c:v>
                </c:pt>
                <c:pt idx="10">
                  <c:v>THE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44</c:v>
                </c:pt>
                <c:pt idx="1">
                  <c:v>37</c:v>
                </c:pt>
                <c:pt idx="2">
                  <c:v>1</c:v>
                </c:pt>
                <c:pt idx="3">
                  <c:v>29</c:v>
                </c:pt>
                <c:pt idx="4">
                  <c:v>74</c:v>
                </c:pt>
                <c:pt idx="5">
                  <c:v>56</c:v>
                </c:pt>
                <c:pt idx="6">
                  <c:v>9</c:v>
                </c:pt>
                <c:pt idx="7">
                  <c:v>10</c:v>
                </c:pt>
                <c:pt idx="8">
                  <c:v>8</c:v>
                </c:pt>
                <c:pt idx="9">
                  <c:v>7</c:v>
                </c:pt>
                <c:pt idx="1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A4-4065-AC40-CD9612577A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FE618"/>
            </a:solidFill>
            <a:ln>
              <a:solidFill>
                <a:schemeClr val="accent6">
                  <a:lumMod val="1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RKT</c:v>
                </c:pt>
                <c:pt idx="1">
                  <c:v>HMD</c:v>
                </c:pt>
                <c:pt idx="2">
                  <c:v>DSP</c:v>
                </c:pt>
                <c:pt idx="3">
                  <c:v>MDS</c:v>
                </c:pt>
                <c:pt idx="4">
                  <c:v>VVN</c:v>
                </c:pt>
                <c:pt idx="5">
                  <c:v>NST</c:v>
                </c:pt>
                <c:pt idx="6">
                  <c:v>JLK</c:v>
                </c:pt>
                <c:pt idx="7">
                  <c:v>DBI</c:v>
                </c:pt>
                <c:pt idx="8">
                  <c:v>LRA</c:v>
                </c:pt>
                <c:pt idx="9">
                  <c:v>AGH</c:v>
                </c:pt>
                <c:pt idx="10">
                  <c:v>THE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55</c:v>
                </c:pt>
                <c:pt idx="1">
                  <c:v>29</c:v>
                </c:pt>
                <c:pt idx="2">
                  <c:v>1</c:v>
                </c:pt>
                <c:pt idx="3">
                  <c:v>19</c:v>
                </c:pt>
                <c:pt idx="4">
                  <c:v>60</c:v>
                </c:pt>
                <c:pt idx="5">
                  <c:v>63</c:v>
                </c:pt>
                <c:pt idx="6">
                  <c:v>17</c:v>
                </c:pt>
                <c:pt idx="7">
                  <c:v>10</c:v>
                </c:pt>
                <c:pt idx="8">
                  <c:v>8</c:v>
                </c:pt>
                <c:pt idx="9">
                  <c:v>7</c:v>
                </c:pt>
                <c:pt idx="1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A4-4065-AC40-CD9612577A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solidFill>
      <a:srgbClr val="FFFFFF">
        <a:alpha val="50196"/>
      </a:srgbClr>
    </a:solidFill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Ketepatan</a:t>
            </a:r>
            <a:r>
              <a:rPr lang="en-US" sz="105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Waktu </a:t>
            </a: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untuk</a:t>
            </a:r>
            <a:r>
              <a:rPr lang="en-US" sz="105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</a:t>
            </a: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Penyampaian</a:t>
            </a:r>
            <a:r>
              <a:rPr lang="en-US" sz="105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Proposal dan </a:t>
            </a:r>
            <a:r>
              <a:rPr lang="en-US" sz="105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Laporan</a:t>
            </a:r>
            <a:endParaRPr lang="en-US" sz="1050" b="1" i="0" u="none" strike="noStrike" kern="1200" spc="0" baseline="0" dirty="0">
              <a:solidFill>
                <a:srgbClr val="EAE2B7">
                  <a:lumMod val="10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Ketepatan Waktu untuk Penyampaian Proposal dan Laporan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53-5940-A6F8-1D42CBF15324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53-5940-A6F8-1D42CBF1532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53-5940-A6F8-1D42CBF15324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53-5940-A6F8-1D42CBF153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Belum Tercapai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5-5B47-A699-8564FB6F0A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Koordinasi</a:t>
            </a:r>
            <a:r>
              <a:rPr lang="en-US" sz="11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</a:t>
            </a: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dengan</a:t>
            </a:r>
            <a:r>
              <a:rPr lang="en-US" sz="11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Finance </a:t>
            </a: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untuk</a:t>
            </a:r>
            <a:r>
              <a:rPr lang="en-US" sz="11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</a:t>
            </a:r>
            <a:r>
              <a:rPr lang="en-US" sz="11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Pembayaran</a:t>
            </a:r>
            <a:endParaRPr lang="en-US" sz="1100" b="1" i="0" u="none" strike="noStrike" kern="1200" spc="0" baseline="0" dirty="0">
              <a:solidFill>
                <a:srgbClr val="EAE2B7">
                  <a:lumMod val="10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Koordinasi dengan Finance untuk Pembayaran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CA-9E4D-BB43-D6AAA304C7E6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CA-9E4D-BB43-D6AAA304C7E6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CA-9E4D-BB43-D6AAA304C7E6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CA-9E4D-BB43-D6AAA304C7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Belum Tercapai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CA-9E4D-BB43-D6AAA304C7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spc="0" baseline="0" dirty="0" err="1">
                <a:solidFill>
                  <a:srgbClr val="EAE2B7">
                    <a:lumMod val="10000"/>
                  </a:srgbClr>
                </a:solidFill>
              </a:rPr>
              <a:t>Penerapan</a:t>
            </a:r>
            <a:r>
              <a:rPr lang="en-US" sz="1200" b="1" i="0" u="none" strike="noStrike" kern="1200" spc="0" baseline="0" dirty="0">
                <a:solidFill>
                  <a:srgbClr val="EAE2B7">
                    <a:lumMod val="10000"/>
                  </a:srgbClr>
                </a:solidFill>
              </a:rPr>
              <a:t> RIS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Penerapan RIS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18-3E44-BF94-0904BCB6B31C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918-3E44-BF94-0904BCB6B31C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918-3E44-BF94-0904BCB6B31C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918-3E44-BF94-0904BCB6B3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Belum Tercapai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18-3E44-BF94-0904BCB6B3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3100B799-A480-F9D2-40E4-235ADBC6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:notes">
            <a:extLst>
              <a:ext uri="{FF2B5EF4-FFF2-40B4-BE49-F238E27FC236}">
                <a16:creationId xmlns:a16="http://schemas.microsoft.com/office/drawing/2014/main" id="{1E40EF59-AFF4-D21F-A82B-3E526A9C4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p:notes">
            <a:extLst>
              <a:ext uri="{FF2B5EF4-FFF2-40B4-BE49-F238E27FC236}">
                <a16:creationId xmlns:a16="http://schemas.microsoft.com/office/drawing/2014/main" id="{F706B6CA-A3B7-4C43-1A7F-6FAF846E2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668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5BA5E3C-394D-B244-8A92-A33B7A30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C75E021F-A601-B527-BD4D-D669A09E7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05F78BC7-6E65-5E71-8AE2-456AC2013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0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8C989D0-2D7E-0ADB-F5BB-73EE78C7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D2538051-CF5E-D6D0-2271-0C9BA883B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D907DD17-C492-766F-34B9-870314478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84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C78F7A1-A872-657F-7E91-4C1E1218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72E75879-B651-C0FB-2D46-2A61FC02C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BAE59F3-1748-0D8D-5C04-EE8A0D10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054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DD979223-5AE2-D412-2670-FBA32039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A1F9CC66-C23A-8CEB-C27A-05EA5642A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B0DCDA5D-B888-0B6C-3C8D-4D4DF4B01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153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9A37B0A-CD94-7305-01E1-4ED43064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C3C36B54-282C-4550-25BA-F4CA4FA66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C1F03351-66EC-9A4A-8797-5FA6E813D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349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93C0D801-53CC-9C18-1A39-BADF510F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1263F610-8849-1CC8-2DFF-AD117D59E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165F4A26-C0F2-64D8-DA27-6DA4DB24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835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B342142-B702-2ACA-C9A5-D74AA146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980F7BFB-7BC2-74DF-4616-6CDBA1817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7F601F10-2440-C372-82F8-CC1FF0BAD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54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FD7E86D3-FBBA-E945-2473-254A0AAA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209244CA-730B-1C9E-54D2-4076E7942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46E084F0-26B6-ABDD-2617-9B6DA01F1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591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B6318BAC-F8FE-B773-45EA-805087C1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5F983B84-BA36-A3C3-6A52-1D88A03E6D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F31BD655-44CD-8EB9-E56E-AFCF4C4357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To</a:t>
            </a:r>
            <a:r>
              <a:rPr lang="en-US" baseline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/>
              <a:t>Please fill based on available data only, just keep it as it is for unavailable data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132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358EC71F-5370-15EF-2269-33888091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1BC17971-7A84-FC4B-7452-D66A7FA63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BCA334D-1970-0A2A-1EEF-D5285DBCA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481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CD555BCE-A87A-A18A-80ED-F232A56E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AB7EA923-F37F-B379-578A-B8986C59D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26837075-B3ED-235D-A206-23E7CE180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047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697AC74F-5501-D108-AB2A-17EBC5C2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5FCBA921-2FDB-47FE-E547-B35E79526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ADC42007-7A5D-91C7-8A7E-8AEE96009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448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A900F145-0361-0430-8D02-591C166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7084F365-283A-56F7-F0AB-3BEFF89B4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C90EA57C-5F3D-C857-62E5-E6749ADD2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467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3ee9329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529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5B64A7DA-5684-51EB-62FA-4E153F03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>
            <a:extLst>
              <a:ext uri="{FF2B5EF4-FFF2-40B4-BE49-F238E27FC236}">
                <a16:creationId xmlns:a16="http://schemas.microsoft.com/office/drawing/2014/main" id="{17E7D736-9421-FFB2-D645-6BF1DF55D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3ee93297a_0_5:notes">
            <a:extLst>
              <a:ext uri="{FF2B5EF4-FFF2-40B4-BE49-F238E27FC236}">
                <a16:creationId xmlns:a16="http://schemas.microsoft.com/office/drawing/2014/main" id="{FE8846B2-478D-6FD7-44D3-460416A6E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207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E9BDADF-A187-7210-A7E0-1565DC31B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24864B4C-813E-F933-7537-88B34D02B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7B0F91A-378D-49A2-1AC2-FE5B23ADD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638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397307E0-8919-2FF0-77BF-B0F743B9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>
            <a:extLst>
              <a:ext uri="{FF2B5EF4-FFF2-40B4-BE49-F238E27FC236}">
                <a16:creationId xmlns:a16="http://schemas.microsoft.com/office/drawing/2014/main" id="{83705DD8-C303-58BC-E297-504D979CC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3ee93297a_0_5:notes">
            <a:extLst>
              <a:ext uri="{FF2B5EF4-FFF2-40B4-BE49-F238E27FC236}">
                <a16:creationId xmlns:a16="http://schemas.microsoft.com/office/drawing/2014/main" id="{A07C6002-1F1C-A4F0-0A16-248A718F1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347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932104ddb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932104ddb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84750" y="987975"/>
            <a:ext cx="4546200" cy="25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84875" y="3455700"/>
            <a:ext cx="45462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102075" y="4669125"/>
            <a:ext cx="1157700" cy="1157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920850" y="234100"/>
            <a:ext cx="610800" cy="6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484250" y="4604000"/>
            <a:ext cx="357600" cy="3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125375" y="234100"/>
            <a:ext cx="610800" cy="61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731172" y="1943338"/>
            <a:ext cx="4699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31050" y="636125"/>
            <a:ext cx="4699800" cy="14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731150" y="3219775"/>
            <a:ext cx="4699500" cy="808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>
            <a:off x="3731150" y="2774950"/>
            <a:ext cx="4699500" cy="36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8740750" y="4072000"/>
            <a:ext cx="2916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4065075" y="60275"/>
            <a:ext cx="429900" cy="42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103750" y="2539350"/>
            <a:ext cx="291600" cy="29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1" name="Google Shape;61;p13">
            <a:hlinkClick r:id="rId2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1636585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1636576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5"/>
          </p:nvPr>
        </p:nvSpPr>
        <p:spPr>
          <a:xfrm>
            <a:off x="1636585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1636576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>
            <a:hlinkClick r:id="" action="ppaction://noaction"/>
          </p:cNvPr>
          <p:cNvSpPr txBox="1">
            <a:spLocks noGrp="1"/>
          </p:cNvSpPr>
          <p:nvPr>
            <p:ph type="title" idx="7" hasCustomPrompt="1"/>
          </p:nvPr>
        </p:nvSpPr>
        <p:spPr>
          <a:xfrm>
            <a:off x="332117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7" name="Google Shape;67;p13">
            <a:hlinkClick r:id="" action="ppaction://noaction"/>
          </p:cNvPr>
          <p:cNvSpPr txBox="1">
            <a:spLocks noGrp="1"/>
          </p:cNvSpPr>
          <p:nvPr>
            <p:ph type="title" idx="8"/>
          </p:nvPr>
        </p:nvSpPr>
        <p:spPr>
          <a:xfrm>
            <a:off x="4244527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>
            <a:hlinkClick r:id="" action="ppaction://noaction"/>
          </p:cNvPr>
          <p:cNvSpPr txBox="1">
            <a:spLocks noGrp="1"/>
          </p:cNvSpPr>
          <p:nvPr>
            <p:ph type="subTitle" idx="9"/>
          </p:nvPr>
        </p:nvSpPr>
        <p:spPr>
          <a:xfrm>
            <a:off x="4244526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332117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/>
          </p:nvPr>
        </p:nvSpPr>
        <p:spPr>
          <a:xfrm>
            <a:off x="4244527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4244526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>
            <a:hlinkClick r:id="" action="ppaction://noaction"/>
          </p:cNvPr>
          <p:cNvSpPr txBox="1">
            <a:spLocks noGrp="1"/>
          </p:cNvSpPr>
          <p:nvPr>
            <p:ph type="title" idx="16" hasCustomPrompt="1"/>
          </p:nvPr>
        </p:nvSpPr>
        <p:spPr>
          <a:xfrm>
            <a:off x="59291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3" name="Google Shape;73;p13">
            <a:hlinkClick r:id="" action="ppaction://noaction"/>
          </p:cNvPr>
          <p:cNvSpPr txBox="1">
            <a:spLocks noGrp="1"/>
          </p:cNvSpPr>
          <p:nvPr>
            <p:ph type="title" idx="17"/>
          </p:nvPr>
        </p:nvSpPr>
        <p:spPr>
          <a:xfrm>
            <a:off x="6852450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852456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9" hasCustomPrompt="1"/>
          </p:nvPr>
        </p:nvSpPr>
        <p:spPr>
          <a:xfrm>
            <a:off x="59291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0"/>
          </p:nvPr>
        </p:nvSpPr>
        <p:spPr>
          <a:xfrm>
            <a:off x="6852450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1"/>
          </p:nvPr>
        </p:nvSpPr>
        <p:spPr>
          <a:xfrm>
            <a:off x="6852456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CUSTOM_4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8482675" y="2888050"/>
            <a:ext cx="456300" cy="4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14675" y="2086400"/>
            <a:ext cx="418800" cy="41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7489825" y="173500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5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5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8524150" y="1232025"/>
            <a:ext cx="1088100" cy="10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-431825" y="3851325"/>
            <a:ext cx="1088100" cy="1087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1363550" y="84175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5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676950" y="151150"/>
            <a:ext cx="776700" cy="7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2390225" y="4293125"/>
            <a:ext cx="1601700" cy="160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8030725" y="1257250"/>
            <a:ext cx="912000" cy="91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5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7539900" y="3535550"/>
            <a:ext cx="965700" cy="9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7"/>
          <p:cNvSpPr/>
          <p:nvPr/>
        </p:nvSpPr>
        <p:spPr>
          <a:xfrm>
            <a:off x="6274125" y="-381700"/>
            <a:ext cx="1647600" cy="164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-223100" y="3504650"/>
            <a:ext cx="1463100" cy="146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592125" y="328975"/>
            <a:ext cx="609900" cy="6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Thank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flipH="1">
            <a:off x="1538827" y="1324175"/>
            <a:ext cx="35025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 flipH="1">
            <a:off x="1538827" y="2131875"/>
            <a:ext cx="35025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/>
          <p:nvPr/>
        </p:nvSpPr>
        <p:spPr>
          <a:xfrm flipH="1">
            <a:off x="1538825" y="3416175"/>
            <a:ext cx="35025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CREDITS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.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  <p:extLst>
      <p:ext uri="{BB962C8B-B14F-4D97-AF65-F5344CB8AC3E}">
        <p14:creationId xmlns:p14="http://schemas.microsoft.com/office/powerpoint/2010/main" val="250155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97B18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78425"/>
            <a:ext cx="77175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8" r:id="rId9"/>
    <p:sldLayoutId id="2147483670" r:id="rId10"/>
    <p:sldLayoutId id="2147483671" r:id="rId11"/>
    <p:sldLayoutId id="2147483672" r:id="rId12"/>
    <p:sldLayoutId id="2147483673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slide" Target="slide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A7B6167-B72B-1000-B016-32FD9080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05A2966-623D-DC63-4792-F3A9FF954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189" name="Google Shape;189;p30">
            <a:hlinkClick r:id="rId4" action="ppaction://hlinksldjump"/>
            <a:extLst>
              <a:ext uri="{FF2B5EF4-FFF2-40B4-BE49-F238E27FC236}">
                <a16:creationId xmlns:a16="http://schemas.microsoft.com/office/drawing/2014/main" id="{C82021A1-976F-3034-6CCB-C976B38BCFB8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EFE6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5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Supporting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2BD6DECD-E2E2-F334-4F36-F93D70D06EB0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C4D852A3-900A-7039-882F-F103EB670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7" y="443953"/>
            <a:ext cx="1890363" cy="6128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7D2B5A8-EE8E-29C2-027B-088CDA467A17}"/>
              </a:ext>
            </a:extLst>
          </p:cNvPr>
          <p:cNvSpPr txBox="1">
            <a:spLocks/>
          </p:cNvSpPr>
          <p:nvPr/>
        </p:nvSpPr>
        <p:spPr>
          <a:xfrm>
            <a:off x="586728" y="1278193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44304-948B-525A-4B53-4B3D7DF8FC8D}"/>
              </a:ext>
            </a:extLst>
          </p:cNvPr>
          <p:cNvSpPr txBox="1"/>
          <p:nvPr/>
        </p:nvSpPr>
        <p:spPr>
          <a:xfrm>
            <a:off x="613353" y="3221119"/>
            <a:ext cx="3782897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4C525-384B-6DFA-C5E1-E9A1F8B4573B}"/>
              </a:ext>
            </a:extLst>
          </p:cNvPr>
          <p:cNvSpPr txBox="1"/>
          <p:nvPr/>
        </p:nvSpPr>
        <p:spPr>
          <a:xfrm>
            <a:off x="613352" y="4351213"/>
            <a:ext cx="4194621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Januari – 1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 di R Hotel,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Rancamaya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Ciawi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Kota Bogor</a:t>
            </a:r>
            <a:endParaRPr lang="en-ID" sz="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996806-9812-6280-1EFC-0A488A7E3FFA}"/>
              </a:ext>
            </a:extLst>
          </p:cNvPr>
          <p:cNvCxnSpPr>
            <a:cxnSpLocks/>
          </p:cNvCxnSpPr>
          <p:nvPr/>
        </p:nvCxnSpPr>
        <p:spPr>
          <a:xfrm>
            <a:off x="674091" y="3104596"/>
            <a:ext cx="2953846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61A46A-6FE5-3035-2DC4-8EBC3E8EDE6F}"/>
              </a:ext>
            </a:extLst>
          </p:cNvPr>
          <p:cNvCxnSpPr>
            <a:cxnSpLocks/>
          </p:cNvCxnSpPr>
          <p:nvPr/>
        </p:nvCxnSpPr>
        <p:spPr>
          <a:xfrm>
            <a:off x="674091" y="4201664"/>
            <a:ext cx="3897909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9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55138CF-6534-39F3-7011-A6D3F7AF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E6E2884-1ACB-25D6-72AC-83750886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7107" r="-15" b="26278"/>
          <a:stretch>
            <a:fillRect/>
          </a:stretch>
        </p:blipFill>
        <p:spPr>
          <a:xfrm>
            <a:off x="4707923" y="722873"/>
            <a:ext cx="4560874" cy="3442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F9F6A0-B4EC-9487-447A-D2B21F2E265F}"/>
              </a:ext>
            </a:extLst>
          </p:cNvPr>
          <p:cNvSpPr txBox="1"/>
          <p:nvPr/>
        </p:nvSpPr>
        <p:spPr>
          <a:xfrm>
            <a:off x="151447" y="2444053"/>
            <a:ext cx="5825607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b="1" dirty="0" err="1"/>
              <a:t>bukan</a:t>
            </a:r>
            <a:r>
              <a:rPr lang="en-ID" b="1" dirty="0"/>
              <a:t> </a:t>
            </a:r>
            <a:r>
              <a:rPr lang="en-ID" b="1" dirty="0" err="1"/>
              <a:t>hanya</a:t>
            </a:r>
            <a:r>
              <a:rPr lang="en-ID" b="1" dirty="0"/>
              <a:t> </a:t>
            </a:r>
            <a:r>
              <a:rPr lang="en-ID" b="1" dirty="0" err="1"/>
              <a:t>soal</a:t>
            </a:r>
            <a:r>
              <a:rPr lang="en-ID" b="1" dirty="0"/>
              <a:t> </a:t>
            </a:r>
            <a:r>
              <a:rPr lang="en-ID" b="1" dirty="0" err="1"/>
              <a:t>angka</a:t>
            </a:r>
            <a:r>
              <a:rPr lang="en-ID" b="1" dirty="0"/>
              <a:t>, </a:t>
            </a:r>
            <a:r>
              <a:rPr lang="en-ID" b="1" dirty="0" err="1"/>
              <a:t>tapi</a:t>
            </a:r>
            <a:r>
              <a:rPr lang="en-ID" b="1" dirty="0"/>
              <a:t> </a:t>
            </a:r>
            <a:r>
              <a:rPr lang="en-ID" b="1" dirty="0" err="1"/>
              <a:t>tanggung</a:t>
            </a:r>
            <a:r>
              <a:rPr lang="en-ID" b="1" dirty="0"/>
              <a:t> </a:t>
            </a:r>
            <a:r>
              <a:rPr lang="en-ID" b="1" dirty="0" err="1"/>
              <a:t>jawab</a:t>
            </a:r>
            <a:r>
              <a:rPr lang="en-ID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en-ID" b="1" dirty="0" err="1"/>
              <a:t>Melalui</a:t>
            </a:r>
            <a:r>
              <a:rPr lang="en-ID" b="1" dirty="0"/>
              <a:t>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tindakan</a:t>
            </a:r>
            <a:r>
              <a:rPr lang="en-ID" b="1" dirty="0"/>
              <a:t> </a:t>
            </a:r>
            <a:r>
              <a:rPr lang="en-ID" b="1" dirty="0" err="1"/>
              <a:t>kecil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dan </a:t>
            </a:r>
            <a:r>
              <a:rPr lang="en-ID" dirty="0" err="1"/>
              <a:t>transformatif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 dan </a:t>
            </a:r>
            <a:r>
              <a:rPr lang="en-ID" dirty="0" err="1"/>
              <a:t>masyarakat</a:t>
            </a:r>
            <a:r>
              <a:rPr lang="en-ID" b="1" dirty="0"/>
              <a:t>.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D" sz="28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7B3154-D5FC-3779-4F3B-F98D9B4BE7CC}"/>
              </a:ext>
            </a:extLst>
          </p:cNvPr>
          <p:cNvSpPr txBox="1"/>
          <p:nvPr/>
        </p:nvSpPr>
        <p:spPr>
          <a:xfrm>
            <a:off x="868529" y="397777"/>
            <a:ext cx="378289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Google Shape;231;g3694320abce_0_0">
            <a:extLst>
              <a:ext uri="{FF2B5EF4-FFF2-40B4-BE49-F238E27FC236}">
                <a16:creationId xmlns:a16="http://schemas.microsoft.com/office/drawing/2014/main" id="{8D16214F-44F8-4C6B-CDDA-0B94EF2EA5C6}"/>
              </a:ext>
            </a:extLst>
          </p:cNvPr>
          <p:cNvSpPr/>
          <p:nvPr/>
        </p:nvSpPr>
        <p:spPr>
          <a:xfrm>
            <a:off x="4445029" y="803121"/>
            <a:ext cx="5247532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C89688-69FB-F9FD-035D-72B3BF2E88D6}"/>
              </a:ext>
            </a:extLst>
          </p:cNvPr>
          <p:cNvGrpSpPr/>
          <p:nvPr/>
        </p:nvGrpSpPr>
        <p:grpSpPr>
          <a:xfrm>
            <a:off x="151447" y="444533"/>
            <a:ext cx="660585" cy="808613"/>
            <a:chOff x="8374955" y="177830"/>
            <a:chExt cx="660585" cy="808613"/>
          </a:xfrm>
        </p:grpSpPr>
        <p:pic>
          <p:nvPicPr>
            <p:cNvPr id="6" name="Picture 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E69DDD4-59F5-F67E-8018-DBE9A2781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2870C45-32E0-C78F-FB2D-ABA45F9060AE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E6867BAB-FA8F-46FB-94E3-9114F78C25C9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7ABF7C-9FD5-F881-9D16-32231F696BF4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01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346FA88F-E788-CD8D-95FD-B176C995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F605F450-AE8F-CC0E-989E-C8C640343190}"/>
              </a:ext>
            </a:extLst>
          </p:cNvPr>
          <p:cNvSpPr/>
          <p:nvPr/>
        </p:nvSpPr>
        <p:spPr>
          <a:xfrm>
            <a:off x="812032" y="3366547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2CA4B2F3-F541-B8BB-F08E-B7D14548B9BD}"/>
              </a:ext>
            </a:extLst>
          </p:cNvPr>
          <p:cNvSpPr/>
          <p:nvPr/>
        </p:nvSpPr>
        <p:spPr>
          <a:xfrm>
            <a:off x="3579198" y="1661531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8C4C49FE-951C-A47D-A488-597115A5455C}"/>
              </a:ext>
            </a:extLst>
          </p:cNvPr>
          <p:cNvSpPr/>
          <p:nvPr/>
        </p:nvSpPr>
        <p:spPr>
          <a:xfrm>
            <a:off x="847352" y="1671822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3E7F1E96-2BE4-83F4-933E-C99625A67F48}"/>
              </a:ext>
            </a:extLst>
          </p:cNvPr>
          <p:cNvSpPr/>
          <p:nvPr/>
        </p:nvSpPr>
        <p:spPr>
          <a:xfrm>
            <a:off x="3579198" y="3352161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Google Shape;226;p33">
            <a:hlinkClick r:id="" action="ppaction://noaction"/>
            <a:extLst>
              <a:ext uri="{FF2B5EF4-FFF2-40B4-BE49-F238E27FC236}">
                <a16:creationId xmlns:a16="http://schemas.microsoft.com/office/drawing/2014/main" id="{930E7AD8-8F1A-C0BB-1649-BB0141130BA4}"/>
              </a:ext>
            </a:extLst>
          </p:cNvPr>
          <p:cNvSpPr/>
          <p:nvPr/>
        </p:nvSpPr>
        <p:spPr>
          <a:xfrm>
            <a:off x="5902444" y="1600736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Google Shape;230;p33">
            <a:hlinkClick r:id="rId3" action="ppaction://hlinksldjump"/>
            <a:extLst>
              <a:ext uri="{FF2B5EF4-FFF2-40B4-BE49-F238E27FC236}">
                <a16:creationId xmlns:a16="http://schemas.microsoft.com/office/drawing/2014/main" id="{4522B5CA-65A4-FD4E-7F93-60A228C56CB9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722473" y="1851881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 &amp; Contract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40270550-FDD1-7EF6-DCEA-DDB703E64521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683845" y="355689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</a:t>
            </a:r>
          </a:p>
        </p:txBody>
      </p:sp>
      <p:sp>
        <p:nvSpPr>
          <p:cNvPr id="236" name="Google Shape;236;p33">
            <a:hlinkClick r:id="rId4" action="ppaction://hlinksldjump"/>
            <a:extLst>
              <a:ext uri="{FF2B5EF4-FFF2-40B4-BE49-F238E27FC236}">
                <a16:creationId xmlns:a16="http://schemas.microsoft.com/office/drawing/2014/main" id="{E82E2332-8018-16E4-8C8A-7BA190C72B61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499195" y="1865414"/>
            <a:ext cx="1144742" cy="4094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</a:p>
        </p:txBody>
      </p:sp>
      <p:sp>
        <p:nvSpPr>
          <p:cNvPr id="239" name="Google Shape;239;p33">
            <a:hlinkClick r:id="" action="ppaction://noaction"/>
            <a:extLst>
              <a:ext uri="{FF2B5EF4-FFF2-40B4-BE49-F238E27FC236}">
                <a16:creationId xmlns:a16="http://schemas.microsoft.com/office/drawing/2014/main" id="{F33853C0-1554-80B7-60FA-AF457B9FE887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4483361" y="3527732"/>
            <a:ext cx="1419083" cy="4094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242" name="Google Shape;242;p33">
            <a:hlinkClick r:id="" action="ppaction://noaction"/>
            <a:extLst>
              <a:ext uri="{FF2B5EF4-FFF2-40B4-BE49-F238E27FC236}">
                <a16:creationId xmlns:a16="http://schemas.microsoft.com/office/drawing/2014/main" id="{FE8E415C-87C0-4F46-04D7-A1C8CA539577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6865930" y="1851881"/>
            <a:ext cx="1562897" cy="4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 and Valuation Purpose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D23BD-316D-E272-68EF-A3D72DD8D6A4}"/>
              </a:ext>
            </a:extLst>
          </p:cNvPr>
          <p:cNvSpPr txBox="1"/>
          <p:nvPr/>
        </p:nvSpPr>
        <p:spPr>
          <a:xfrm>
            <a:off x="847352" y="416300"/>
            <a:ext cx="2102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6">
                    <a:lumMod val="10000"/>
                  </a:schemeClr>
                </a:solidFill>
              </a:rPr>
              <a:t>CONTENT</a:t>
            </a:r>
            <a:endParaRPr lang="en-ID" sz="30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Google Shape;231;g3694320abce_0_0">
            <a:extLst>
              <a:ext uri="{FF2B5EF4-FFF2-40B4-BE49-F238E27FC236}">
                <a16:creationId xmlns:a16="http://schemas.microsoft.com/office/drawing/2014/main" id="{7DDF2089-6E6A-7B0A-F607-DB204E953A3A}"/>
              </a:ext>
            </a:extLst>
          </p:cNvPr>
          <p:cNvSpPr/>
          <p:nvPr/>
        </p:nvSpPr>
        <p:spPr>
          <a:xfrm>
            <a:off x="2984679" y="687169"/>
            <a:ext cx="6159321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54BE252-F88A-7999-E160-4E4882946984}"/>
              </a:ext>
            </a:extLst>
          </p:cNvPr>
          <p:cNvGrpSpPr/>
          <p:nvPr/>
        </p:nvGrpSpPr>
        <p:grpSpPr>
          <a:xfrm>
            <a:off x="151447" y="328581"/>
            <a:ext cx="660585" cy="808613"/>
            <a:chOff x="8374955" y="177830"/>
            <a:chExt cx="660585" cy="808613"/>
          </a:xfrm>
        </p:grpSpPr>
        <p:pic>
          <p:nvPicPr>
            <p:cNvPr id="30" name="Picture 2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264F938-9F5B-3855-8408-AC925EEA8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6E7376CA-4BC5-0459-5DF5-33723A4E2E00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433266C-E8A8-AEF8-34F3-3597A719D70D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C4CCF6-435A-6640-8B27-ACB1F59E74CD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4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D65342F0-D3F4-A1AE-F998-D80EB2D8EDA5}"/>
              </a:ext>
            </a:extLst>
          </p:cNvPr>
          <p:cNvSpPr/>
          <p:nvPr/>
        </p:nvSpPr>
        <p:spPr>
          <a:xfrm>
            <a:off x="5902444" y="3346579"/>
            <a:ext cx="817200" cy="817200"/>
          </a:xfrm>
          <a:prstGeom prst="ellipse">
            <a:avLst/>
          </a:prstGeom>
          <a:solidFill>
            <a:srgbClr val="EFE618"/>
          </a:solidFill>
          <a:ln>
            <a:solidFill>
              <a:schemeClr val="accent6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239;p33">
            <a:hlinkClick r:id="" action="ppaction://noaction"/>
            <a:extLst>
              <a:ext uri="{FF2B5EF4-FFF2-40B4-BE49-F238E27FC236}">
                <a16:creationId xmlns:a16="http://schemas.microsoft.com/office/drawing/2014/main" id="{51A0BC37-701A-DD1B-55AC-CBC2DBCF8EEC}"/>
              </a:ext>
            </a:extLst>
          </p:cNvPr>
          <p:cNvSpPr txBox="1">
            <a:spLocks/>
          </p:cNvSpPr>
          <p:nvPr/>
        </p:nvSpPr>
        <p:spPr>
          <a:xfrm>
            <a:off x="6903913" y="3522150"/>
            <a:ext cx="1684500" cy="40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</a:p>
        </p:txBody>
      </p:sp>
    </p:spTree>
    <p:extLst>
      <p:ext uri="{BB962C8B-B14F-4D97-AF65-F5344CB8AC3E}">
        <p14:creationId xmlns:p14="http://schemas.microsoft.com/office/powerpoint/2010/main" val="271176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C31A5A26-124B-1292-3CE1-324DAF96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5800A384-F96E-71FF-E11F-C1D3BEB6CA9F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130FE5-E5F9-1822-8E94-94A084E75B06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 &amp; Contract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7E1E5EE6-BE82-6ED6-1B64-CB12FDA05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4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95D854-A1D0-7650-509C-FE2FA1DFBE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688422"/>
              </p:ext>
            </p:extLst>
          </p:nvPr>
        </p:nvGraphicFramePr>
        <p:xfrm>
          <a:off x="556260" y="798144"/>
          <a:ext cx="7243425" cy="183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973E5B5-81B8-D4EE-5A6B-53D6548F2E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91535"/>
              </p:ext>
            </p:extLst>
          </p:nvPr>
        </p:nvGraphicFramePr>
        <p:xfrm>
          <a:off x="556261" y="2687914"/>
          <a:ext cx="7243425" cy="192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14;p41">
            <a:extLst>
              <a:ext uri="{FF2B5EF4-FFF2-40B4-BE49-F238E27FC236}">
                <a16:creationId xmlns:a16="http://schemas.microsoft.com/office/drawing/2014/main" id="{6CC0FD96-E537-5EDD-9A47-5EED106EAC42}"/>
              </a:ext>
            </a:extLst>
          </p:cNvPr>
          <p:cNvSpPr txBox="1"/>
          <p:nvPr/>
        </p:nvSpPr>
        <p:spPr>
          <a:xfrm>
            <a:off x="7756670" y="1492686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Services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8" name="Google Shape;414;p41">
            <a:extLst>
              <a:ext uri="{FF2B5EF4-FFF2-40B4-BE49-F238E27FC236}">
                <a16:creationId xmlns:a16="http://schemas.microsoft.com/office/drawing/2014/main" id="{076B4114-9623-A5EE-49C2-AE6D7C83292F}"/>
              </a:ext>
            </a:extLst>
          </p:cNvPr>
          <p:cNvSpPr txBox="1"/>
          <p:nvPr/>
        </p:nvSpPr>
        <p:spPr>
          <a:xfrm>
            <a:off x="7799685" y="3434064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Sector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218F92E8-BD04-CAF7-543C-12A1C8A7D63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F0E76B-8598-2AFF-7A2C-0640AF457772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0E05CF98-BD9C-29A2-6788-07450F34312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85D842-5B2F-39BC-CB9A-D9B71D6A4D66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02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7311B18F-8DCD-5C3E-845E-0018A86E82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EE1070FB-A9DB-61DA-2A1A-D08A301D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2B17B0A-B6AB-E589-947C-E2E61AF18F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340966"/>
              </p:ext>
            </p:extLst>
          </p:nvPr>
        </p:nvGraphicFramePr>
        <p:xfrm>
          <a:off x="556260" y="798144"/>
          <a:ext cx="7243425" cy="183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2D33CAF-A778-6AC3-FEF5-9919A6B3A8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0955396"/>
              </p:ext>
            </p:extLst>
          </p:nvPr>
        </p:nvGraphicFramePr>
        <p:xfrm>
          <a:off x="556261" y="2687914"/>
          <a:ext cx="7243425" cy="192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14;p41">
            <a:extLst>
              <a:ext uri="{FF2B5EF4-FFF2-40B4-BE49-F238E27FC236}">
                <a16:creationId xmlns:a16="http://schemas.microsoft.com/office/drawing/2014/main" id="{BA239073-4249-39D9-4DFA-550B2A371FC6}"/>
              </a:ext>
            </a:extLst>
          </p:cNvPr>
          <p:cNvSpPr txBox="1"/>
          <p:nvPr/>
        </p:nvSpPr>
        <p:spPr>
          <a:xfrm>
            <a:off x="7756670" y="1494134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Services</a:t>
            </a:r>
          </a:p>
        </p:txBody>
      </p:sp>
      <p:sp>
        <p:nvSpPr>
          <p:cNvPr id="8" name="Google Shape;414;p41">
            <a:extLst>
              <a:ext uri="{FF2B5EF4-FFF2-40B4-BE49-F238E27FC236}">
                <a16:creationId xmlns:a16="http://schemas.microsoft.com/office/drawing/2014/main" id="{A7ADB7E2-248C-3E44-DB18-B9D1F3B3D368}"/>
              </a:ext>
            </a:extLst>
          </p:cNvPr>
          <p:cNvSpPr txBox="1"/>
          <p:nvPr/>
        </p:nvSpPr>
        <p:spPr>
          <a:xfrm>
            <a:off x="7756670" y="3428640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Sector</a:t>
            </a: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083EFE8D-99A5-8A8E-47CB-4322C7DF0472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8D6C2C-A8ED-9A6F-1C79-380D20642BDC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008ED1BC-AB6A-08D5-57C9-85EBC10AF26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D86945-B8D7-C626-F29B-1BDC056CEEE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03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2742989F-AE1D-82C1-477B-A1F54C7995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0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AB7A5C6A-806C-D9C2-447F-998AB031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C2E31442-9636-51B7-9D4E-9D6C75F8DA50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B4E044-58B8-B121-BC6E-7852184013DB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8662E0E0-F77D-8A7E-09B0-EC4D1E5C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4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0124831D-E2BC-8FBB-41F4-94305819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4;p41">
            <a:extLst>
              <a:ext uri="{FF2B5EF4-FFF2-40B4-BE49-F238E27FC236}">
                <a16:creationId xmlns:a16="http://schemas.microsoft.com/office/drawing/2014/main" id="{AAFB7291-D9C3-37A5-86E4-4C2129051CB2}"/>
              </a:ext>
            </a:extLst>
          </p:cNvPr>
          <p:cNvSpPr txBox="1"/>
          <p:nvPr/>
        </p:nvSpPr>
        <p:spPr>
          <a:xfrm>
            <a:off x="7416800" y="1532352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Services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8" name="Google Shape;414;p41">
            <a:extLst>
              <a:ext uri="{FF2B5EF4-FFF2-40B4-BE49-F238E27FC236}">
                <a16:creationId xmlns:a16="http://schemas.microsoft.com/office/drawing/2014/main" id="{481A0110-2D61-202A-1600-B4BB00514FFA}"/>
              </a:ext>
            </a:extLst>
          </p:cNvPr>
          <p:cNvSpPr txBox="1"/>
          <p:nvPr/>
        </p:nvSpPr>
        <p:spPr>
          <a:xfrm>
            <a:off x="7467600" y="3611148"/>
            <a:ext cx="134431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By Sector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75517E-CE01-827A-BB19-DF381D9B94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639397"/>
              </p:ext>
            </p:extLst>
          </p:nvPr>
        </p:nvGraphicFramePr>
        <p:xfrm>
          <a:off x="332086" y="796140"/>
          <a:ext cx="7084714" cy="2005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413635-8120-6B7C-3615-D2997E0DD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5473601"/>
              </p:ext>
            </p:extLst>
          </p:nvPr>
        </p:nvGraphicFramePr>
        <p:xfrm>
          <a:off x="343025" y="2910913"/>
          <a:ext cx="7073775" cy="1833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8BF0B65B-D988-5DBE-D7CE-4D137B0688B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918D7B-0734-F4AA-CD77-61588CADD703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D858BD7A-4813-CB76-FEBC-FFE64B12C596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D340E71-4F4C-E894-FDB5-D5482FF9364F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05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FCC152ED-A9B5-7F24-D363-93CAC22B06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85F85098-AFBE-D302-B5CB-240C92FC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D4018B61-8605-D2BC-D326-593838F39F51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B51FDF-46AE-89C7-AAAF-11F915013249}"/>
              </a:ext>
            </a:extLst>
          </p:cNvPr>
          <p:cNvSpPr txBox="1">
            <a:spLocks/>
          </p:cNvSpPr>
          <p:nvPr/>
        </p:nvSpPr>
        <p:spPr>
          <a:xfrm>
            <a:off x="2570854" y="2120289"/>
            <a:ext cx="475462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 and Valuation Purpose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0BDFD7D6-0075-2289-A8CA-E27F5875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51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42B21910-314B-3C09-60EC-C8F193B0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ABAF7E0-747A-0C0D-CB08-C16353DD5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9059144"/>
              </p:ext>
            </p:extLst>
          </p:nvPr>
        </p:nvGraphicFramePr>
        <p:xfrm>
          <a:off x="713225" y="1162944"/>
          <a:ext cx="3045975" cy="314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DA5C6-EBA4-92FB-404C-887E9637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0288"/>
              </p:ext>
            </p:extLst>
          </p:nvPr>
        </p:nvGraphicFramePr>
        <p:xfrm>
          <a:off x="3918857" y="1112200"/>
          <a:ext cx="4511793" cy="323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 Value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(IDR Million)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71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C00E05B6-AE93-7534-5C81-97E04ED273AE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0AE175-CECF-EE76-80D4-5612521C59B4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03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Top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B50CCEF8-EFE1-6AB9-711A-0EFE228D321B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49D89-464F-1D0B-246C-A18EB6ECA151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07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8832F700-0B27-0D3E-4857-6E9F950C09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10" name="Google Shape;414;p41">
            <a:extLst>
              <a:ext uri="{FF2B5EF4-FFF2-40B4-BE49-F238E27FC236}">
                <a16:creationId xmlns:a16="http://schemas.microsoft.com/office/drawing/2014/main" id="{4CCAC1EA-3E3F-FF17-C694-7AFC27C877E4}"/>
              </a:ext>
            </a:extLst>
          </p:cNvPr>
          <p:cNvSpPr txBox="1"/>
          <p:nvPr/>
        </p:nvSpPr>
        <p:spPr>
          <a:xfrm>
            <a:off x="3918857" y="575438"/>
            <a:ext cx="4509970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Top Client</a:t>
            </a:r>
          </a:p>
        </p:txBody>
      </p:sp>
    </p:spTree>
    <p:extLst>
      <p:ext uri="{BB962C8B-B14F-4D97-AF65-F5344CB8AC3E}">
        <p14:creationId xmlns:p14="http://schemas.microsoft.com/office/powerpoint/2010/main" val="221059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F472A390-8CB3-BB4F-200E-B4420FC0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6BA29CC-DC2F-EBFB-D741-B4EBF06525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675008"/>
              </p:ext>
            </p:extLst>
          </p:nvPr>
        </p:nvGraphicFramePr>
        <p:xfrm>
          <a:off x="713225" y="1162944"/>
          <a:ext cx="3045975" cy="314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B81BF2-83A1-8A85-1FA0-3282D1CA3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23016"/>
              </p:ext>
            </p:extLst>
          </p:nvPr>
        </p:nvGraphicFramePr>
        <p:xfrm>
          <a:off x="3918857" y="1112200"/>
          <a:ext cx="4511793" cy="323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 Value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(IDR Million)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71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9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633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ABEFAC38-0423-5361-E723-5C7C9F2DFA11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EDFFD2-9450-9BA1-4321-BFF1F112F86D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03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Top Valuation Purpose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149A00A3-5F35-6C9B-6AA0-10004A6EB2FF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70E831-9116-A659-1964-7ECE11B89192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08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A071F685-35E1-8111-916D-F595D6388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10" name="Google Shape;414;p41">
            <a:extLst>
              <a:ext uri="{FF2B5EF4-FFF2-40B4-BE49-F238E27FC236}">
                <a16:creationId xmlns:a16="http://schemas.microsoft.com/office/drawing/2014/main" id="{36484AB4-08AF-F8A3-2396-075DB2C69FFF}"/>
              </a:ext>
            </a:extLst>
          </p:cNvPr>
          <p:cNvSpPr txBox="1"/>
          <p:nvPr/>
        </p:nvSpPr>
        <p:spPr>
          <a:xfrm>
            <a:off x="3918857" y="575438"/>
            <a:ext cx="4509970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Top Valuation Purpose Based on Revenue</a:t>
            </a:r>
            <a:endParaRPr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  <p:extLst>
      <p:ext uri="{BB962C8B-B14F-4D97-AF65-F5344CB8AC3E}">
        <p14:creationId xmlns:p14="http://schemas.microsoft.com/office/powerpoint/2010/main" val="3779067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89583DF8-51AA-F98D-A1C5-51B33D4C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0C692675-9022-989E-CEFE-C8E8F02301AA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DE71A7-E2B0-9003-FFE9-6C3A4929DB0D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2D17DC08-C68B-B68E-696C-4EA02469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00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6E448E38-3D42-189F-42D9-BA3F6FC2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AA8A73-8E52-7220-AFF0-57CDC51A5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7925594"/>
              </p:ext>
            </p:extLst>
          </p:nvPr>
        </p:nvGraphicFramePr>
        <p:xfrm>
          <a:off x="838200" y="1538924"/>
          <a:ext cx="74676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9F72ED83-9285-BBAF-3A75-C0EBDC9F0C7F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4C1983-9B02-A05F-510E-96E2D613424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04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Captain 20XX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E8C684F8-19D4-679A-947E-14062C0A219C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071653-851C-E923-BF3B-AED1E17DDCB5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10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04B1B92E-19BF-D0BC-D07C-17D2AA2381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3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2D1C240A-C09A-855E-606B-A7388BEF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3E953955-D4B5-DDF4-E813-A0160D7BF48B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1938D9-A5DC-1C7F-98D6-E162783B7F05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11937E25-53D9-3F56-FFA7-9F24E8E0E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53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9E3C7000-308A-64AB-3CB4-35991382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F8C75F96-BC24-ECF4-E83F-8A452AAF8D6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DA0AA-F1AE-76F0-7988-755D936AEDC1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RIS-SPM, Database, PMR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0EF06C-58EC-BDBF-69E6-005E9F5BA937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0CE1C4-98DB-DF4D-C311-BC5878C34F6E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12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97302A-CC08-FDE5-F112-298ECF07D0A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7C3A784-E078-0670-5B1A-79747DD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65BD9A61-CB15-95E5-511A-D533156C642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2B84D69-11B4-3F60-3DDA-0CBFDE91F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87932"/>
              </p:ext>
            </p:extLst>
          </p:nvPr>
        </p:nvGraphicFramePr>
        <p:xfrm>
          <a:off x="247808" y="846179"/>
          <a:ext cx="2603389" cy="305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D2C57A7-E753-45AD-33A5-673DC3DBB0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530123"/>
              </p:ext>
            </p:extLst>
          </p:nvPr>
        </p:nvGraphicFramePr>
        <p:xfrm>
          <a:off x="303405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F28A651-A20C-6F11-ABDA-D2EEA79EDA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6991044"/>
              </p:ext>
            </p:extLst>
          </p:nvPr>
        </p:nvGraphicFramePr>
        <p:xfrm>
          <a:off x="582411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ECFCAC-D63B-CD8B-80F1-BE8979B46162}"/>
              </a:ext>
            </a:extLst>
          </p:cNvPr>
          <p:cNvSpPr/>
          <p:nvPr/>
        </p:nvSpPr>
        <p:spPr>
          <a:xfrm>
            <a:off x="2554635" y="4151870"/>
            <a:ext cx="296562" cy="271849"/>
          </a:xfrm>
          <a:prstGeom prst="rect">
            <a:avLst/>
          </a:prstGeom>
          <a:solidFill>
            <a:srgbClr val="F1E819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1F99C-6727-431C-90FE-6DAC94FA21B0}"/>
              </a:ext>
            </a:extLst>
          </p:cNvPr>
          <p:cNvSpPr/>
          <p:nvPr/>
        </p:nvSpPr>
        <p:spPr>
          <a:xfrm>
            <a:off x="5095103" y="4136245"/>
            <a:ext cx="296562" cy="271849"/>
          </a:xfrm>
          <a:prstGeom prst="rect">
            <a:avLst/>
          </a:prstGeom>
          <a:solidFill>
            <a:srgbClr val="9E9F33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000DD73-7CC6-0664-6774-24B9CACB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197" y="4137035"/>
            <a:ext cx="965101" cy="301517"/>
          </a:xfrm>
        </p:spPr>
        <p:txBody>
          <a:bodyPr anchor="ctr"/>
          <a:lstStyle/>
          <a:p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D97A54-99E2-1218-ECA4-FC179D0A5274}"/>
              </a:ext>
            </a:extLst>
          </p:cNvPr>
          <p:cNvSpPr txBox="1">
            <a:spLocks/>
          </p:cNvSpPr>
          <p:nvPr/>
        </p:nvSpPr>
        <p:spPr>
          <a:xfrm>
            <a:off x="5391665" y="4137035"/>
            <a:ext cx="1447442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442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018DCF-5992-971F-5A7A-D440C98736D6}"/>
              </a:ext>
            </a:extLst>
          </p:cNvPr>
          <p:cNvSpPr/>
          <p:nvPr/>
        </p:nvSpPr>
        <p:spPr>
          <a:xfrm>
            <a:off x="713603" y="796917"/>
            <a:ext cx="7668397" cy="12543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defRPr sz="1260" b="0" i="0" u="none" strike="noStrike" kern="1200" spc="0" baseline="0">
                <a:solidFill>
                  <a:srgbClr val="EAE2B7">
                    <a:lumMod val="1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b="1" dirty="0" err="1"/>
              <a:t>Ketepatan</a:t>
            </a:r>
            <a:r>
              <a:rPr lang="en-US" b="1" dirty="0"/>
              <a:t> Waktu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Penyampaian</a:t>
            </a:r>
            <a:r>
              <a:rPr lang="en-US" b="1" dirty="0"/>
              <a:t> Proposal dan </a:t>
            </a:r>
            <a:r>
              <a:rPr lang="en-US" b="1" dirty="0" err="1"/>
              <a:t>Laporan</a:t>
            </a:r>
            <a:endParaRPr lang="en-US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Penyampaian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proposal dan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laporan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tepat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tapi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…)</a:t>
            </a:r>
            <a:endParaRPr lang="en-GB" sz="14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A853FCC7-8332-6BC0-C842-67FDEBA59542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3EE3EF-3A59-E5F4-1984-3E48EB9633EE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83280FCA-EBA2-81B7-F086-585D07C3AE69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44B083-1685-B385-31B7-C43C25D2E22C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13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90949987-F4C7-F893-9984-322E1280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8D94BD-69F0-041E-303F-AA0CACD27017}"/>
              </a:ext>
            </a:extLst>
          </p:cNvPr>
          <p:cNvSpPr/>
          <p:nvPr/>
        </p:nvSpPr>
        <p:spPr>
          <a:xfrm>
            <a:off x="713602" y="2125411"/>
            <a:ext cx="7668397" cy="12543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defRPr sz="1260" b="0" i="0" u="none" strike="noStrike" kern="1200" spc="0" baseline="0">
                <a:solidFill>
                  <a:srgbClr val="EAE2B7">
                    <a:lumMod val="1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b="1" dirty="0" err="1"/>
              <a:t>Koordinasi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Finance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Pembayaran</a:t>
            </a:r>
            <a:endParaRPr lang="en-US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Koordinasi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finance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…)</a:t>
            </a:r>
            <a:endParaRPr lang="en-GB" sz="14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AACDAB-227D-0623-EB7D-80FEB8916440}"/>
              </a:ext>
            </a:extLst>
          </p:cNvPr>
          <p:cNvSpPr/>
          <p:nvPr/>
        </p:nvSpPr>
        <p:spPr>
          <a:xfrm>
            <a:off x="713601" y="3453905"/>
            <a:ext cx="7668397" cy="12543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defRPr sz="1260" b="0" i="0" u="none" strike="noStrike" kern="1200" spc="0" baseline="0">
                <a:solidFill>
                  <a:srgbClr val="EAE2B7">
                    <a:lumMod val="1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 err="1"/>
              <a:t>Penerapan</a:t>
            </a:r>
            <a:r>
              <a:rPr lang="en-US" sz="1200" b="1" dirty="0"/>
              <a:t> RIS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RIS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diterapkan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….)</a:t>
            </a:r>
            <a:endParaRPr lang="en-GB" sz="14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319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>
          <a:extLst>
            <a:ext uri="{FF2B5EF4-FFF2-40B4-BE49-F238E27FC236}">
              <a16:creationId xmlns:a16="http://schemas.microsoft.com/office/drawing/2014/main" id="{FF011998-687F-5103-6BF7-3F13B70B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5FD1C4-D98C-5FCC-23F9-4F56386FBE8F}"/>
              </a:ext>
            </a:extLst>
          </p:cNvPr>
          <p:cNvSpPr/>
          <p:nvPr/>
        </p:nvSpPr>
        <p:spPr>
          <a:xfrm>
            <a:off x="713225" y="1276350"/>
            <a:ext cx="7668397" cy="31557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corplan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sebelumnya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..)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71CAF102-DF27-31A2-885D-8CED53041645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B1193D-D3E7-70BE-48DA-79281265C64F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of previous </a:t>
            </a:r>
            <a:r>
              <a:rPr lang="en-ID" sz="11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corplan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results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3404665F-6930-C86E-8015-4CFE02A9C1B8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2730DC-B616-9AB5-3ADB-D63B45F22DFF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14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25E06E81-ED9C-52D0-907D-822655681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3" name="Google Shape;414;p41">
            <a:extLst>
              <a:ext uri="{FF2B5EF4-FFF2-40B4-BE49-F238E27FC236}">
                <a16:creationId xmlns:a16="http://schemas.microsoft.com/office/drawing/2014/main" id="{503D5625-16C9-8CC9-207A-CF3B99A60D91}"/>
              </a:ext>
            </a:extLst>
          </p:cNvPr>
          <p:cNvSpPr txBox="1"/>
          <p:nvPr/>
        </p:nvSpPr>
        <p:spPr>
          <a:xfrm>
            <a:off x="713225" y="693358"/>
            <a:ext cx="756677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Langkah – Langkah yang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sudah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dilakukan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berdasarkan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hasil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dari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corplan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sebelumnya</a:t>
            </a:r>
            <a:endParaRPr lang="en-ID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  <p:extLst>
      <p:ext uri="{BB962C8B-B14F-4D97-AF65-F5344CB8AC3E}">
        <p14:creationId xmlns:p14="http://schemas.microsoft.com/office/powerpoint/2010/main" val="2341640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B65D51BB-039E-3502-3E5D-5A9FAF0A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B3CD6F01-DB37-9A0A-968E-B350B7F1625A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C62AB3-FB31-E3DB-E072-A590BA4245DF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A9A2BF9B-5DC7-DA36-C5A6-99A4F58F32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1556434" y="2160811"/>
            <a:ext cx="910181" cy="104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37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>
          <a:extLst>
            <a:ext uri="{FF2B5EF4-FFF2-40B4-BE49-F238E27FC236}">
              <a16:creationId xmlns:a16="http://schemas.microsoft.com/office/drawing/2014/main" id="{B15D1C6A-6C92-9889-1D7F-EEFB43B3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1A9CAA-8F81-8E2E-1A53-A1A8D4EB4078}"/>
              </a:ext>
            </a:extLst>
          </p:cNvPr>
          <p:cNvSpPr/>
          <p:nvPr/>
        </p:nvSpPr>
        <p:spPr>
          <a:xfrm>
            <a:off x="713225" y="1276350"/>
            <a:ext cx="7668397" cy="3155792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..)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4C27B696-9EEE-1655-2366-5B4B3B2ECCBB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6DEA3B-C21D-630A-1A67-410647CFED63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06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6D284C6E-470E-B5AF-92E2-5FD09B0A5211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5598AB-D8D5-DD13-67EA-39BD604272E1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16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29CEBCFF-41E3-B780-3FCB-1D7C5C59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  <p:sp>
        <p:nvSpPr>
          <p:cNvPr id="3" name="Google Shape;414;p41">
            <a:extLst>
              <a:ext uri="{FF2B5EF4-FFF2-40B4-BE49-F238E27FC236}">
                <a16:creationId xmlns:a16="http://schemas.microsoft.com/office/drawing/2014/main" id="{577F51F5-B2AB-2298-463A-C5942A0E5B2F}"/>
              </a:ext>
            </a:extLst>
          </p:cNvPr>
          <p:cNvSpPr txBox="1"/>
          <p:nvPr/>
        </p:nvSpPr>
        <p:spPr>
          <a:xfrm>
            <a:off x="713225" y="693358"/>
            <a:ext cx="7566774" cy="43350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Rencana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</a:t>
            </a:r>
            <a:r>
              <a:rPr lang="en-ID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Kerja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694930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D8614D74-B096-B75E-9BB4-D82529CA3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942" name="Google Shape;942;p64"/>
          <p:cNvSpPr txBox="1">
            <a:spLocks noGrp="1"/>
          </p:cNvSpPr>
          <p:nvPr>
            <p:ph type="title"/>
          </p:nvPr>
        </p:nvSpPr>
        <p:spPr>
          <a:xfrm flipH="1">
            <a:off x="586728" y="3397159"/>
            <a:ext cx="2967177" cy="711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 sz="28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Kasih</a:t>
            </a:r>
            <a:endParaRPr lang="en-US" sz="2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A73225D6-34CD-71E1-1BA2-7DFE76D30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03" y="457721"/>
            <a:ext cx="2132566" cy="691419"/>
          </a:xfrm>
          <a:prstGeom prst="rect">
            <a:avLst/>
          </a:prstGeom>
        </p:spPr>
      </p:pic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5C31D7DD-A97F-1465-C685-0986A64D244D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1A5847-C218-D402-63B1-3E05697021AF}"/>
              </a:ext>
            </a:extLst>
          </p:cNvPr>
          <p:cNvSpPr txBox="1">
            <a:spLocks/>
          </p:cNvSpPr>
          <p:nvPr/>
        </p:nvSpPr>
        <p:spPr>
          <a:xfrm>
            <a:off x="586728" y="1362160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" name="Google Shape;189;p30">
            <a:hlinkClick r:id="rId5" action="ppaction://hlinksldjump"/>
            <a:extLst>
              <a:ext uri="{FF2B5EF4-FFF2-40B4-BE49-F238E27FC236}">
                <a16:creationId xmlns:a16="http://schemas.microsoft.com/office/drawing/2014/main" id="{99CAD2FB-1FA5-67C4-30D8-B745D846BA85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EFE6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5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Supporting</a:t>
            </a:r>
            <a:endParaRPr sz="2500" b="1" dirty="0">
              <a:solidFill>
                <a:sysClr val="windowText" lastClr="000000"/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Digital Choice Boards by Slidesgo">
  <a:themeElements>
    <a:clrScheme name="Simple Light">
      <a:dk1>
        <a:srgbClr val="0C4F72"/>
      </a:dk1>
      <a:lt1>
        <a:srgbClr val="D62828"/>
      </a:lt1>
      <a:dk2>
        <a:srgbClr val="F77F00"/>
      </a:dk2>
      <a:lt2>
        <a:srgbClr val="FCBF49"/>
      </a:lt2>
      <a:accent1>
        <a:srgbClr val="EAE2B7"/>
      </a:accent1>
      <a:accent2>
        <a:srgbClr val="0C4F72"/>
      </a:accent2>
      <a:accent3>
        <a:srgbClr val="D62828"/>
      </a:accent3>
      <a:accent4>
        <a:srgbClr val="F77F00"/>
      </a:accent4>
      <a:accent5>
        <a:srgbClr val="FCBF49"/>
      </a:accent5>
      <a:accent6>
        <a:srgbClr val="EAE2B7"/>
      </a:accent6>
      <a:hlink>
        <a:srgbClr val="0C4F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605</Words>
  <Application>Microsoft Office PowerPoint</Application>
  <PresentationFormat>On-screen Show (16:9)</PresentationFormat>
  <Paragraphs>152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University Digital Choice Boards by Slidesgo</vt:lpstr>
      <vt:lpstr>PowerPoint Presentation</vt:lpstr>
      <vt:lpstr>PowerPoint Presentation</vt:lpstr>
      <vt:lpstr>Proposal &amp; Contract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Tercapai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PLAN 2024</dc:title>
  <dc:creator>HP</dc:creator>
  <cp:lastModifiedBy>Edwardo Krisna Sembiring</cp:lastModifiedBy>
  <cp:revision>32</cp:revision>
  <dcterms:modified xsi:type="dcterms:W3CDTF">2026-01-21T09:28:51Z</dcterms:modified>
</cp:coreProperties>
</file>