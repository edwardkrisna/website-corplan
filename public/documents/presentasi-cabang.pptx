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notesSlides/notesSlide10.xml" ContentType="application/vnd.openxmlformats-officedocument.presentationml.notesSlide+xml"/>
  <Override PartName="/ppt/charts/chart13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4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5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26"/>
  </p:notesMasterIdLst>
  <p:sldIdLst>
    <p:sldId id="336" r:id="rId2"/>
    <p:sldId id="332" r:id="rId3"/>
    <p:sldId id="330" r:id="rId4"/>
    <p:sldId id="260" r:id="rId5"/>
    <p:sldId id="261" r:id="rId6"/>
    <p:sldId id="313" r:id="rId7"/>
    <p:sldId id="337" r:id="rId8"/>
    <p:sldId id="312" r:id="rId9"/>
    <p:sldId id="325" r:id="rId10"/>
    <p:sldId id="314" r:id="rId11"/>
    <p:sldId id="266" r:id="rId12"/>
    <p:sldId id="338" r:id="rId13"/>
    <p:sldId id="326" r:id="rId14"/>
    <p:sldId id="269" r:id="rId15"/>
    <p:sldId id="327" r:id="rId16"/>
    <p:sldId id="270" r:id="rId17"/>
    <p:sldId id="335" r:id="rId18"/>
    <p:sldId id="333" r:id="rId19"/>
    <p:sldId id="339" r:id="rId20"/>
    <p:sldId id="328" r:id="rId21"/>
    <p:sldId id="334" r:id="rId22"/>
    <p:sldId id="329" r:id="rId23"/>
    <p:sldId id="285" r:id="rId24"/>
    <p:sldId id="290" r:id="rId25"/>
  </p:sldIdLst>
  <p:sldSz cx="9144000" cy="5143500" type="screen16x9"/>
  <p:notesSz cx="6858000" cy="9144000"/>
  <p:embeddedFontLst>
    <p:embeddedFont>
      <p:font typeface="Gotham Bold" panose="020B0604020202020204" charset="0"/>
      <p:regular r:id="rId27"/>
      <p:bold r:id="rId28"/>
      <p:italic r:id="rId29"/>
      <p:boldItalic r:id="rId30"/>
    </p:embeddedFont>
    <p:embeddedFont>
      <p:font typeface="Palanquin" panose="020B0004020203020204" pitchFamily="34" charset="0"/>
      <p:regular r:id="rId31"/>
      <p:bold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E9F33"/>
    <a:srgbClr val="F1E819"/>
    <a:srgbClr val="BABC36"/>
    <a:srgbClr val="DEDA27"/>
    <a:srgbClr val="FFFFFF"/>
    <a:srgbClr val="95C448"/>
    <a:srgbClr val="0C4F72"/>
    <a:srgbClr val="97B181"/>
    <a:srgbClr val="A7BD8D"/>
    <a:srgbClr val="BBCF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ED4C8E-F13D-44D9-9F47-14E1A2732A5F}" v="76" dt="2026-01-13T10:21:52.659"/>
    <p1510:client id="{FABB4F2A-297B-144A-99F3-1242E490B81F}" v="114" dt="2026-01-13T03:17:14.226"/>
  </p1510:revLst>
</p1510:revInfo>
</file>

<file path=ppt/tableStyles.xml><?xml version="1.0" encoding="utf-8"?>
<a:tblStyleLst xmlns:a="http://schemas.openxmlformats.org/drawingml/2006/main" def="{63880C63-ABA5-47B6-BCEC-ADF76586A5FF}">
  <a:tblStyle styleId="{63880C63-ABA5-47B6-BCEC-ADF76586A5F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274" autoAdjust="0"/>
    <p:restoredTop sz="93246" autoAdjust="0"/>
  </p:normalViewPr>
  <p:slideViewPr>
    <p:cSldViewPr snapToGrid="0">
      <p:cViewPr>
        <p:scale>
          <a:sx n="110" d="100"/>
          <a:sy n="110" d="100"/>
        </p:scale>
        <p:origin x="832" y="1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>
        <c:manualLayout>
          <c:layoutTarget val="inner"/>
          <c:xMode val="edge"/>
          <c:yMode val="edge"/>
          <c:x val="2.1216053350474048E-2"/>
          <c:y val="0"/>
          <c:w val="0.95416666666666672"/>
          <c:h val="0.6606289610140195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Revenue (million Rp)</c:v>
                </c:pt>
              </c:strCache>
            </c:strRef>
          </c:tx>
          <c:spPr>
            <a:solidFill>
              <a:srgbClr val="F1E819"/>
            </a:solidFill>
            <a:ln>
              <a:solidFill>
                <a:schemeClr val="accent6">
                  <a:lumMod val="10000"/>
                </a:schemeClr>
              </a:solidFill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Asset</c:v>
                </c:pt>
                <c:pt idx="1">
                  <c:v>Business</c:v>
                </c:pt>
                <c:pt idx="2">
                  <c:v>Consultancy</c:v>
                </c:pt>
                <c:pt idx="3">
                  <c:v>Monitoring</c:v>
                </c:pt>
                <c:pt idx="4">
                  <c:v>Advisory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0C-4677-999C-386A6BDF30C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Revenue Target (million Rp)</c:v>
                </c:pt>
              </c:strCache>
            </c:strRef>
          </c:tx>
          <c:spPr>
            <a:solidFill>
              <a:srgbClr val="9E9F33"/>
            </a:solidFill>
            <a:ln>
              <a:solidFill>
                <a:schemeClr val="accent6">
                  <a:lumMod val="10000"/>
                </a:schemeClr>
              </a:solidFill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Asset</c:v>
                </c:pt>
                <c:pt idx="1">
                  <c:v>Business</c:v>
                </c:pt>
                <c:pt idx="2">
                  <c:v>Consultancy</c:v>
                </c:pt>
                <c:pt idx="3">
                  <c:v>Monitoring</c:v>
                </c:pt>
                <c:pt idx="4">
                  <c:v>Advisory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  <c:pt idx="4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D0C-4677-999C-386A6BDF30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axId val="134602752"/>
        <c:axId val="134604288"/>
      </c:barChart>
      <c:catAx>
        <c:axId val="1346027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tint val="75000"/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34604288"/>
        <c:crosses val="autoZero"/>
        <c:auto val="1"/>
        <c:lblAlgn val="ctr"/>
        <c:lblOffset val="100"/>
        <c:noMultiLvlLbl val="0"/>
      </c:catAx>
      <c:valAx>
        <c:axId val="134604288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346027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ayout>
        <c:manualLayout>
          <c:xMode val="edge"/>
          <c:yMode val="edge"/>
          <c:x val="0.21049945004563889"/>
          <c:y val="0.86894046394741198"/>
          <c:w val="0.57900109990872217"/>
          <c:h val="0.1310595360525880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1" i="0" u="none" strike="noStrike" kern="1200" baseline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>
        <a:alpha val="50196"/>
      </a:srgbClr>
    </a:solidFill>
    <a:ln w="9525" cap="flat" cmpd="sng" algn="ctr">
      <a:noFill/>
      <a:prstDash val="solid"/>
    </a:ln>
    <a:effectLst/>
  </c:spPr>
  <c:txPr>
    <a:bodyPr/>
    <a:lstStyle/>
    <a:p>
      <a:pPr>
        <a:defRPr sz="1200">
          <a:solidFill>
            <a:schemeClr val="accent6">
              <a:lumMod val="1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>
        <c:manualLayout>
          <c:layoutTarget val="inner"/>
          <c:xMode val="edge"/>
          <c:yMode val="edge"/>
          <c:x val="2.1216053350474048E-2"/>
          <c:y val="0"/>
          <c:w val="0.95416666666666672"/>
          <c:h val="0.6606289610140195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Revenue (million Rp)</c:v>
                </c:pt>
              </c:strCache>
            </c:strRef>
          </c:tx>
          <c:spPr>
            <a:solidFill>
              <a:srgbClr val="F1E819"/>
            </a:solidFill>
            <a:ln>
              <a:solidFill>
                <a:schemeClr val="accent6">
                  <a:lumMod val="10000"/>
                </a:schemeClr>
              </a:solidFill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Asset</c:v>
                </c:pt>
                <c:pt idx="1">
                  <c:v>Business</c:v>
                </c:pt>
                <c:pt idx="2">
                  <c:v>Consultancy</c:v>
                </c:pt>
                <c:pt idx="3">
                  <c:v>Monitoring</c:v>
                </c:pt>
                <c:pt idx="4">
                  <c:v>Advisory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4B2-EB4A-8568-984526A8B6E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Revenue Target (million Rp)</c:v>
                </c:pt>
              </c:strCache>
            </c:strRef>
          </c:tx>
          <c:spPr>
            <a:solidFill>
              <a:srgbClr val="9E9F33"/>
            </a:solidFill>
            <a:ln>
              <a:solidFill>
                <a:schemeClr val="accent6">
                  <a:lumMod val="10000"/>
                </a:schemeClr>
              </a:solidFill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Asset</c:v>
                </c:pt>
                <c:pt idx="1">
                  <c:v>Business</c:v>
                </c:pt>
                <c:pt idx="2">
                  <c:v>Consultancy</c:v>
                </c:pt>
                <c:pt idx="3">
                  <c:v>Monitoring</c:v>
                </c:pt>
                <c:pt idx="4">
                  <c:v>Advisory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  <c:pt idx="4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4B2-EB4A-8568-984526A8B6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axId val="134602752"/>
        <c:axId val="134604288"/>
      </c:barChart>
      <c:catAx>
        <c:axId val="1346027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tint val="75000"/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34604288"/>
        <c:crosses val="autoZero"/>
        <c:auto val="1"/>
        <c:lblAlgn val="ctr"/>
        <c:lblOffset val="100"/>
        <c:noMultiLvlLbl val="0"/>
      </c:catAx>
      <c:valAx>
        <c:axId val="134604288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346027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ayout>
        <c:manualLayout>
          <c:xMode val="edge"/>
          <c:yMode val="edge"/>
          <c:x val="0.21049945004563889"/>
          <c:y val="0.86894046394741198"/>
          <c:w val="0.57900109990872217"/>
          <c:h val="0.1310595360525880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1" i="0" u="none" strike="noStrike" kern="1200" baseline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>
        <a:alpha val="50196"/>
      </a:srgbClr>
    </a:solidFill>
    <a:ln w="9525" cap="flat" cmpd="sng" algn="ctr">
      <a:noFill/>
      <a:prstDash val="solid"/>
    </a:ln>
    <a:effectLst/>
  </c:spPr>
  <c:txPr>
    <a:bodyPr/>
    <a:lstStyle/>
    <a:p>
      <a:pPr>
        <a:defRPr sz="1200">
          <a:solidFill>
            <a:schemeClr val="accent6">
              <a:lumMod val="1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847222222222222E-2"/>
          <c:y val="0.11454306551240651"/>
          <c:w val="0.85333333333333339"/>
          <c:h val="0.8221235189845618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Total Project</c:v>
                </c:pt>
              </c:strCache>
            </c:strRef>
          </c:tx>
          <c:spPr>
            <a:solidFill>
              <a:srgbClr val="F1E819"/>
            </a:solidFill>
            <a:ln>
              <a:solidFill>
                <a:schemeClr val="accent6">
                  <a:lumMod val="10000"/>
                </a:schemeClr>
              </a:solidFill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9C6944C6-E665-4559-886A-40A6FAF1EA96}" type="CATEGORYNAME">
                      <a:rPr lang="en-US" smtClean="0"/>
                      <a:pPr/>
                      <a:t>[CATEGORY NAME]</a:t>
                    </a:fld>
                    <a:r>
                      <a:rPr lang="en-US" dirty="0"/>
                      <a:t>n</a:t>
                    </a:r>
                  </a:p>
                </c:rich>
              </c:tx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E110-44F6-93DC-9B784D346328}"/>
                </c:ext>
              </c:extLst>
            </c:dLbl>
            <c:spPr>
              <a:solidFill>
                <a:srgbClr val="FFFFCC">
                  <a:alpha val="0"/>
                </a:srgb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1" i="0" u="none" strike="noStrike" kern="1200" baseline="0">
                    <a:solidFill>
                      <a:schemeClr val="accent6">
                        <a:lumMod val="1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Sheet1!$B$2:$B$6</c:f>
              <c:strCache>
                <c:ptCount val="5"/>
                <c:pt idx="0">
                  <c:v>Bank Bukopi</c:v>
                </c:pt>
                <c:pt idx="1">
                  <c:v>Bank CIMB Niaga</c:v>
                </c:pt>
                <c:pt idx="2">
                  <c:v>Bali Ragawisata</c:v>
                </c:pt>
                <c:pt idx="3">
                  <c:v>Teguh Cipta</c:v>
                </c:pt>
                <c:pt idx="4">
                  <c:v>Matrix King Limited</c:v>
                </c:pt>
              </c:strCache>
            </c:strRef>
          </c:cat>
          <c:val>
            <c:numRef>
              <c:f>Sheet1!$C$2:$C$6</c:f>
              <c:numCache>
                <c:formatCode>_(* #,##0_);_(* \(#,##0\);_(* "-"_);_(@_)</c:formatCode>
                <c:ptCount val="5"/>
                <c:pt idx="0">
                  <c:v>50</c:v>
                </c:pt>
                <c:pt idx="1">
                  <c:v>40</c:v>
                </c:pt>
                <c:pt idx="2">
                  <c:v>30</c:v>
                </c:pt>
                <c:pt idx="3">
                  <c:v>20</c:v>
                </c:pt>
                <c:pt idx="4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110-44F6-93DC-9B784D3463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axId val="150873984"/>
        <c:axId val="150618880"/>
      </c:barChart>
      <c:catAx>
        <c:axId val="150873984"/>
        <c:scaling>
          <c:orientation val="maxMin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 algn="ctr" rtl="0">
                  <a:defRPr sz="700" b="1" i="0" u="none" strike="noStrike" kern="1200" baseline="0">
                    <a:solidFill>
                      <a:schemeClr val="accent6">
                        <a:lumMod val="1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/>
                  <a:t>Top 5 Client 20XX</a:t>
                </a:r>
              </a:p>
            </c:rich>
          </c:tx>
          <c:layout>
            <c:manualLayout>
              <c:xMode val="edge"/>
              <c:yMode val="edge"/>
              <c:x val="0"/>
              <c:y val="0.2614414830516940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 algn="ctr" rtl="0">
                <a:defRPr sz="700" b="1" i="0" u="none" strike="noStrike" kern="1200" baseline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</c:title>
        <c:numFmt formatCode="General" sourceLinked="0"/>
        <c:majorTickMark val="none"/>
        <c:minorTickMark val="none"/>
        <c:tickLblPos val="none"/>
        <c:spPr>
          <a:noFill/>
          <a:ln w="9525" cap="flat" cmpd="sng" algn="ctr">
            <a:solidFill>
              <a:schemeClr val="tx1">
                <a:tint val="75000"/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50618880"/>
        <c:crosses val="autoZero"/>
        <c:auto val="1"/>
        <c:lblAlgn val="ctr"/>
        <c:lblOffset val="100"/>
        <c:noMultiLvlLbl val="0"/>
      </c:catAx>
      <c:valAx>
        <c:axId val="150618880"/>
        <c:scaling>
          <c:orientation val="minMax"/>
        </c:scaling>
        <c:delete val="0"/>
        <c:axPos val="t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500" b="1" i="0" u="none" strike="noStrike" kern="1200" baseline="0">
                    <a:solidFill>
                      <a:schemeClr val="accent6">
                        <a:lumMod val="1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 sz="500" dirty="0"/>
                  <a:t>Project Count</a:t>
                </a:r>
              </a:p>
            </c:rich>
          </c:tx>
          <c:layout>
            <c:manualLayout>
              <c:xMode val="edge"/>
              <c:yMode val="edge"/>
              <c:x val="0.41002125085899849"/>
              <c:y val="0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500" b="1" i="0" u="none" strike="noStrike" kern="1200" baseline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</c:title>
        <c:numFmt formatCode="#,##0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tint val="75000"/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508739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prstDash val="solid"/>
    </a:ln>
    <a:effectLst/>
  </c:spPr>
  <c:txPr>
    <a:bodyPr/>
    <a:lstStyle/>
    <a:p>
      <a:pPr>
        <a:defRPr sz="700" b="1">
          <a:solidFill>
            <a:schemeClr val="accent6">
              <a:lumMod val="1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>
        <c:manualLayout>
          <c:layoutTarget val="inner"/>
          <c:xMode val="edge"/>
          <c:yMode val="edge"/>
          <c:x val="3.847222222222222E-2"/>
          <c:y val="0.11454306551240651"/>
          <c:w val="0.85333333333333339"/>
          <c:h val="0.8221235189845618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Total Project</c:v>
                </c:pt>
              </c:strCache>
            </c:strRef>
          </c:tx>
          <c:spPr>
            <a:solidFill>
              <a:srgbClr val="F1E819"/>
            </a:solidFill>
            <a:ln>
              <a:solidFill>
                <a:schemeClr val="accent6">
                  <a:lumMod val="10000"/>
                </a:schemeClr>
              </a:solidFill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9C6944C6-E665-4559-886A-40A6FAF1EA96}" type="CATEGORYNAME">
                      <a:rPr lang="en-US" smtClean="0"/>
                      <a:pPr/>
                      <a:t>[CATEGORY NAME]</a:t>
                    </a:fld>
                    <a:r>
                      <a:rPr lang="en-US"/>
                      <a:t>n</a:t>
                    </a:r>
                  </a:p>
                </c:rich>
              </c:tx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9EDA-4498-ACB5-824549F139DD}"/>
                </c:ext>
              </c:extLst>
            </c:dLbl>
            <c:spPr>
              <a:solidFill>
                <a:srgbClr val="FFFFCC">
                  <a:alpha val="0"/>
                </a:srgb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1" i="0" u="none" strike="noStrike" kern="1200" baseline="0">
                    <a:solidFill>
                      <a:schemeClr val="accent6">
                        <a:lumMod val="1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Sheet1!$B$2:$B$6</c:f>
              <c:strCache>
                <c:ptCount val="5"/>
                <c:pt idx="0">
                  <c:v>Bank Bukopi</c:v>
                </c:pt>
                <c:pt idx="1">
                  <c:v>Bank CIMB Niaga</c:v>
                </c:pt>
                <c:pt idx="2">
                  <c:v>Bali Ragawisata</c:v>
                </c:pt>
                <c:pt idx="3">
                  <c:v>Teguh Cipta</c:v>
                </c:pt>
                <c:pt idx="4">
                  <c:v>Matrix King Limited</c:v>
                </c:pt>
              </c:strCache>
            </c:strRef>
          </c:cat>
          <c:val>
            <c:numRef>
              <c:f>Sheet1!$C$2:$C$6</c:f>
              <c:numCache>
                <c:formatCode>_(* #,##0_);_(* \(#,##0\);_(* "-"_);_(@_)</c:formatCode>
                <c:ptCount val="5"/>
                <c:pt idx="0">
                  <c:v>50</c:v>
                </c:pt>
                <c:pt idx="1">
                  <c:v>40</c:v>
                </c:pt>
                <c:pt idx="2">
                  <c:v>30</c:v>
                </c:pt>
                <c:pt idx="3">
                  <c:v>20</c:v>
                </c:pt>
                <c:pt idx="4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EDA-4498-ACB5-824549F139D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150873984"/>
        <c:axId val="150618880"/>
      </c:barChart>
      <c:catAx>
        <c:axId val="150873984"/>
        <c:scaling>
          <c:orientation val="maxMin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700" b="1" i="0" u="none" strike="noStrike" kern="1200" baseline="0">
                    <a:solidFill>
                      <a:schemeClr val="accent6">
                        <a:lumMod val="1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/>
                  <a:t>Top 5 Client 20XX</a:t>
                </a:r>
              </a:p>
              <a:p>
                <a:pPr>
                  <a:defRPr/>
                </a:pP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700" b="1" i="0" u="none" strike="noStrike" kern="1200" baseline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</c:title>
        <c:numFmt formatCode="General" sourceLinked="0"/>
        <c:majorTickMark val="none"/>
        <c:minorTickMark val="none"/>
        <c:tickLblPos val="none"/>
        <c:spPr>
          <a:noFill/>
          <a:ln w="9525" cap="flat" cmpd="sng" algn="ctr">
            <a:solidFill>
              <a:schemeClr val="tx1">
                <a:tint val="75000"/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50618880"/>
        <c:crosses val="autoZero"/>
        <c:auto val="1"/>
        <c:lblAlgn val="ctr"/>
        <c:lblOffset val="100"/>
        <c:noMultiLvlLbl val="0"/>
      </c:catAx>
      <c:valAx>
        <c:axId val="150618880"/>
        <c:scaling>
          <c:orientation val="minMax"/>
        </c:scaling>
        <c:delete val="0"/>
        <c:axPos val="t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500" b="1" i="0" u="none" strike="noStrike" kern="1200" baseline="0">
                    <a:solidFill>
                      <a:schemeClr val="accent6">
                        <a:lumMod val="1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 sz="500"/>
                  <a:t>Project Count</a:t>
                </a:r>
              </a:p>
            </c:rich>
          </c:tx>
          <c:layout>
            <c:manualLayout>
              <c:xMode val="edge"/>
              <c:yMode val="edge"/>
              <c:x val="0.34461360876905289"/>
              <c:y val="0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500" b="1" i="0" u="none" strike="noStrike" kern="1200" baseline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</c:title>
        <c:numFmt formatCode="#,##0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tint val="75000"/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508739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prstDash val="solid"/>
    </a:ln>
    <a:effectLst/>
  </c:spPr>
  <c:txPr>
    <a:bodyPr/>
    <a:lstStyle/>
    <a:p>
      <a:pPr>
        <a:defRPr sz="700" b="1">
          <a:solidFill>
            <a:schemeClr val="accent6">
              <a:lumMod val="1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autoTitleDeleted val="1"/>
    <c:plotArea>
      <c:layout>
        <c:manualLayout>
          <c:layoutTarget val="inner"/>
          <c:xMode val="edge"/>
          <c:yMode val="edge"/>
          <c:x val="2.7541259371968607E-2"/>
          <c:y val="0.11377540133050172"/>
          <c:w val="0.84706666666666663"/>
          <c:h val="0.8304841612926439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Nilai (RP Juta)</c:v>
                </c:pt>
              </c:strCache>
            </c:strRef>
          </c:tx>
          <c:spPr>
            <a:solidFill>
              <a:srgbClr val="9E9F33"/>
            </a:solidFill>
            <a:ln>
              <a:solidFill>
                <a:schemeClr val="accent6">
                  <a:lumMod val="10000"/>
                </a:schemeClr>
              </a:solidFill>
            </a:ln>
            <a:effectLst/>
          </c:spPr>
          <c:invertIfNegative val="0"/>
          <c:dLbls>
            <c:spPr>
              <a:solidFill>
                <a:srgbClr val="FF9900">
                  <a:alpha val="0"/>
                </a:srgb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1" i="0" u="none" strike="noStrike" kern="1200" baseline="0">
                    <a:solidFill>
                      <a:schemeClr val="accent6">
                        <a:lumMod val="1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Sheet1!$B$2:$B$6</c:f>
              <c:strCache>
                <c:ptCount val="5"/>
                <c:pt idx="0">
                  <c:v>Bank Bukopin</c:v>
                </c:pt>
                <c:pt idx="1">
                  <c:v>Bank CIMB Niaga</c:v>
                </c:pt>
                <c:pt idx="2">
                  <c:v>Bali Ragawisata</c:v>
                </c:pt>
                <c:pt idx="3">
                  <c:v>Lotte Shopping</c:v>
                </c:pt>
                <c:pt idx="4">
                  <c:v>Bank UOB</c:v>
                </c:pt>
              </c:strCache>
            </c:strRef>
          </c:cat>
          <c:val>
            <c:numRef>
              <c:f>Sheet1!$C$2:$C$6</c:f>
              <c:numCache>
                <c:formatCode>_-* #.##0_-;\-* #.##0_-;_-* "-"_-;_-@_-</c:formatCode>
                <c:ptCount val="5"/>
                <c:pt idx="0">
                  <c:v>281654541</c:v>
                </c:pt>
                <c:pt idx="1">
                  <c:v>183181816</c:v>
                </c:pt>
                <c:pt idx="2">
                  <c:v>155000000</c:v>
                </c:pt>
                <c:pt idx="3">
                  <c:v>90000000</c:v>
                </c:pt>
                <c:pt idx="4">
                  <c:v>15636364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DF-4DD5-9FD4-598CFDCDC1C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150523264"/>
        <c:axId val="150569728"/>
      </c:barChart>
      <c:catAx>
        <c:axId val="150523264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noFill/>
          <a:ln w="9525" cap="flat" cmpd="sng" algn="ctr">
            <a:solidFill>
              <a:schemeClr val="tx1">
                <a:tint val="75000"/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50569728"/>
        <c:crosses val="autoZero"/>
        <c:auto val="1"/>
        <c:lblAlgn val="ctr"/>
        <c:lblOffset val="100"/>
        <c:noMultiLvlLbl val="0"/>
      </c:catAx>
      <c:valAx>
        <c:axId val="150569728"/>
        <c:scaling>
          <c:orientation val="minMax"/>
        </c:scaling>
        <c:delete val="0"/>
        <c:axPos val="t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700" b="1" i="0" u="none" strike="noStrike" kern="1200" baseline="0">
                    <a:solidFill>
                      <a:schemeClr val="accent6">
                        <a:lumMod val="1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 sz="500" dirty="0"/>
                  <a:t>Million IDR</a:t>
                </a:r>
              </a:p>
            </c:rich>
          </c:tx>
          <c:layout>
            <c:manualLayout>
              <c:xMode val="edge"/>
              <c:yMode val="edge"/>
              <c:x val="0.44473444483467939"/>
              <c:y val="0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700" b="1" i="0" u="none" strike="noStrike" kern="1200" baseline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</c:title>
        <c:numFmt formatCode="#,##0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tint val="75000"/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50523264"/>
        <c:crosses val="autoZero"/>
        <c:crossBetween val="between"/>
        <c:dispUnits>
          <c:builtInUnit val="millions"/>
        </c:dispUnits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prstDash val="solid"/>
    </a:ln>
    <a:effectLst/>
  </c:spPr>
  <c:txPr>
    <a:bodyPr/>
    <a:lstStyle/>
    <a:p>
      <a:pPr>
        <a:defRPr sz="700" b="1">
          <a:solidFill>
            <a:schemeClr val="accent6">
              <a:lumMod val="1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autoTitleDeleted val="1"/>
    <c:plotArea>
      <c:layout>
        <c:manualLayout>
          <c:layoutTarget val="inner"/>
          <c:xMode val="edge"/>
          <c:yMode val="edge"/>
          <c:x val="2.7541259371968607E-2"/>
          <c:y val="0.11377540133050172"/>
          <c:w val="0.84706666666666663"/>
          <c:h val="0.8304841612926439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Nilai (RP Juta)</c:v>
                </c:pt>
              </c:strCache>
            </c:strRef>
          </c:tx>
          <c:spPr>
            <a:solidFill>
              <a:srgbClr val="9E9F33"/>
            </a:solidFill>
            <a:ln>
              <a:solidFill>
                <a:schemeClr val="accent6">
                  <a:lumMod val="10000"/>
                </a:schemeClr>
              </a:solidFill>
            </a:ln>
            <a:effectLst/>
          </c:spPr>
          <c:invertIfNegative val="0"/>
          <c:dLbls>
            <c:spPr>
              <a:solidFill>
                <a:srgbClr val="FF9900">
                  <a:alpha val="0"/>
                </a:srgb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1" i="0" u="none" strike="noStrike" kern="1200" baseline="0">
                    <a:solidFill>
                      <a:schemeClr val="accent6">
                        <a:lumMod val="1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Sheet1!$B$2:$B$6</c:f>
              <c:strCache>
                <c:ptCount val="5"/>
                <c:pt idx="0">
                  <c:v>Bank Bukopin</c:v>
                </c:pt>
                <c:pt idx="1">
                  <c:v>Bank CIMB Niaga</c:v>
                </c:pt>
                <c:pt idx="2">
                  <c:v>Bali Ragawisata</c:v>
                </c:pt>
                <c:pt idx="3">
                  <c:v>Lotte Shopping</c:v>
                </c:pt>
                <c:pt idx="4">
                  <c:v>Bank UOB</c:v>
                </c:pt>
              </c:strCache>
            </c:strRef>
          </c:cat>
          <c:val>
            <c:numRef>
              <c:f>Sheet1!$C$2:$C$6</c:f>
              <c:numCache>
                <c:formatCode>_-* #.##0_-;\-* #.##0_-;_-* "-"_-;_-@_-</c:formatCode>
                <c:ptCount val="5"/>
                <c:pt idx="0">
                  <c:v>281654541</c:v>
                </c:pt>
                <c:pt idx="1">
                  <c:v>183181816</c:v>
                </c:pt>
                <c:pt idx="2">
                  <c:v>155000000</c:v>
                </c:pt>
                <c:pt idx="3">
                  <c:v>90000000</c:v>
                </c:pt>
                <c:pt idx="4">
                  <c:v>15636364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CA0-4140-8CBA-D02266035B7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150523264"/>
        <c:axId val="150569728"/>
      </c:barChart>
      <c:catAx>
        <c:axId val="150523264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noFill/>
          <a:ln w="9525" cap="flat" cmpd="sng" algn="ctr">
            <a:solidFill>
              <a:schemeClr val="tx1">
                <a:tint val="75000"/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50569728"/>
        <c:crosses val="autoZero"/>
        <c:auto val="1"/>
        <c:lblAlgn val="ctr"/>
        <c:lblOffset val="100"/>
        <c:noMultiLvlLbl val="0"/>
      </c:catAx>
      <c:valAx>
        <c:axId val="150569728"/>
        <c:scaling>
          <c:orientation val="minMax"/>
        </c:scaling>
        <c:delete val="0"/>
        <c:axPos val="t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700" b="1" i="0" u="none" strike="noStrike" kern="1200" baseline="0">
                    <a:solidFill>
                      <a:schemeClr val="accent6">
                        <a:lumMod val="1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 sz="500" dirty="0"/>
                  <a:t>Million IDR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700" b="1" i="0" u="none" strike="noStrike" kern="1200" baseline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</c:title>
        <c:numFmt formatCode="#,##0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tint val="75000"/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50523264"/>
        <c:crosses val="autoZero"/>
        <c:crossBetween val="between"/>
        <c:dispUnits>
          <c:builtInUnit val="millions"/>
        </c:dispUnits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prstDash val="solid"/>
    </a:ln>
    <a:effectLst/>
  </c:spPr>
  <c:txPr>
    <a:bodyPr/>
    <a:lstStyle/>
    <a:p>
      <a:pPr>
        <a:defRPr sz="700" b="1">
          <a:solidFill>
            <a:schemeClr val="accent6">
              <a:lumMod val="1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847222222222222E-2"/>
          <c:y val="0.11454306551240651"/>
          <c:w val="0.85333333333333339"/>
          <c:h val="0.8221235189845618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Total Project</c:v>
                </c:pt>
              </c:strCache>
            </c:strRef>
          </c:tx>
          <c:spPr>
            <a:solidFill>
              <a:srgbClr val="F1E819"/>
            </a:solidFill>
            <a:ln>
              <a:solidFill>
                <a:schemeClr val="accent6">
                  <a:lumMod val="10000"/>
                </a:schemeClr>
              </a:solidFill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9C6944C6-E665-4559-886A-40A6FAF1EA96}" type="CATEGORYNAME">
                      <a:rPr lang="en-US" smtClean="0"/>
                      <a:pPr/>
                      <a:t>[CATEGORY NAME]</a:t>
                    </a:fld>
                    <a:r>
                      <a:rPr lang="en-US" dirty="0"/>
                      <a:t>n</a:t>
                    </a:r>
                  </a:p>
                </c:rich>
              </c:tx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E110-44F6-93DC-9B784D346328}"/>
                </c:ext>
              </c:extLst>
            </c:dLbl>
            <c:spPr>
              <a:solidFill>
                <a:srgbClr val="FFFFCC">
                  <a:alpha val="0"/>
                </a:srgb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1" i="0" u="none" strike="noStrike" kern="1200" baseline="0">
                    <a:solidFill>
                      <a:schemeClr val="accent6">
                        <a:lumMod val="1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Sheet1!$B$2:$B$4</c:f>
              <c:strCache>
                <c:ptCount val="3"/>
                <c:pt idx="0">
                  <c:v>Penjaminan Utang</c:v>
                </c:pt>
                <c:pt idx="1">
                  <c:v>Transaksi Jual Beli</c:v>
                </c:pt>
                <c:pt idx="2">
                  <c:v>Lelang</c:v>
                </c:pt>
              </c:strCache>
            </c:strRef>
          </c:cat>
          <c:val>
            <c:numRef>
              <c:f>Sheet1!$C$2:$C$4</c:f>
              <c:numCache>
                <c:formatCode>_-* #,##0_-;\-* #,##0_-;_-* "-"_-;_-@_-</c:formatCode>
                <c:ptCount val="3"/>
                <c:pt idx="0">
                  <c:v>50</c:v>
                </c:pt>
                <c:pt idx="1">
                  <c:v>40</c:v>
                </c:pt>
                <c:pt idx="2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110-44F6-93DC-9B784D346328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Valuation Purpose Name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Sheet1!$B$2:$B$4</c:f>
              <c:strCache>
                <c:ptCount val="3"/>
                <c:pt idx="0">
                  <c:v>Penjaminan Utang</c:v>
                </c:pt>
                <c:pt idx="1">
                  <c:v>Transaksi Jual Beli</c:v>
                </c:pt>
                <c:pt idx="2">
                  <c:v>Lelang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B9-E345-A993-91A33BEE65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axId val="150873984"/>
        <c:axId val="150618880"/>
      </c:barChart>
      <c:catAx>
        <c:axId val="150873984"/>
        <c:scaling>
          <c:orientation val="maxMin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 algn="ctr" rtl="0">
                  <a:defRPr sz="700" b="1" i="0" u="none" strike="noStrike" kern="1200" baseline="0">
                    <a:solidFill>
                      <a:schemeClr val="accent6">
                        <a:lumMod val="1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 dirty="0"/>
                  <a:t>Top </a:t>
                </a:r>
                <a:r>
                  <a:rPr lang="en-US" sz="800" b="1" i="0" u="none" strike="noStrike" kern="1200" baseline="0" dirty="0">
                    <a:solidFill>
                      <a:schemeClr val="accent6">
                        <a:lumMod val="1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valuation purpose </a:t>
                </a:r>
                <a:r>
                  <a:rPr lang="en-US" dirty="0"/>
                  <a:t>2024</a:t>
                </a:r>
              </a:p>
            </c:rich>
          </c:tx>
          <c:layout>
            <c:manualLayout>
              <c:xMode val="edge"/>
              <c:yMode val="edge"/>
              <c:x val="0"/>
              <c:y val="0.202429437624500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 algn="ctr" rtl="0">
                <a:defRPr sz="700" b="1" i="0" u="none" strike="noStrike" kern="1200" baseline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</c:title>
        <c:numFmt formatCode="General" sourceLinked="0"/>
        <c:majorTickMark val="none"/>
        <c:minorTickMark val="none"/>
        <c:tickLblPos val="none"/>
        <c:spPr>
          <a:noFill/>
          <a:ln w="9525" cap="flat" cmpd="sng" algn="ctr">
            <a:solidFill>
              <a:schemeClr val="tx1">
                <a:tint val="75000"/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50618880"/>
        <c:crosses val="autoZero"/>
        <c:auto val="1"/>
        <c:lblAlgn val="ctr"/>
        <c:lblOffset val="100"/>
        <c:noMultiLvlLbl val="0"/>
      </c:catAx>
      <c:valAx>
        <c:axId val="150618880"/>
        <c:scaling>
          <c:orientation val="minMax"/>
        </c:scaling>
        <c:delete val="0"/>
        <c:axPos val="t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500" b="1" i="0" u="none" strike="noStrike" kern="1200" baseline="0">
                    <a:solidFill>
                      <a:schemeClr val="accent6">
                        <a:lumMod val="1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 sz="500" dirty="0"/>
                  <a:t>Project Count</a:t>
                </a:r>
              </a:p>
            </c:rich>
          </c:tx>
          <c:layout>
            <c:manualLayout>
              <c:xMode val="edge"/>
              <c:yMode val="edge"/>
              <c:x val="0.41002125085899849"/>
              <c:y val="0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500" b="1" i="0" u="none" strike="noStrike" kern="1200" baseline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</c:title>
        <c:numFmt formatCode="#,##0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tint val="75000"/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508739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prstDash val="solid"/>
    </a:ln>
    <a:effectLst/>
  </c:spPr>
  <c:txPr>
    <a:bodyPr/>
    <a:lstStyle/>
    <a:p>
      <a:pPr>
        <a:defRPr sz="700" b="1">
          <a:solidFill>
            <a:schemeClr val="accent6">
              <a:lumMod val="1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>
        <c:manualLayout>
          <c:layoutTarget val="inner"/>
          <c:xMode val="edge"/>
          <c:yMode val="edge"/>
          <c:x val="3.847222222222222E-2"/>
          <c:y val="0.11454306551240651"/>
          <c:w val="0.85333333333333339"/>
          <c:h val="0.8221235189845618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Total Project</c:v>
                </c:pt>
              </c:strCache>
            </c:strRef>
          </c:tx>
          <c:spPr>
            <a:solidFill>
              <a:srgbClr val="F1E819"/>
            </a:solidFill>
            <a:ln>
              <a:solidFill>
                <a:schemeClr val="accent6">
                  <a:lumMod val="10000"/>
                </a:schemeClr>
              </a:solidFill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9C6944C6-E665-4559-886A-40A6FAF1EA96}" type="CATEGORYNAME">
                      <a:rPr lang="en-US" smtClean="0"/>
                      <a:pPr/>
                      <a:t>[CATEGORY NAME]</a:t>
                    </a:fld>
                    <a:r>
                      <a:rPr lang="en-US"/>
                      <a:t>n</a:t>
                    </a:r>
                  </a:p>
                </c:rich>
              </c:tx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9EDA-4498-ACB5-824549F139DD}"/>
                </c:ext>
              </c:extLst>
            </c:dLbl>
            <c:spPr>
              <a:solidFill>
                <a:srgbClr val="FFFFCC">
                  <a:alpha val="0"/>
                </a:srgb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1" i="0" u="none" strike="noStrike" kern="1200" baseline="0">
                    <a:solidFill>
                      <a:schemeClr val="accent6">
                        <a:lumMod val="1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Sheet1!$B$2:$B$4</c:f>
              <c:strCache>
                <c:ptCount val="3"/>
                <c:pt idx="0">
                  <c:v>Penjaminan Utang</c:v>
                </c:pt>
                <c:pt idx="1">
                  <c:v>Transaksi Jual Beli</c:v>
                </c:pt>
                <c:pt idx="2">
                  <c:v>Lelang</c:v>
                </c:pt>
              </c:strCache>
            </c:strRef>
          </c:cat>
          <c:val>
            <c:numRef>
              <c:f>Sheet1!$C$2:$C$4</c:f>
              <c:numCache>
                <c:formatCode>_-* #,##0_-;\-* #,##0_-;_-* "-"_-;_-@_-</c:formatCode>
                <c:ptCount val="3"/>
                <c:pt idx="0">
                  <c:v>50</c:v>
                </c:pt>
                <c:pt idx="1">
                  <c:v>40</c:v>
                </c:pt>
                <c:pt idx="2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EDA-4498-ACB5-824549F139D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150873984"/>
        <c:axId val="150618880"/>
      </c:barChart>
      <c:catAx>
        <c:axId val="150873984"/>
        <c:scaling>
          <c:orientation val="maxMin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700" b="1" i="0" u="none" strike="noStrike" kern="1200" baseline="0">
                    <a:solidFill>
                      <a:schemeClr val="accent6">
                        <a:lumMod val="1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 dirty="0"/>
                  <a:t>Top </a:t>
                </a:r>
                <a:r>
                  <a:rPr lang="en-US" sz="800" b="1" i="0" u="none" strike="noStrike" kern="1200" baseline="0" dirty="0">
                    <a:solidFill>
                      <a:schemeClr val="accent6">
                        <a:lumMod val="1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valuation purpose </a:t>
                </a:r>
                <a:r>
                  <a:rPr lang="en-US" dirty="0"/>
                  <a:t> 2025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700" b="1" i="0" u="none" strike="noStrike" kern="1200" baseline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</c:title>
        <c:numFmt formatCode="General" sourceLinked="0"/>
        <c:majorTickMark val="none"/>
        <c:minorTickMark val="none"/>
        <c:tickLblPos val="none"/>
        <c:spPr>
          <a:noFill/>
          <a:ln w="9525" cap="flat" cmpd="sng" algn="ctr">
            <a:solidFill>
              <a:schemeClr val="tx1">
                <a:tint val="75000"/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50618880"/>
        <c:crosses val="autoZero"/>
        <c:auto val="1"/>
        <c:lblAlgn val="ctr"/>
        <c:lblOffset val="100"/>
        <c:noMultiLvlLbl val="0"/>
      </c:catAx>
      <c:valAx>
        <c:axId val="150618880"/>
        <c:scaling>
          <c:orientation val="minMax"/>
        </c:scaling>
        <c:delete val="0"/>
        <c:axPos val="t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500" b="1" i="0" u="none" strike="noStrike" kern="1200" baseline="0">
                    <a:solidFill>
                      <a:schemeClr val="accent6">
                        <a:lumMod val="1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 sz="500"/>
                  <a:t>Project Count</a:t>
                </a:r>
              </a:p>
            </c:rich>
          </c:tx>
          <c:layout>
            <c:manualLayout>
              <c:xMode val="edge"/>
              <c:yMode val="edge"/>
              <c:x val="0.34461360876905289"/>
              <c:y val="0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500" b="1" i="0" u="none" strike="noStrike" kern="1200" baseline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</c:title>
        <c:numFmt formatCode="#,##0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tint val="75000"/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508739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prstDash val="solid"/>
    </a:ln>
    <a:effectLst/>
  </c:spPr>
  <c:txPr>
    <a:bodyPr/>
    <a:lstStyle/>
    <a:p>
      <a:pPr>
        <a:defRPr sz="700" b="1">
          <a:solidFill>
            <a:schemeClr val="accent6">
              <a:lumMod val="1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autoTitleDeleted val="1"/>
    <c:plotArea>
      <c:layout>
        <c:manualLayout>
          <c:layoutTarget val="inner"/>
          <c:xMode val="edge"/>
          <c:yMode val="edge"/>
          <c:x val="2.7541259371968607E-2"/>
          <c:y val="0.11377540133050172"/>
          <c:w val="0.84706666666666663"/>
          <c:h val="0.8304841612926439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Nilai (RP Juta)</c:v>
                </c:pt>
              </c:strCache>
            </c:strRef>
          </c:tx>
          <c:spPr>
            <a:solidFill>
              <a:srgbClr val="9E9F33"/>
            </a:solidFill>
            <a:ln>
              <a:solidFill>
                <a:schemeClr val="accent6">
                  <a:lumMod val="10000"/>
                </a:schemeClr>
              </a:solidFill>
            </a:ln>
            <a:effectLst/>
          </c:spPr>
          <c:invertIfNegative val="0"/>
          <c:dLbls>
            <c:spPr>
              <a:solidFill>
                <a:srgbClr val="FF9900">
                  <a:alpha val="0"/>
                </a:srgb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1" i="0" u="none" strike="noStrike" kern="1200" baseline="0">
                    <a:solidFill>
                      <a:schemeClr val="accent6">
                        <a:lumMod val="1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Sheet1!$B$2:$B$4</c:f>
              <c:strCache>
                <c:ptCount val="3"/>
                <c:pt idx="0">
                  <c:v>Penjaminan Utang</c:v>
                </c:pt>
                <c:pt idx="1">
                  <c:v>Transaksi Jual Beli</c:v>
                </c:pt>
                <c:pt idx="2">
                  <c:v>Lelang</c:v>
                </c:pt>
              </c:strCache>
            </c:strRef>
          </c:cat>
          <c:val>
            <c:numRef>
              <c:f>Sheet1!$C$2:$C$4</c:f>
              <c:numCache>
                <c:formatCode>_-* #,##0_-;\-* #,##0_-;_-* "-"_-;_-@_-</c:formatCode>
                <c:ptCount val="3"/>
                <c:pt idx="0">
                  <c:v>281654541</c:v>
                </c:pt>
                <c:pt idx="1">
                  <c:v>183181816</c:v>
                </c:pt>
                <c:pt idx="2">
                  <c:v>155000000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DF-4DD5-9FD4-598CFDCDC1C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150523264"/>
        <c:axId val="150569728"/>
      </c:barChart>
      <c:catAx>
        <c:axId val="150523264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noFill/>
          <a:ln w="9525" cap="flat" cmpd="sng" algn="ctr">
            <a:solidFill>
              <a:schemeClr val="tx1">
                <a:tint val="75000"/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50569728"/>
        <c:crosses val="autoZero"/>
        <c:auto val="1"/>
        <c:lblAlgn val="ctr"/>
        <c:lblOffset val="100"/>
        <c:noMultiLvlLbl val="0"/>
      </c:catAx>
      <c:valAx>
        <c:axId val="150569728"/>
        <c:scaling>
          <c:orientation val="minMax"/>
        </c:scaling>
        <c:delete val="0"/>
        <c:axPos val="t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700" b="1" i="0" u="none" strike="noStrike" kern="1200" baseline="0">
                    <a:solidFill>
                      <a:schemeClr val="accent6">
                        <a:lumMod val="1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 sz="500" dirty="0"/>
                  <a:t>Million IDR</a:t>
                </a:r>
              </a:p>
            </c:rich>
          </c:tx>
          <c:layout>
            <c:manualLayout>
              <c:xMode val="edge"/>
              <c:yMode val="edge"/>
              <c:x val="0.44473444483467939"/>
              <c:y val="0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700" b="1" i="0" u="none" strike="noStrike" kern="1200" baseline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</c:title>
        <c:numFmt formatCode="#,##0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tint val="75000"/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50523264"/>
        <c:crosses val="autoZero"/>
        <c:crossBetween val="between"/>
        <c:dispUnits>
          <c:builtInUnit val="millions"/>
        </c:dispUnits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prstDash val="solid"/>
    </a:ln>
    <a:effectLst/>
  </c:spPr>
  <c:txPr>
    <a:bodyPr/>
    <a:lstStyle/>
    <a:p>
      <a:pPr>
        <a:defRPr sz="700" b="1">
          <a:solidFill>
            <a:schemeClr val="accent6">
              <a:lumMod val="1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autoTitleDeleted val="1"/>
    <c:plotArea>
      <c:layout>
        <c:manualLayout>
          <c:layoutTarget val="inner"/>
          <c:xMode val="edge"/>
          <c:yMode val="edge"/>
          <c:x val="2.7541259371968607E-2"/>
          <c:y val="0.11377540133050172"/>
          <c:w val="0.84706666666666663"/>
          <c:h val="0.8304841612926439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Nilai (RP Juta)</c:v>
                </c:pt>
              </c:strCache>
            </c:strRef>
          </c:tx>
          <c:spPr>
            <a:solidFill>
              <a:srgbClr val="9E9F33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9E9F33"/>
              </a:solidFill>
              <a:ln>
                <a:solidFill>
                  <a:schemeClr val="accent6">
                    <a:lumMod val="1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0-A620-8243-AB6E-4BF90DA7CD14}"/>
              </c:ext>
            </c:extLst>
          </c:dPt>
          <c:dLbls>
            <c:spPr>
              <a:solidFill>
                <a:srgbClr val="FF9900">
                  <a:alpha val="0"/>
                </a:srgb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1" i="0" u="none" strike="noStrike" kern="1200" baseline="0">
                    <a:solidFill>
                      <a:schemeClr val="accent6">
                        <a:lumMod val="1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Sheet1!$B$2:$B$4</c:f>
              <c:strCache>
                <c:ptCount val="3"/>
                <c:pt idx="0">
                  <c:v>Penjaminan Utang</c:v>
                </c:pt>
                <c:pt idx="1">
                  <c:v>Transaksi Jual Beli</c:v>
                </c:pt>
                <c:pt idx="2">
                  <c:v>Lelang</c:v>
                </c:pt>
              </c:strCache>
            </c:strRef>
          </c:cat>
          <c:val>
            <c:numRef>
              <c:f>Sheet1!$C$2:$C$4</c:f>
              <c:numCache>
                <c:formatCode>_-* #,##0_-;\-* #,##0_-;_-* "-"_-;_-@_-</c:formatCode>
                <c:ptCount val="3"/>
                <c:pt idx="0">
                  <c:v>281654541</c:v>
                </c:pt>
                <c:pt idx="1">
                  <c:v>183181816</c:v>
                </c:pt>
                <c:pt idx="2">
                  <c:v>155000000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CA0-4140-8CBA-D02266035B7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150523264"/>
        <c:axId val="150569728"/>
      </c:barChart>
      <c:catAx>
        <c:axId val="150523264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noFill/>
          <a:ln w="9525" cap="flat" cmpd="sng" algn="ctr">
            <a:solidFill>
              <a:schemeClr val="tx1">
                <a:tint val="75000"/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50569728"/>
        <c:crosses val="autoZero"/>
        <c:auto val="1"/>
        <c:lblAlgn val="ctr"/>
        <c:lblOffset val="100"/>
        <c:noMultiLvlLbl val="0"/>
      </c:catAx>
      <c:valAx>
        <c:axId val="150569728"/>
        <c:scaling>
          <c:orientation val="minMax"/>
        </c:scaling>
        <c:delete val="0"/>
        <c:axPos val="t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700" b="1" i="0" u="none" strike="noStrike" kern="1200" baseline="0">
                    <a:solidFill>
                      <a:schemeClr val="accent6">
                        <a:lumMod val="1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 sz="500" dirty="0"/>
                  <a:t>Million IDR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700" b="1" i="0" u="none" strike="noStrike" kern="1200" baseline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</c:title>
        <c:numFmt formatCode="#,##0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tint val="75000"/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50523264"/>
        <c:crosses val="autoZero"/>
        <c:crossBetween val="between"/>
        <c:dispUnits>
          <c:builtInUnit val="millions"/>
        </c:dispUnits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prstDash val="solid"/>
    </a:ln>
    <a:effectLst/>
  </c:spPr>
  <c:txPr>
    <a:bodyPr/>
    <a:lstStyle/>
    <a:p>
      <a:pPr>
        <a:defRPr sz="700" b="1">
          <a:solidFill>
            <a:schemeClr val="accent6">
              <a:lumMod val="1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5193708180843597E-2"/>
          <c:y val="0.12768351536703074"/>
          <c:w val="0.83595855975749511"/>
          <c:h val="0.6423918381170096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Project Count</c:v>
                </c:pt>
              </c:strCache>
            </c:strRef>
          </c:tx>
          <c:spPr>
            <a:solidFill>
              <a:srgbClr val="DEDA27"/>
            </a:solidFill>
          </c:spPr>
          <c:invertIfNegative val="0"/>
          <c:dLbls>
            <c:spPr>
              <a:ln>
                <a:solidFill>
                  <a:srgbClr val="FFC000"/>
                </a:solidFill>
              </a:ln>
            </c:sp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12</c:v>
                </c:pt>
                <c:pt idx="2">
                  <c:v>11</c:v>
                </c:pt>
                <c:pt idx="3">
                  <c:v>13</c:v>
                </c:pt>
                <c:pt idx="4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FDD-427B-9849-8A28EC30B0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51947904"/>
        <c:axId val="151949696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Growth</c:v>
                </c:pt>
              </c:strCache>
            </c:strRef>
          </c:tx>
          <c:spPr>
            <a:ln>
              <a:solidFill>
                <a:srgbClr val="FF0000"/>
              </a:solidFill>
            </a:ln>
          </c:spPr>
          <c:marker>
            <c:symbol val="none"/>
          </c:marker>
          <c:cat>
            <c:numRef>
              <c:f>Sheet1!$A$2:$A$6</c:f>
              <c:numCache>
                <c:formatCode>General</c:formatCod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numCache>
            </c:numRef>
          </c:cat>
          <c:val>
            <c:numRef>
              <c:f>Sheet1!$C$2:$C$6</c:f>
              <c:numCache>
                <c:formatCode>0%</c:formatCode>
                <c:ptCount val="5"/>
                <c:pt idx="1">
                  <c:v>0.19999999999999996</c:v>
                </c:pt>
                <c:pt idx="2">
                  <c:v>-8.333333333333337E-2</c:v>
                </c:pt>
                <c:pt idx="3">
                  <c:v>0.18181818181818188</c:v>
                </c:pt>
                <c:pt idx="4">
                  <c:v>7.6923076923076872E-2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FFDD-427B-9849-8A28EC30B0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1952768"/>
        <c:axId val="151951232"/>
      </c:lineChart>
      <c:catAx>
        <c:axId val="151947904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151949696"/>
        <c:crosses val="autoZero"/>
        <c:auto val="1"/>
        <c:lblAlgn val="ctr"/>
        <c:lblOffset val="100"/>
        <c:noMultiLvlLbl val="0"/>
      </c:catAx>
      <c:valAx>
        <c:axId val="15194969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151947904"/>
        <c:crosses val="autoZero"/>
        <c:crossBetween val="between"/>
      </c:valAx>
      <c:valAx>
        <c:axId val="151951232"/>
        <c:scaling>
          <c:orientation val="minMax"/>
        </c:scaling>
        <c:delete val="0"/>
        <c:axPos val="r"/>
        <c:numFmt formatCode="0%" sourceLinked="0"/>
        <c:majorTickMark val="out"/>
        <c:minorTickMark val="none"/>
        <c:tickLblPos val="nextTo"/>
        <c:crossAx val="151952768"/>
        <c:crosses val="max"/>
        <c:crossBetween val="between"/>
      </c:valAx>
      <c:catAx>
        <c:axId val="15195276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1951232"/>
        <c:crosses val="autoZero"/>
        <c:auto val="1"/>
        <c:lblAlgn val="ctr"/>
        <c:lblOffset val="100"/>
        <c:noMultiLvlLbl val="0"/>
      </c:catAx>
    </c:plotArea>
    <c:legend>
      <c:legendPos val="b"/>
      <c:layout>
        <c:manualLayout>
          <c:xMode val="edge"/>
          <c:yMode val="edge"/>
          <c:x val="0.25302983253853834"/>
          <c:y val="0.87790666410601115"/>
          <c:w val="0.49863498576762411"/>
          <c:h val="0.12209333589398887"/>
        </c:manualLayout>
      </c:layout>
      <c:overlay val="0"/>
    </c:legend>
    <c:plotVisOnly val="1"/>
    <c:dispBlanksAs val="gap"/>
    <c:showDLblsOverMax val="0"/>
  </c:chart>
  <c:spPr>
    <a:noFill/>
    <a:ln>
      <a:solidFill>
        <a:schemeClr val="accent2">
          <a:lumMod val="50000"/>
        </a:schemeClr>
      </a:solidFill>
    </a:ln>
  </c:spPr>
  <c:txPr>
    <a:bodyPr/>
    <a:lstStyle/>
    <a:p>
      <a:pPr>
        <a:defRPr sz="1000">
          <a:solidFill>
            <a:schemeClr val="accent6">
              <a:lumMod val="1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5193708180843597E-2"/>
          <c:y val="0.11162049188295906"/>
          <c:w val="0.83595855975749511"/>
          <c:h val="0.6009992970946579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(IDR Million)</c:v>
                </c:pt>
              </c:strCache>
            </c:strRef>
          </c:tx>
          <c:spPr>
            <a:solidFill>
              <a:srgbClr val="DEDA27"/>
            </a:solidFill>
          </c:spPr>
          <c:invertIfNegative val="0"/>
          <c:dLbls>
            <c:dLbl>
              <c:idx val="0"/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8E8-B744-867A-237E87CE822D}"/>
                </c:ext>
              </c:extLst>
            </c:dLbl>
            <c:spPr>
              <a:ln>
                <a:solidFill>
                  <a:srgbClr val="FFC000"/>
                </a:solidFill>
              </a:ln>
            </c:sp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numCache>
            </c:numRef>
          </c:cat>
          <c:val>
            <c:numRef>
              <c:f>Sheet1!$B$2:$B$6</c:f>
              <c:numCache>
                <c:formatCode>_(* #,##0_);_(* \(#,##0\);_(* "-"??_);_(@_)</c:formatCode>
                <c:ptCount val="5"/>
                <c:pt idx="0">
                  <c:v>5000</c:v>
                </c:pt>
                <c:pt idx="1">
                  <c:v>7000</c:v>
                </c:pt>
                <c:pt idx="2">
                  <c:v>8500</c:v>
                </c:pt>
                <c:pt idx="3">
                  <c:v>9000</c:v>
                </c:pt>
                <c:pt idx="4">
                  <c:v>10000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6D5-4BF9-96BE-CF58C67271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axId val="152005248"/>
        <c:axId val="152011136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Growth</c:v>
                </c:pt>
              </c:strCache>
            </c:strRef>
          </c:tx>
          <c:spPr>
            <a:ln>
              <a:solidFill>
                <a:srgbClr val="FF0000"/>
              </a:solidFill>
            </a:ln>
          </c:spPr>
          <c:marker>
            <c:symbol val="none"/>
          </c:marker>
          <c:cat>
            <c:numRef>
              <c:f>Sheet1!$A$2:$A$6</c:f>
              <c:numCache>
                <c:formatCode>General</c:formatCod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numCache>
            </c:numRef>
          </c:cat>
          <c:val>
            <c:numRef>
              <c:f>Sheet1!$C$2:$C$6</c:f>
              <c:numCache>
                <c:formatCode>0%</c:formatCode>
                <c:ptCount val="5"/>
                <c:pt idx="1">
                  <c:v>0.39999999999999991</c:v>
                </c:pt>
                <c:pt idx="2">
                  <c:v>0.21428571428571419</c:v>
                </c:pt>
                <c:pt idx="3">
                  <c:v>5.8823529411764719E-2</c:v>
                </c:pt>
                <c:pt idx="4">
                  <c:v>0.11111111111111116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C6D5-4BF9-96BE-CF58C67271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2014208"/>
        <c:axId val="152012672"/>
      </c:lineChart>
      <c:catAx>
        <c:axId val="152005248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152011136"/>
        <c:crosses val="autoZero"/>
        <c:auto val="1"/>
        <c:lblAlgn val="ctr"/>
        <c:lblOffset val="100"/>
        <c:noMultiLvlLbl val="0"/>
      </c:catAx>
      <c:valAx>
        <c:axId val="152011136"/>
        <c:scaling>
          <c:orientation val="minMax"/>
        </c:scaling>
        <c:delete val="0"/>
        <c:axPos val="l"/>
        <c:numFmt formatCode="_(* #,##0_);_(* \(#,##0\);_(* &quot;-&quot;??_);_(@_)" sourceLinked="1"/>
        <c:majorTickMark val="out"/>
        <c:minorTickMark val="none"/>
        <c:tickLblPos val="nextTo"/>
        <c:crossAx val="152005248"/>
        <c:crosses val="autoZero"/>
        <c:crossBetween val="between"/>
      </c:valAx>
      <c:valAx>
        <c:axId val="152012672"/>
        <c:scaling>
          <c:orientation val="minMax"/>
        </c:scaling>
        <c:delete val="0"/>
        <c:axPos val="r"/>
        <c:numFmt formatCode="0%" sourceLinked="0"/>
        <c:majorTickMark val="out"/>
        <c:minorTickMark val="none"/>
        <c:tickLblPos val="nextTo"/>
        <c:crossAx val="152014208"/>
        <c:crosses val="max"/>
        <c:crossBetween val="between"/>
      </c:valAx>
      <c:catAx>
        <c:axId val="15201420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2012672"/>
        <c:crosses val="autoZero"/>
        <c:auto val="1"/>
        <c:lblAlgn val="ctr"/>
        <c:lblOffset val="100"/>
        <c:noMultiLvlLbl val="0"/>
      </c:catAx>
      <c:spPr>
        <a:noFill/>
      </c:spPr>
    </c:plotArea>
    <c:legend>
      <c:legendPos val="b"/>
      <c:layout>
        <c:manualLayout>
          <c:xMode val="edge"/>
          <c:yMode val="edge"/>
          <c:x val="0.25302983253853834"/>
          <c:y val="0.87790666410601115"/>
          <c:w val="0.49863498576762411"/>
          <c:h val="0.12209333589398887"/>
        </c:manualLayout>
      </c:layout>
      <c:overlay val="0"/>
    </c:legend>
    <c:plotVisOnly val="1"/>
    <c:dispBlanksAs val="gap"/>
    <c:showDLblsOverMax val="0"/>
  </c:chart>
  <c:spPr>
    <a:noFill/>
    <a:ln>
      <a:solidFill>
        <a:schemeClr val="accent6">
          <a:lumMod val="10000"/>
        </a:schemeClr>
      </a:solidFill>
    </a:ln>
  </c:spPr>
  <c:txPr>
    <a:bodyPr/>
    <a:lstStyle/>
    <a:p>
      <a:pPr>
        <a:defRPr sz="1000">
          <a:solidFill>
            <a:schemeClr val="accent6">
              <a:lumMod val="1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60" b="0" i="0" u="none" strike="noStrike" kern="1200" spc="0" baseline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/>
              <a:t>RIS-SPM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60" b="0" i="0" u="none" strike="noStrike" kern="1200" spc="0" baseline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RIS-SPM</c:v>
                </c:pt>
              </c:strCache>
            </c:strRef>
          </c:tx>
          <c:spPr>
            <a:ln>
              <a:solidFill>
                <a:schemeClr val="accent6">
                  <a:lumMod val="10000"/>
                </a:schemeClr>
              </a:solidFill>
            </a:ln>
          </c:spPr>
          <c:dPt>
            <c:idx val="0"/>
            <c:bubble3D val="0"/>
            <c:spPr>
              <a:solidFill>
                <a:srgbClr val="F1E819"/>
              </a:solidFill>
              <a:ln w="19050">
                <a:solidFill>
                  <a:schemeClr val="accent6">
                    <a:lumMod val="1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853-5940-A6F8-1D42CBF15324}"/>
              </c:ext>
            </c:extLst>
          </c:dPt>
          <c:dPt>
            <c:idx val="1"/>
            <c:bubble3D val="0"/>
            <c:spPr>
              <a:solidFill>
                <a:srgbClr val="9E9F33"/>
              </a:solidFill>
              <a:ln w="19050">
                <a:solidFill>
                  <a:schemeClr val="accent6">
                    <a:lumMod val="1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853-5940-A6F8-1D42CBF15324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 w="19050">
                <a:solidFill>
                  <a:schemeClr val="accent6">
                    <a:lumMod val="1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853-5940-A6F8-1D42CBF15324}"/>
              </c:ext>
            </c:extLst>
          </c:dPt>
          <c:dPt>
            <c:idx val="3"/>
            <c:bubble3D val="0"/>
            <c:spPr>
              <a:solidFill>
                <a:schemeClr val="accent6">
                  <a:lumMod val="60000"/>
                </a:schemeClr>
              </a:solidFill>
              <a:ln w="19050">
                <a:solidFill>
                  <a:schemeClr val="accent6">
                    <a:lumMod val="1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4853-5940-A6F8-1D42CBF1532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chemeClr val="accent6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Sudah Diterapkan</c:v>
                </c:pt>
                <c:pt idx="1">
                  <c:v>Belum Diterapkan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0.8</c:v>
                </c:pt>
                <c:pt idx="1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65-5B47-A699-8564FB6F0A19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50">
          <a:solidFill>
            <a:schemeClr val="accent6">
              <a:lumMod val="10000"/>
            </a:schemeClr>
          </a:solidFill>
          <a:latin typeface="+mn-lt"/>
        </a:defRPr>
      </a:pPr>
      <a:endParaRPr lang="en-US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60" b="0" i="0" u="none" strike="noStrike" kern="1200" spc="0" baseline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/>
              <a:t>Database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60" b="0" i="0" u="none" strike="noStrike" kern="1200" spc="0" baseline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Database</c:v>
                </c:pt>
              </c:strCache>
            </c:strRef>
          </c:tx>
          <c:spPr>
            <a:solidFill>
              <a:srgbClr val="F1E819"/>
            </a:solidFill>
            <a:ln>
              <a:solidFill>
                <a:schemeClr val="accent6">
                  <a:lumMod val="10000"/>
                </a:schemeClr>
              </a:solidFill>
            </a:ln>
          </c:spPr>
          <c:dPt>
            <c:idx val="0"/>
            <c:bubble3D val="0"/>
            <c:spPr>
              <a:solidFill>
                <a:srgbClr val="F1E819"/>
              </a:solidFill>
              <a:ln w="19050">
                <a:solidFill>
                  <a:schemeClr val="accent6">
                    <a:lumMod val="1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4CA-9E4D-BB43-D6AAA304C7E6}"/>
              </c:ext>
            </c:extLst>
          </c:dPt>
          <c:dPt>
            <c:idx val="1"/>
            <c:bubble3D val="0"/>
            <c:spPr>
              <a:solidFill>
                <a:srgbClr val="9E9F33"/>
              </a:solidFill>
              <a:ln w="19050">
                <a:solidFill>
                  <a:schemeClr val="accent6">
                    <a:lumMod val="1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4CA-9E4D-BB43-D6AAA304C7E6}"/>
              </c:ext>
            </c:extLst>
          </c:dPt>
          <c:dPt>
            <c:idx val="2"/>
            <c:bubble3D val="0"/>
            <c:spPr>
              <a:solidFill>
                <a:srgbClr val="F1E819"/>
              </a:solidFill>
              <a:ln w="19050">
                <a:solidFill>
                  <a:schemeClr val="accent6">
                    <a:lumMod val="1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4CA-9E4D-BB43-D6AAA304C7E6}"/>
              </c:ext>
            </c:extLst>
          </c:dPt>
          <c:dPt>
            <c:idx val="3"/>
            <c:bubble3D val="0"/>
            <c:spPr>
              <a:solidFill>
                <a:srgbClr val="F1E819"/>
              </a:solidFill>
              <a:ln w="19050">
                <a:solidFill>
                  <a:schemeClr val="accent6">
                    <a:lumMod val="1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84CA-9E4D-BB43-D6AAA304C7E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chemeClr val="accent6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Sudah Diterapkan</c:v>
                </c:pt>
                <c:pt idx="1">
                  <c:v>Belum Diterapkan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0.8</c:v>
                </c:pt>
                <c:pt idx="1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4CA-9E4D-BB43-D6AAA304C7E6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50">
          <a:solidFill>
            <a:schemeClr val="accent6">
              <a:lumMod val="10000"/>
            </a:schemeClr>
          </a:solidFill>
          <a:latin typeface="+mn-lt"/>
        </a:defRPr>
      </a:pPr>
      <a:endParaRPr lang="en-US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60" b="0" i="0" u="none" strike="noStrike" kern="1200" spc="0" baseline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/>
              <a:t>PMR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60" b="0" i="0" u="none" strike="noStrike" kern="1200" spc="0" baseline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PMR</c:v>
                </c:pt>
              </c:strCache>
            </c:strRef>
          </c:tx>
          <c:spPr>
            <a:solidFill>
              <a:srgbClr val="F1E819"/>
            </a:solidFill>
            <a:ln>
              <a:solidFill>
                <a:schemeClr val="accent6">
                  <a:lumMod val="10000"/>
                </a:schemeClr>
              </a:solidFill>
            </a:ln>
          </c:spPr>
          <c:dPt>
            <c:idx val="0"/>
            <c:bubble3D val="0"/>
            <c:spPr>
              <a:solidFill>
                <a:srgbClr val="F1E819"/>
              </a:solidFill>
              <a:ln w="19050">
                <a:solidFill>
                  <a:schemeClr val="accent6">
                    <a:lumMod val="1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918-3E44-BF94-0904BCB6B31C}"/>
              </c:ext>
            </c:extLst>
          </c:dPt>
          <c:dPt>
            <c:idx val="1"/>
            <c:bubble3D val="0"/>
            <c:spPr>
              <a:solidFill>
                <a:srgbClr val="9E9F33"/>
              </a:solidFill>
              <a:ln w="19050">
                <a:solidFill>
                  <a:schemeClr val="accent6">
                    <a:lumMod val="1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918-3E44-BF94-0904BCB6B31C}"/>
              </c:ext>
            </c:extLst>
          </c:dPt>
          <c:dPt>
            <c:idx val="2"/>
            <c:bubble3D val="0"/>
            <c:spPr>
              <a:solidFill>
                <a:srgbClr val="F1E819"/>
              </a:solidFill>
              <a:ln w="19050">
                <a:solidFill>
                  <a:schemeClr val="accent6">
                    <a:lumMod val="1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918-3E44-BF94-0904BCB6B31C}"/>
              </c:ext>
            </c:extLst>
          </c:dPt>
          <c:dPt>
            <c:idx val="3"/>
            <c:bubble3D val="0"/>
            <c:spPr>
              <a:solidFill>
                <a:srgbClr val="F1E819"/>
              </a:solidFill>
              <a:ln w="19050">
                <a:solidFill>
                  <a:schemeClr val="accent6">
                    <a:lumMod val="1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918-3E44-BF94-0904BCB6B31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chemeClr val="accent6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Sudah Diterapkan</c:v>
                </c:pt>
                <c:pt idx="1">
                  <c:v>Belum Diterapkan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0.8</c:v>
                </c:pt>
                <c:pt idx="1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918-3E44-BF94-0904BCB6B31C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50">
          <a:solidFill>
            <a:schemeClr val="accent6">
              <a:lumMod val="10000"/>
            </a:schemeClr>
          </a:solidFill>
          <a:latin typeface="+mn-lt"/>
        </a:defRPr>
      </a:pPr>
      <a:endParaRPr lang="en-US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5193708180843597E-2"/>
          <c:y val="0.12768351536703074"/>
          <c:w val="0.83595855975749511"/>
          <c:h val="0.6423918381170096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Project Count</c:v>
                </c:pt>
              </c:strCache>
            </c:strRef>
          </c:tx>
          <c:spPr>
            <a:solidFill>
              <a:srgbClr val="DEDA27"/>
            </a:solidFill>
          </c:spPr>
          <c:invertIfNegative val="0"/>
          <c:dLbls>
            <c:spPr>
              <a:ln>
                <a:solidFill>
                  <a:srgbClr val="FFC000"/>
                </a:solidFill>
              </a:ln>
            </c:sp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12</c:v>
                </c:pt>
                <c:pt idx="2">
                  <c:v>11</c:v>
                </c:pt>
                <c:pt idx="3">
                  <c:v>13</c:v>
                </c:pt>
                <c:pt idx="4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FDD-427B-9849-8A28EC30B0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51947904"/>
        <c:axId val="151949696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Growth</c:v>
                </c:pt>
              </c:strCache>
            </c:strRef>
          </c:tx>
          <c:spPr>
            <a:ln>
              <a:solidFill>
                <a:srgbClr val="FF0000"/>
              </a:solidFill>
            </a:ln>
          </c:spPr>
          <c:marker>
            <c:symbol val="none"/>
          </c:marker>
          <c:cat>
            <c:numRef>
              <c:f>Sheet1!$A$2:$A$6</c:f>
              <c:numCache>
                <c:formatCode>General</c:formatCode>
                <c:ptCount val="5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</c:numCache>
            </c:numRef>
          </c:cat>
          <c:val>
            <c:numRef>
              <c:f>Sheet1!$C$2:$C$6</c:f>
              <c:numCache>
                <c:formatCode>0%</c:formatCode>
                <c:ptCount val="5"/>
                <c:pt idx="1">
                  <c:v>0.19999999999999996</c:v>
                </c:pt>
                <c:pt idx="2">
                  <c:v>-8.333333333333337E-2</c:v>
                </c:pt>
                <c:pt idx="3">
                  <c:v>0.18181818181818188</c:v>
                </c:pt>
                <c:pt idx="4">
                  <c:v>7.6923076923076872E-2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FFDD-427B-9849-8A28EC30B0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1952768"/>
        <c:axId val="151951232"/>
      </c:lineChart>
      <c:catAx>
        <c:axId val="151947904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151949696"/>
        <c:crosses val="autoZero"/>
        <c:auto val="1"/>
        <c:lblAlgn val="ctr"/>
        <c:lblOffset val="100"/>
        <c:noMultiLvlLbl val="0"/>
      </c:catAx>
      <c:valAx>
        <c:axId val="15194969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151947904"/>
        <c:crosses val="autoZero"/>
        <c:crossBetween val="between"/>
      </c:valAx>
      <c:valAx>
        <c:axId val="151951232"/>
        <c:scaling>
          <c:orientation val="minMax"/>
        </c:scaling>
        <c:delete val="0"/>
        <c:axPos val="r"/>
        <c:numFmt formatCode="0%" sourceLinked="0"/>
        <c:majorTickMark val="out"/>
        <c:minorTickMark val="none"/>
        <c:tickLblPos val="nextTo"/>
        <c:crossAx val="151952768"/>
        <c:crosses val="max"/>
        <c:crossBetween val="between"/>
      </c:valAx>
      <c:catAx>
        <c:axId val="15195276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1951232"/>
        <c:crosses val="autoZero"/>
        <c:auto val="1"/>
        <c:lblAlgn val="ctr"/>
        <c:lblOffset val="100"/>
        <c:noMultiLvlLbl val="0"/>
      </c:catAx>
    </c:plotArea>
    <c:legend>
      <c:legendPos val="b"/>
      <c:layout>
        <c:manualLayout>
          <c:xMode val="edge"/>
          <c:yMode val="edge"/>
          <c:x val="0.25302983253853834"/>
          <c:y val="0.87790666410601115"/>
          <c:w val="0.49863498576762411"/>
          <c:h val="0.12209333589398887"/>
        </c:manualLayout>
      </c:layout>
      <c:overlay val="0"/>
    </c:legend>
    <c:plotVisOnly val="1"/>
    <c:dispBlanksAs val="gap"/>
    <c:showDLblsOverMax val="0"/>
  </c:chart>
  <c:spPr>
    <a:noFill/>
    <a:ln>
      <a:solidFill>
        <a:schemeClr val="accent2">
          <a:lumMod val="50000"/>
        </a:schemeClr>
      </a:solidFill>
    </a:ln>
  </c:spPr>
  <c:txPr>
    <a:bodyPr/>
    <a:lstStyle/>
    <a:p>
      <a:pPr>
        <a:defRPr sz="1000">
          <a:solidFill>
            <a:schemeClr val="accent6">
              <a:lumMod val="1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5193708180843597E-2"/>
          <c:y val="0.11162049188295906"/>
          <c:w val="0.83595855975749511"/>
          <c:h val="0.6009992970946579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(IDR Million)</c:v>
                </c:pt>
              </c:strCache>
            </c:strRef>
          </c:tx>
          <c:spPr>
            <a:solidFill>
              <a:srgbClr val="DEDA27"/>
            </a:solidFill>
          </c:spPr>
          <c:invertIfNegative val="0"/>
          <c:dLbls>
            <c:dLbl>
              <c:idx val="0"/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8E8-B744-867A-237E87CE822D}"/>
                </c:ext>
              </c:extLst>
            </c:dLbl>
            <c:spPr>
              <a:ln>
                <a:solidFill>
                  <a:srgbClr val="FFC000"/>
                </a:solidFill>
              </a:ln>
            </c:sp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</c:numCache>
            </c:numRef>
          </c:cat>
          <c:val>
            <c:numRef>
              <c:f>Sheet1!$B$2:$B$6</c:f>
              <c:numCache>
                <c:formatCode>_(* #,##0_);_(* \(#,##0\);_(* "-"??_);_(@_)</c:formatCode>
                <c:ptCount val="5"/>
                <c:pt idx="0">
                  <c:v>5000</c:v>
                </c:pt>
                <c:pt idx="1">
                  <c:v>7000</c:v>
                </c:pt>
                <c:pt idx="2">
                  <c:v>8500</c:v>
                </c:pt>
                <c:pt idx="3">
                  <c:v>9000</c:v>
                </c:pt>
                <c:pt idx="4">
                  <c:v>10000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6D5-4BF9-96BE-CF58C67271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axId val="152005248"/>
        <c:axId val="152011136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Growth</c:v>
                </c:pt>
              </c:strCache>
            </c:strRef>
          </c:tx>
          <c:spPr>
            <a:ln>
              <a:solidFill>
                <a:srgbClr val="FF0000"/>
              </a:solidFill>
            </a:ln>
          </c:spPr>
          <c:marker>
            <c:symbol val="none"/>
          </c:marker>
          <c:cat>
            <c:numRef>
              <c:f>Sheet1!$A$2:$A$6</c:f>
              <c:numCache>
                <c:formatCode>General</c:formatCode>
                <c:ptCount val="5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</c:numCache>
            </c:numRef>
          </c:cat>
          <c:val>
            <c:numRef>
              <c:f>Sheet1!$C$2:$C$6</c:f>
              <c:numCache>
                <c:formatCode>0%</c:formatCode>
                <c:ptCount val="5"/>
                <c:pt idx="1">
                  <c:v>0.39999999999999991</c:v>
                </c:pt>
                <c:pt idx="2">
                  <c:v>0.21428571428571419</c:v>
                </c:pt>
                <c:pt idx="3">
                  <c:v>5.8823529411764719E-2</c:v>
                </c:pt>
                <c:pt idx="4">
                  <c:v>0.11111111111111116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C6D5-4BF9-96BE-CF58C67271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2014208"/>
        <c:axId val="152012672"/>
      </c:lineChart>
      <c:catAx>
        <c:axId val="152005248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152011136"/>
        <c:crosses val="autoZero"/>
        <c:auto val="1"/>
        <c:lblAlgn val="ctr"/>
        <c:lblOffset val="100"/>
        <c:noMultiLvlLbl val="0"/>
      </c:catAx>
      <c:valAx>
        <c:axId val="152011136"/>
        <c:scaling>
          <c:orientation val="minMax"/>
        </c:scaling>
        <c:delete val="0"/>
        <c:axPos val="l"/>
        <c:numFmt formatCode="_(* #,##0_);_(* \(#,##0\);_(* &quot;-&quot;??_);_(@_)" sourceLinked="1"/>
        <c:majorTickMark val="out"/>
        <c:minorTickMark val="none"/>
        <c:tickLblPos val="nextTo"/>
        <c:crossAx val="152005248"/>
        <c:crosses val="autoZero"/>
        <c:crossBetween val="between"/>
      </c:valAx>
      <c:valAx>
        <c:axId val="152012672"/>
        <c:scaling>
          <c:orientation val="minMax"/>
        </c:scaling>
        <c:delete val="0"/>
        <c:axPos val="r"/>
        <c:numFmt formatCode="0%" sourceLinked="0"/>
        <c:majorTickMark val="out"/>
        <c:minorTickMark val="none"/>
        <c:tickLblPos val="nextTo"/>
        <c:crossAx val="152014208"/>
        <c:crosses val="max"/>
        <c:crossBetween val="between"/>
      </c:valAx>
      <c:catAx>
        <c:axId val="15201420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2012672"/>
        <c:crosses val="autoZero"/>
        <c:auto val="1"/>
        <c:lblAlgn val="ctr"/>
        <c:lblOffset val="100"/>
        <c:noMultiLvlLbl val="0"/>
      </c:catAx>
      <c:spPr>
        <a:noFill/>
      </c:spPr>
    </c:plotArea>
    <c:legend>
      <c:legendPos val="b"/>
      <c:layout>
        <c:manualLayout>
          <c:xMode val="edge"/>
          <c:yMode val="edge"/>
          <c:x val="0.25302983253853834"/>
          <c:y val="0.87790666410601115"/>
          <c:w val="0.49863498576762411"/>
          <c:h val="0.12209333589398887"/>
        </c:manualLayout>
      </c:layout>
      <c:overlay val="0"/>
    </c:legend>
    <c:plotVisOnly val="1"/>
    <c:dispBlanksAs val="gap"/>
    <c:showDLblsOverMax val="0"/>
  </c:chart>
  <c:spPr>
    <a:noFill/>
    <a:ln>
      <a:solidFill>
        <a:schemeClr val="accent6">
          <a:lumMod val="10000"/>
        </a:schemeClr>
      </a:solidFill>
    </a:ln>
  </c:spPr>
  <c:txPr>
    <a:bodyPr/>
    <a:lstStyle/>
    <a:p>
      <a:pPr>
        <a:defRPr sz="1000">
          <a:solidFill>
            <a:schemeClr val="accent6">
              <a:lumMod val="1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2">
  <a:schemeClr val="accent2"/>
</cs:colorStyle>
</file>

<file path=ppt/charts/colors2.xml><?xml version="1.0" encoding="utf-8"?>
<cs:colorStyle xmlns:cs="http://schemas.microsoft.com/office/drawing/2012/chartStyle" xmlns:a="http://schemas.openxmlformats.org/drawingml/2006/main" meth="withinLinearReversed" id="22">
  <a:schemeClr val="accent2"/>
</cs:colorStyle>
</file>

<file path=ppt/charts/colors3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5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6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7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9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10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11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10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1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3100B799-A480-F9D2-40E4-235ADBC68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:notes">
            <a:extLst>
              <a:ext uri="{FF2B5EF4-FFF2-40B4-BE49-F238E27FC236}">
                <a16:creationId xmlns:a16="http://schemas.microsoft.com/office/drawing/2014/main" id="{1E40EF59-AFF4-D21F-A82B-3E526A9C42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57" name="Google Shape;157;p:notes">
            <a:extLst>
              <a:ext uri="{FF2B5EF4-FFF2-40B4-BE49-F238E27FC236}">
                <a16:creationId xmlns:a16="http://schemas.microsoft.com/office/drawing/2014/main" id="{F706B6CA-A3B7-4C43-1A7F-6FAF846E2E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286681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>
          <a:extLst>
            <a:ext uri="{FF2B5EF4-FFF2-40B4-BE49-F238E27FC236}">
              <a16:creationId xmlns:a16="http://schemas.microsoft.com/office/drawing/2014/main" id="{B5BA5E3C-394D-B244-8A92-A33B7A30C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94e9ec5677_0_60:notes">
            <a:extLst>
              <a:ext uri="{FF2B5EF4-FFF2-40B4-BE49-F238E27FC236}">
                <a16:creationId xmlns:a16="http://schemas.microsoft.com/office/drawing/2014/main" id="{C75E021F-A601-B527-BD4D-D669A09E78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20" name="Google Shape;220;g94e9ec5677_0_60:notes">
            <a:extLst>
              <a:ext uri="{FF2B5EF4-FFF2-40B4-BE49-F238E27FC236}">
                <a16:creationId xmlns:a16="http://schemas.microsoft.com/office/drawing/2014/main" id="{05F78BC7-6E65-5E71-8AE2-456AC20131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82084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>
          <a:extLst>
            <a:ext uri="{FF2B5EF4-FFF2-40B4-BE49-F238E27FC236}">
              <a16:creationId xmlns:a16="http://schemas.microsoft.com/office/drawing/2014/main" id="{72CAFA32-2273-62B4-E6B5-8E05D303D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94e9ec5677_0_60:notes">
            <a:extLst>
              <a:ext uri="{FF2B5EF4-FFF2-40B4-BE49-F238E27FC236}">
                <a16:creationId xmlns:a16="http://schemas.microsoft.com/office/drawing/2014/main" id="{1A58EB27-D932-96E3-0D50-7130FFA6A0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20" name="Google Shape;220;g94e9ec5677_0_60:notes">
            <a:extLst>
              <a:ext uri="{FF2B5EF4-FFF2-40B4-BE49-F238E27FC236}">
                <a16:creationId xmlns:a16="http://schemas.microsoft.com/office/drawing/2014/main" id="{1521501D-E278-464A-9F62-1EA925C5D1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84817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932104ddb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49" name="Google Shape;249;g932104ddb9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962410c214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70" name="Google Shape;270;g962410c214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To</a:t>
            </a:r>
            <a:r>
              <a:rPr lang="en-US" baseline="0" dirty="0"/>
              <a:t> fill graph please right-click the graph and select edit data. Please follow the template carefully</a:t>
            </a:r>
          </a:p>
          <a:p>
            <a:pPr defTabSz="913211">
              <a:defRPr/>
            </a:pPr>
            <a:r>
              <a:rPr lang="en-US" baseline="0" dirty="0"/>
              <a:t>Please fill based on available data only, just keep it as it is for unavailable data</a:t>
            </a: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93ee93297a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86" name="Google Shape;286;g93ee93297a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65292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>
          <a:extLst>
            <a:ext uri="{FF2B5EF4-FFF2-40B4-BE49-F238E27FC236}">
              <a16:creationId xmlns:a16="http://schemas.microsoft.com/office/drawing/2014/main" id="{4C78F7A1-A872-657F-7E91-4C1E12180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932104ddb9_0_8:notes">
            <a:extLst>
              <a:ext uri="{FF2B5EF4-FFF2-40B4-BE49-F238E27FC236}">
                <a16:creationId xmlns:a16="http://schemas.microsoft.com/office/drawing/2014/main" id="{72E75879-B651-C0FB-2D46-2A61FC02C2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49" name="Google Shape;249;g932104ddb9_0_8:notes">
            <a:extLst>
              <a:ext uri="{FF2B5EF4-FFF2-40B4-BE49-F238E27FC236}">
                <a16:creationId xmlns:a16="http://schemas.microsoft.com/office/drawing/2014/main" id="{EBAE59F3-1748-0D8D-5C04-EE8A0D10CA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10549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93ee93297a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86" name="Google Shape;286;g93ee93297a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788857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93ee93297a_0_245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91" name="Google Shape;391;g93ee93297a_0_245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>
          <a:extLst>
            <a:ext uri="{FF2B5EF4-FFF2-40B4-BE49-F238E27FC236}">
              <a16:creationId xmlns:a16="http://schemas.microsoft.com/office/drawing/2014/main" id="{A900F145-0361-0430-8D02-591C1663E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93ee93297a_0_24596:notes">
            <a:extLst>
              <a:ext uri="{FF2B5EF4-FFF2-40B4-BE49-F238E27FC236}">
                <a16:creationId xmlns:a16="http://schemas.microsoft.com/office/drawing/2014/main" id="{7084F365-283A-56F7-F0AB-3BEFF89B4B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91" name="Google Shape;391;g93ee93297a_0_24596:notes">
            <a:extLst>
              <a:ext uri="{FF2B5EF4-FFF2-40B4-BE49-F238E27FC236}">
                <a16:creationId xmlns:a16="http://schemas.microsoft.com/office/drawing/2014/main" id="{C90EA57C-5F3D-C857-62E5-E6749ADD28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54673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>
          <a:extLst>
            <a:ext uri="{FF2B5EF4-FFF2-40B4-BE49-F238E27FC236}">
              <a16:creationId xmlns:a16="http://schemas.microsoft.com/office/drawing/2014/main" id="{ED722E08-275E-98B0-5A9E-F022994C6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932104ddb9_0_8:notes">
            <a:extLst>
              <a:ext uri="{FF2B5EF4-FFF2-40B4-BE49-F238E27FC236}">
                <a16:creationId xmlns:a16="http://schemas.microsoft.com/office/drawing/2014/main" id="{941F00B0-2AF0-B15A-7E27-E28540BB74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49" name="Google Shape;249;g932104ddb9_0_8:notes">
            <a:extLst>
              <a:ext uri="{FF2B5EF4-FFF2-40B4-BE49-F238E27FC236}">
                <a16:creationId xmlns:a16="http://schemas.microsoft.com/office/drawing/2014/main" id="{E43AFD8C-D474-39A8-0544-73F51C72A5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311172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93ee93297a_0_247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48" name="Google Shape;448;g93ee93297a_0_247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>
          <a:extLst>
            <a:ext uri="{FF2B5EF4-FFF2-40B4-BE49-F238E27FC236}">
              <a16:creationId xmlns:a16="http://schemas.microsoft.com/office/drawing/2014/main" id="{82806952-5038-8245-D801-224638304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932104ddb9_0_8:notes">
            <a:extLst>
              <a:ext uri="{FF2B5EF4-FFF2-40B4-BE49-F238E27FC236}">
                <a16:creationId xmlns:a16="http://schemas.microsoft.com/office/drawing/2014/main" id="{E118FB1B-E4F1-1B7C-E91F-8A5B4CC44A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49" name="Google Shape;249;g932104ddb9_0_8:notes">
            <a:extLst>
              <a:ext uri="{FF2B5EF4-FFF2-40B4-BE49-F238E27FC236}">
                <a16:creationId xmlns:a16="http://schemas.microsoft.com/office/drawing/2014/main" id="{DCDF9530-4C51-0759-92E8-ADDCD8911D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87853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93ee93297a_0_247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63" name="Google Shape;463;g93ee93297a_0_247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>
          <a:extLst>
            <a:ext uri="{FF2B5EF4-FFF2-40B4-BE49-F238E27FC236}">
              <a16:creationId xmlns:a16="http://schemas.microsoft.com/office/drawing/2014/main" id="{AD2F6F9F-FC81-36CB-4570-6BDB89DF8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932104ddb9_0_8:notes">
            <a:extLst>
              <a:ext uri="{FF2B5EF4-FFF2-40B4-BE49-F238E27FC236}">
                <a16:creationId xmlns:a16="http://schemas.microsoft.com/office/drawing/2014/main" id="{3AD2DC82-B70E-5BE9-47BF-635A23C50C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49" name="Google Shape;249;g932104ddb9_0_8:notes">
            <a:extLst>
              <a:ext uri="{FF2B5EF4-FFF2-40B4-BE49-F238E27FC236}">
                <a16:creationId xmlns:a16="http://schemas.microsoft.com/office/drawing/2014/main" id="{A654F7F3-A0DE-4331-50C0-44CFA776E2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34819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1">
          <a:extLst>
            <a:ext uri="{FF2B5EF4-FFF2-40B4-BE49-F238E27FC236}">
              <a16:creationId xmlns:a16="http://schemas.microsoft.com/office/drawing/2014/main" id="{629E5CD9-C6AE-BFD1-032C-F3781CA28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9700d4d0ec_0_0:notes">
            <a:extLst>
              <a:ext uri="{FF2B5EF4-FFF2-40B4-BE49-F238E27FC236}">
                <a16:creationId xmlns:a16="http://schemas.microsoft.com/office/drawing/2014/main" id="{B505A1C9-01B1-51DF-0DDC-0FFAAF5434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63" name="Google Shape;663;g9700d4d0ec_0_0:notes">
            <a:extLst>
              <a:ext uri="{FF2B5EF4-FFF2-40B4-BE49-F238E27FC236}">
                <a16:creationId xmlns:a16="http://schemas.microsoft.com/office/drawing/2014/main" id="{441B1A66-4006-9F9B-DB0F-CE1E89E271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633049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>
          <a:extLst>
            <a:ext uri="{FF2B5EF4-FFF2-40B4-BE49-F238E27FC236}">
              <a16:creationId xmlns:a16="http://schemas.microsoft.com/office/drawing/2014/main" id="{EB1BEFFE-6AC9-A394-4A61-B9E4E2C9D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93ee93297a_0_24596:notes">
            <a:extLst>
              <a:ext uri="{FF2B5EF4-FFF2-40B4-BE49-F238E27FC236}">
                <a16:creationId xmlns:a16="http://schemas.microsoft.com/office/drawing/2014/main" id="{E8DA0B26-33E8-4F8F-C06B-D898A2D42C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91" name="Google Shape;391;g93ee93297a_0_24596:notes">
            <a:extLst>
              <a:ext uri="{FF2B5EF4-FFF2-40B4-BE49-F238E27FC236}">
                <a16:creationId xmlns:a16="http://schemas.microsoft.com/office/drawing/2014/main" id="{DB4BA7DB-FB71-99A3-C918-749D39F9A3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85473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>
          <a:extLst>
            <a:ext uri="{FF2B5EF4-FFF2-40B4-BE49-F238E27FC236}">
              <a16:creationId xmlns:a16="http://schemas.microsoft.com/office/drawing/2014/main" id="{B486CBF9-3B43-1549-0FD5-D1963F194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932104ddb9_0_8:notes">
            <a:extLst>
              <a:ext uri="{FF2B5EF4-FFF2-40B4-BE49-F238E27FC236}">
                <a16:creationId xmlns:a16="http://schemas.microsoft.com/office/drawing/2014/main" id="{6A7FB29B-7140-3211-E15E-D4D4C393AC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49" name="Google Shape;249;g932104ddb9_0_8:notes">
            <a:extLst>
              <a:ext uri="{FF2B5EF4-FFF2-40B4-BE49-F238E27FC236}">
                <a16:creationId xmlns:a16="http://schemas.microsoft.com/office/drawing/2014/main" id="{2CED6A80-CEC7-31F7-F742-631B864502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30897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1">
          <a:extLst>
            <a:ext uri="{FF2B5EF4-FFF2-40B4-BE49-F238E27FC236}">
              <a16:creationId xmlns:a16="http://schemas.microsoft.com/office/drawing/2014/main" id="{E2A37AC7-4DAC-571D-FCEA-120F88B7D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9700d4d0ec_0_0:notes">
            <a:extLst>
              <a:ext uri="{FF2B5EF4-FFF2-40B4-BE49-F238E27FC236}">
                <a16:creationId xmlns:a16="http://schemas.microsoft.com/office/drawing/2014/main" id="{7CA457B6-F156-5D27-1F93-D398A7051E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63" name="Google Shape;663;g9700d4d0ec_0_0:notes">
            <a:extLst>
              <a:ext uri="{FF2B5EF4-FFF2-40B4-BE49-F238E27FC236}">
                <a16:creationId xmlns:a16="http://schemas.microsoft.com/office/drawing/2014/main" id="{0D3FDF0C-FCAB-78A6-37B6-48383070C0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38300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>
          <a:extLst>
            <a:ext uri="{FF2B5EF4-FFF2-40B4-BE49-F238E27FC236}">
              <a16:creationId xmlns:a16="http://schemas.microsoft.com/office/drawing/2014/main" id="{CDCB1A0C-2579-068F-3392-01854EAE6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932104ddb9_0_8:notes">
            <a:extLst>
              <a:ext uri="{FF2B5EF4-FFF2-40B4-BE49-F238E27FC236}">
                <a16:creationId xmlns:a16="http://schemas.microsoft.com/office/drawing/2014/main" id="{75747D92-CC06-FAD9-5A62-72C9DD2C10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49" name="Google Shape;249;g932104ddb9_0_8:notes">
            <a:extLst>
              <a:ext uri="{FF2B5EF4-FFF2-40B4-BE49-F238E27FC236}">
                <a16:creationId xmlns:a16="http://schemas.microsoft.com/office/drawing/2014/main" id="{39A361BD-3508-4DB6-9D99-CC636710E5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477052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g941c1bb743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60" name="Google Shape;860;g941c1bb743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932104ddb9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937" name="Google Shape;937;g932104ddb9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6.xml"/><Relationship Id="rId2" Type="http://schemas.openxmlformats.org/officeDocument/2006/relationships/slide" Target="../slides/slide4.xml"/><Relationship Id="rId1" Type="http://schemas.openxmlformats.org/officeDocument/2006/relationships/slideMaster" Target="../slideMasters/slideMaster1.xml"/><Relationship Id="rId4" Type="http://schemas.openxmlformats.org/officeDocument/2006/relationships/slide" Target="../slides/slide2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aticon.com/" TargetMode="External"/><Relationship Id="rId2" Type="http://schemas.openxmlformats.org/officeDocument/2006/relationships/hyperlink" Target="https://slidesgo.com/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freepik.com/" TargetMode="Externa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884750" y="987975"/>
            <a:ext cx="4546200" cy="25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884875" y="3455700"/>
            <a:ext cx="4546200" cy="42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5102076" y="4669125"/>
            <a:ext cx="1157700" cy="1157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12" name="Google Shape;12;p2"/>
          <p:cNvSpPr/>
          <p:nvPr/>
        </p:nvSpPr>
        <p:spPr>
          <a:xfrm>
            <a:off x="1920850" y="234100"/>
            <a:ext cx="610800" cy="610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13" name="Google Shape;13;p2"/>
          <p:cNvSpPr/>
          <p:nvPr/>
        </p:nvSpPr>
        <p:spPr>
          <a:xfrm>
            <a:off x="3484250" y="4604000"/>
            <a:ext cx="357600" cy="357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14" name="Google Shape;14;p2"/>
          <p:cNvSpPr/>
          <p:nvPr/>
        </p:nvSpPr>
        <p:spPr>
          <a:xfrm>
            <a:off x="8125375" y="234100"/>
            <a:ext cx="610800" cy="6108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3731172" y="1943338"/>
            <a:ext cx="4699500" cy="75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2" hasCustomPrompt="1"/>
          </p:nvPr>
        </p:nvSpPr>
        <p:spPr>
          <a:xfrm>
            <a:off x="3731050" y="636125"/>
            <a:ext cx="4699800" cy="14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0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1999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1999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1999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1999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1999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1999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1999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1999"/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3731150" y="3219775"/>
            <a:ext cx="4699500" cy="808800"/>
          </a:xfrm>
          <a:prstGeom prst="rect">
            <a:avLst/>
          </a:prstGeom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3"/>
          </p:nvPr>
        </p:nvSpPr>
        <p:spPr>
          <a:xfrm>
            <a:off x="3731150" y="2774950"/>
            <a:ext cx="4699500" cy="36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type="titleOnly">
  <p:cSld name="TITLE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/>
          <p:nvPr/>
        </p:nvSpPr>
        <p:spPr>
          <a:xfrm>
            <a:off x="8740752" y="4072000"/>
            <a:ext cx="291600" cy="291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36" name="Google Shape;36;p6"/>
          <p:cNvSpPr/>
          <p:nvPr/>
        </p:nvSpPr>
        <p:spPr>
          <a:xfrm>
            <a:off x="4065077" y="60275"/>
            <a:ext cx="429900" cy="4299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37" name="Google Shape;37;p6"/>
          <p:cNvSpPr/>
          <p:nvPr/>
        </p:nvSpPr>
        <p:spPr>
          <a:xfrm>
            <a:off x="103751" y="2539350"/>
            <a:ext cx="291600" cy="291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title and description">
  <p:cSld name="SECTION_TITLE_AND_DESCRIPTION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185" lvl="0" indent="-330189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370" lvl="1" indent="-330189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554" lvl="2" indent="-330189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739" lvl="3" indent="-330189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5924" lvl="4" indent="-330189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108" lvl="5" indent="-330189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293" lvl="6" indent="-330189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478" lvl="7" indent="-330189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663" lvl="8" indent="-330189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185" lvl="0" indent="-22859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ig number">
  <p:cSld name="BIG_NUMBER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1999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1999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1999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1999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1999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1999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1999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1999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1999"/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185" lvl="0" indent="-330189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370" lvl="1" indent="-330189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554" lvl="2" indent="-330189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739" lvl="3" indent="-330189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5924" lvl="4" indent="-330189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108" lvl="5" indent="-330189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293" lvl="6" indent="-330189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478" lvl="7" indent="-330189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663" lvl="8" indent="-330189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able of Contents">
  <p:cSld name="CUSTOM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3">
            <a:hlinkClick r:id="rId2" action="ppaction://hlinksldjump"/>
          </p:cNvPr>
          <p:cNvSpPr txBox="1">
            <a:spLocks noGrp="1"/>
          </p:cNvSpPr>
          <p:nvPr>
            <p:ph type="title" idx="2" hasCustomPrompt="1"/>
          </p:nvPr>
        </p:nvSpPr>
        <p:spPr>
          <a:xfrm>
            <a:off x="713225" y="1787250"/>
            <a:ext cx="923400" cy="96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61" name="Google Shape;61;p13">
            <a:hlinkClick r:id="rId2" action="ppaction://hlinksldjump"/>
          </p:cNvPr>
          <p:cNvSpPr txBox="1">
            <a:spLocks noGrp="1"/>
          </p:cNvSpPr>
          <p:nvPr>
            <p:ph type="title" idx="3"/>
          </p:nvPr>
        </p:nvSpPr>
        <p:spPr>
          <a:xfrm>
            <a:off x="1636587" y="1787250"/>
            <a:ext cx="1684500" cy="43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>
            <a:hlinkClick r:id="rId2" action="ppaction://hlinksldjump"/>
          </p:cNvPr>
          <p:cNvSpPr txBox="1">
            <a:spLocks noGrp="1"/>
          </p:cNvSpPr>
          <p:nvPr>
            <p:ph type="subTitle" idx="1"/>
          </p:nvPr>
        </p:nvSpPr>
        <p:spPr>
          <a:xfrm>
            <a:off x="1636578" y="2062667"/>
            <a:ext cx="1684500" cy="68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title" idx="4" hasCustomPrompt="1"/>
          </p:nvPr>
        </p:nvSpPr>
        <p:spPr>
          <a:xfrm>
            <a:off x="713225" y="3629725"/>
            <a:ext cx="923400" cy="96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64" name="Google Shape;64;p13"/>
          <p:cNvSpPr txBox="1">
            <a:spLocks noGrp="1"/>
          </p:cNvSpPr>
          <p:nvPr>
            <p:ph type="title" idx="5"/>
          </p:nvPr>
        </p:nvSpPr>
        <p:spPr>
          <a:xfrm>
            <a:off x="1636587" y="3629627"/>
            <a:ext cx="1684500" cy="43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subTitle" idx="6"/>
          </p:nvPr>
        </p:nvSpPr>
        <p:spPr>
          <a:xfrm>
            <a:off x="1636578" y="3905175"/>
            <a:ext cx="1684500" cy="68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>
            <a:hlinkClick r:id="rId3" action="ppaction://hlinksldjump"/>
          </p:cNvPr>
          <p:cNvSpPr txBox="1">
            <a:spLocks noGrp="1"/>
          </p:cNvSpPr>
          <p:nvPr>
            <p:ph type="title" idx="7" hasCustomPrompt="1"/>
          </p:nvPr>
        </p:nvSpPr>
        <p:spPr>
          <a:xfrm>
            <a:off x="3321175" y="1787250"/>
            <a:ext cx="923400" cy="96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67" name="Google Shape;67;p13">
            <a:hlinkClick r:id="rId3" action="ppaction://hlinksldjump"/>
          </p:cNvPr>
          <p:cNvSpPr txBox="1">
            <a:spLocks noGrp="1"/>
          </p:cNvSpPr>
          <p:nvPr>
            <p:ph type="title" idx="8"/>
          </p:nvPr>
        </p:nvSpPr>
        <p:spPr>
          <a:xfrm>
            <a:off x="4244529" y="1787250"/>
            <a:ext cx="1684500" cy="43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3">
            <a:hlinkClick r:id="rId3" action="ppaction://hlinksldjump"/>
          </p:cNvPr>
          <p:cNvSpPr txBox="1">
            <a:spLocks noGrp="1"/>
          </p:cNvSpPr>
          <p:nvPr>
            <p:ph type="subTitle" idx="9"/>
          </p:nvPr>
        </p:nvSpPr>
        <p:spPr>
          <a:xfrm>
            <a:off x="4244528" y="2062667"/>
            <a:ext cx="1684500" cy="68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title" idx="13" hasCustomPrompt="1"/>
          </p:nvPr>
        </p:nvSpPr>
        <p:spPr>
          <a:xfrm>
            <a:off x="3321175" y="3629725"/>
            <a:ext cx="923400" cy="96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70" name="Google Shape;70;p13"/>
          <p:cNvSpPr txBox="1">
            <a:spLocks noGrp="1"/>
          </p:cNvSpPr>
          <p:nvPr>
            <p:ph type="title" idx="14"/>
          </p:nvPr>
        </p:nvSpPr>
        <p:spPr>
          <a:xfrm>
            <a:off x="4244529" y="3629627"/>
            <a:ext cx="1684500" cy="43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subTitle" idx="15"/>
          </p:nvPr>
        </p:nvSpPr>
        <p:spPr>
          <a:xfrm>
            <a:off x="4244528" y="3905175"/>
            <a:ext cx="1684500" cy="68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3">
            <a:hlinkClick r:id="rId4" action="ppaction://hlinksldjump"/>
          </p:cNvPr>
          <p:cNvSpPr txBox="1">
            <a:spLocks noGrp="1"/>
          </p:cNvSpPr>
          <p:nvPr>
            <p:ph type="title" idx="16" hasCustomPrompt="1"/>
          </p:nvPr>
        </p:nvSpPr>
        <p:spPr>
          <a:xfrm>
            <a:off x="5929125" y="1787250"/>
            <a:ext cx="923400" cy="96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73" name="Google Shape;73;p13">
            <a:hlinkClick r:id="rId4" action="ppaction://hlinksldjump"/>
          </p:cNvPr>
          <p:cNvSpPr txBox="1">
            <a:spLocks noGrp="1"/>
          </p:cNvSpPr>
          <p:nvPr>
            <p:ph type="title" idx="17"/>
          </p:nvPr>
        </p:nvSpPr>
        <p:spPr>
          <a:xfrm>
            <a:off x="6852452" y="1787250"/>
            <a:ext cx="1684500" cy="43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3">
            <a:hlinkClick r:id="rId4" action="ppaction://hlinksldjump"/>
          </p:cNvPr>
          <p:cNvSpPr txBox="1">
            <a:spLocks noGrp="1"/>
          </p:cNvSpPr>
          <p:nvPr>
            <p:ph type="subTitle" idx="18"/>
          </p:nvPr>
        </p:nvSpPr>
        <p:spPr>
          <a:xfrm>
            <a:off x="6852458" y="2062667"/>
            <a:ext cx="1684500" cy="68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title" idx="19" hasCustomPrompt="1"/>
          </p:nvPr>
        </p:nvSpPr>
        <p:spPr>
          <a:xfrm>
            <a:off x="5929125" y="3629725"/>
            <a:ext cx="923400" cy="96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76" name="Google Shape;76;p13"/>
          <p:cNvSpPr txBox="1">
            <a:spLocks noGrp="1"/>
          </p:cNvSpPr>
          <p:nvPr>
            <p:ph type="title" idx="20"/>
          </p:nvPr>
        </p:nvSpPr>
        <p:spPr>
          <a:xfrm>
            <a:off x="6852452" y="3629627"/>
            <a:ext cx="1684500" cy="43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21"/>
          </p:nvPr>
        </p:nvSpPr>
        <p:spPr>
          <a:xfrm>
            <a:off x="6852458" y="3905175"/>
            <a:ext cx="1684500" cy="68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s">
  <p:cSld name="CUSTOM_1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>
            <a:spLocks noGrp="1"/>
          </p:cNvSpPr>
          <p:nvPr>
            <p:ph type="title"/>
          </p:nvPr>
        </p:nvSpPr>
        <p:spPr>
          <a:xfrm flipH="1">
            <a:off x="1538827" y="1324175"/>
            <a:ext cx="3502500" cy="9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80" name="Google Shape;80;p14"/>
          <p:cNvSpPr txBox="1">
            <a:spLocks noGrp="1"/>
          </p:cNvSpPr>
          <p:nvPr>
            <p:ph type="subTitle" idx="1"/>
          </p:nvPr>
        </p:nvSpPr>
        <p:spPr>
          <a:xfrm flipH="1">
            <a:off x="1538827" y="2131875"/>
            <a:ext cx="3502500" cy="128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4"/>
          <p:cNvSpPr txBox="1"/>
          <p:nvPr/>
        </p:nvSpPr>
        <p:spPr>
          <a:xfrm flipH="1">
            <a:off x="1538825" y="3416175"/>
            <a:ext cx="3502500" cy="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CREDITS</a:t>
            </a:r>
            <a:r>
              <a:rPr lang="en" sz="12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: This presentation template was created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Palanquin"/>
                <a:ea typeface="Palanquin"/>
                <a:cs typeface="Palanquin"/>
                <a:sym typeface="Palanquin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 b="1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,</a:t>
            </a:r>
            <a:r>
              <a:rPr lang="en" sz="12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 including icons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Palanquin"/>
                <a:ea typeface="Palanquin"/>
                <a:cs typeface="Palanquin"/>
                <a:sym typeface="Palanqui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 and infographics &amp; images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Palanquin"/>
                <a:ea typeface="Palanquin"/>
                <a:cs typeface="Palanquin"/>
                <a:sym typeface="Palanquin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.</a:t>
            </a:r>
            <a:endParaRPr sz="1200"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 2">
  <p:cSld name="CUSTOM_4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2"/>
          <p:cNvSpPr/>
          <p:nvPr/>
        </p:nvSpPr>
        <p:spPr>
          <a:xfrm>
            <a:off x="8482677" y="2888050"/>
            <a:ext cx="456300" cy="456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130" name="Google Shape;130;p22"/>
          <p:cNvSpPr/>
          <p:nvPr/>
        </p:nvSpPr>
        <p:spPr>
          <a:xfrm>
            <a:off x="114676" y="2086400"/>
            <a:ext cx="418800" cy="4188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131" name="Google Shape;131;p22"/>
          <p:cNvSpPr/>
          <p:nvPr/>
        </p:nvSpPr>
        <p:spPr>
          <a:xfrm>
            <a:off x="7489827" y="173500"/>
            <a:ext cx="418800" cy="41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ackground">
  <p:cSld name="CUSTOM_5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ackground 2">
  <p:cSld name="CUSTOM_5_1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/>
          <p:nvPr/>
        </p:nvSpPr>
        <p:spPr>
          <a:xfrm>
            <a:off x="8524152" y="1232025"/>
            <a:ext cx="1088100" cy="108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140" name="Google Shape;140;p25"/>
          <p:cNvSpPr/>
          <p:nvPr/>
        </p:nvSpPr>
        <p:spPr>
          <a:xfrm>
            <a:off x="-431825" y="3851325"/>
            <a:ext cx="1088100" cy="10878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141" name="Google Shape;141;p25"/>
          <p:cNvSpPr/>
          <p:nvPr/>
        </p:nvSpPr>
        <p:spPr>
          <a:xfrm>
            <a:off x="1363552" y="84175"/>
            <a:ext cx="418800" cy="41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ackground 3">
  <p:cSld name="CUSTOM_5_1_1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/>
          <p:nvPr/>
        </p:nvSpPr>
        <p:spPr>
          <a:xfrm>
            <a:off x="676952" y="151150"/>
            <a:ext cx="776700" cy="776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144" name="Google Shape;144;p26"/>
          <p:cNvSpPr/>
          <p:nvPr/>
        </p:nvSpPr>
        <p:spPr>
          <a:xfrm>
            <a:off x="2390225" y="4293125"/>
            <a:ext cx="1601700" cy="16020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145" name="Google Shape;145;p26"/>
          <p:cNvSpPr/>
          <p:nvPr/>
        </p:nvSpPr>
        <p:spPr>
          <a:xfrm>
            <a:off x="8030725" y="1257250"/>
            <a:ext cx="912000" cy="912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ackground 4">
  <p:cSld name="CUSTOM_5_1_1_1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/>
          <p:nvPr/>
        </p:nvSpPr>
        <p:spPr>
          <a:xfrm>
            <a:off x="7539900" y="3535550"/>
            <a:ext cx="965700" cy="965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148" name="Google Shape;148;p27"/>
          <p:cNvSpPr/>
          <p:nvPr/>
        </p:nvSpPr>
        <p:spPr>
          <a:xfrm>
            <a:off x="6274125" y="-381700"/>
            <a:ext cx="1647600" cy="1647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149" name="Google Shape;149;p27"/>
          <p:cNvSpPr/>
          <p:nvPr/>
        </p:nvSpPr>
        <p:spPr>
          <a:xfrm>
            <a:off x="-223100" y="3504650"/>
            <a:ext cx="1463100" cy="1463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150" name="Google Shape;150;p27"/>
          <p:cNvSpPr/>
          <p:nvPr/>
        </p:nvSpPr>
        <p:spPr>
          <a:xfrm>
            <a:off x="592125" y="328975"/>
            <a:ext cx="609900" cy="609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97B18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1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78425"/>
            <a:ext cx="7717500" cy="34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alanquin"/>
              <a:buChar char="●"/>
              <a:defRPr sz="16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alanquin"/>
              <a:buChar char="○"/>
              <a:defRPr sz="16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2pPr>
            <a:lvl3pPr marL="1371600" lvl="2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alanquin"/>
              <a:buChar char="■"/>
              <a:defRPr sz="16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3pPr>
            <a:lvl4pPr marL="1828800" lvl="3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alanquin"/>
              <a:buChar char="●"/>
              <a:defRPr sz="16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4pPr>
            <a:lvl5pPr marL="2286000" lvl="4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alanquin"/>
              <a:buChar char="○"/>
              <a:defRPr sz="16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5pPr>
            <a:lvl6pPr marL="2743200" lvl="5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alanquin"/>
              <a:buChar char="■"/>
              <a:defRPr sz="16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6pPr>
            <a:lvl7pPr marL="3200400" lvl="6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alanquin"/>
              <a:buChar char="●"/>
              <a:defRPr sz="16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7pPr>
            <a:lvl8pPr marL="3657600" lvl="7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alanquin"/>
              <a:buChar char="○"/>
              <a:defRPr sz="16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8pPr>
            <a:lvl9pPr marL="4114800" lvl="8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alanquin"/>
              <a:buChar char="■"/>
              <a:defRPr sz="16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8" r:id="rId10"/>
    <p:sldLayoutId id="2147483670" r:id="rId11"/>
    <p:sldLayoutId id="2147483671" r:id="rId12"/>
    <p:sldLayoutId id="2147483672" r:id="rId13"/>
    <p:sldLayoutId id="2147483673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slide" Target="slide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.png"/><Relationship Id="rId5" Type="http://schemas.openxmlformats.org/officeDocument/2006/relationships/slide" Target="slide8.xml"/><Relationship Id="rId4" Type="http://schemas.openxmlformats.org/officeDocument/2006/relationships/slide" Target="slide2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chart" Target="../charts/char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.png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.png"/><Relationship Id="rId5" Type="http://schemas.openxmlformats.org/officeDocument/2006/relationships/chart" Target="../charts/chart10.xml"/><Relationship Id="rId4" Type="http://schemas.openxmlformats.org/officeDocument/2006/relationships/chart" Target="../charts/char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.png"/><Relationship Id="rId4" Type="http://schemas.openxmlformats.org/officeDocument/2006/relationships/chart" Target="../charts/char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6" Type="http://schemas.openxmlformats.org/officeDocument/2006/relationships/chart" Target="../charts/chart15.xml"/><Relationship Id="rId5" Type="http://schemas.openxmlformats.org/officeDocument/2006/relationships/chart" Target="../charts/chart14.xml"/><Relationship Id="rId4" Type="http://schemas.openxmlformats.org/officeDocument/2006/relationships/chart" Target="../charts/char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.png"/><Relationship Id="rId4" Type="http://schemas.openxmlformats.org/officeDocument/2006/relationships/chart" Target="../charts/chart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Relationship Id="rId5" Type="http://schemas.openxmlformats.org/officeDocument/2006/relationships/slide" Target="slide4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Shape 158">
          <a:extLst>
            <a:ext uri="{FF2B5EF4-FFF2-40B4-BE49-F238E27FC236}">
              <a16:creationId xmlns:a16="http://schemas.microsoft.com/office/drawing/2014/main" id="{7A7B6167-B72B-1000-B016-32FD90806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holding a small plant&#10;&#10;AI-generated content may be incorrect.">
            <a:extLst>
              <a:ext uri="{FF2B5EF4-FFF2-40B4-BE49-F238E27FC236}">
                <a16:creationId xmlns:a16="http://schemas.microsoft.com/office/drawing/2014/main" id="{B05A2966-623D-DC63-4792-F3A9FF9546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997" t="5297" r="1" b="13702"/>
          <a:stretch>
            <a:fillRect/>
          </a:stretch>
        </p:blipFill>
        <p:spPr>
          <a:xfrm flipH="1">
            <a:off x="353133" y="0"/>
            <a:ext cx="8790866" cy="5143500"/>
          </a:xfrm>
          <a:prstGeom prst="rect">
            <a:avLst/>
          </a:prstGeom>
        </p:spPr>
      </p:pic>
      <p:sp>
        <p:nvSpPr>
          <p:cNvPr id="189" name="Google Shape;189;p30">
            <a:hlinkClick r:id="rId4" action="ppaction://hlinksldjump"/>
            <a:extLst>
              <a:ext uri="{FF2B5EF4-FFF2-40B4-BE49-F238E27FC236}">
                <a16:creationId xmlns:a16="http://schemas.microsoft.com/office/drawing/2014/main" id="{C82021A1-976F-3034-6CCB-C976B38BCFB8}"/>
              </a:ext>
            </a:extLst>
          </p:cNvPr>
          <p:cNvSpPr txBox="1"/>
          <p:nvPr/>
        </p:nvSpPr>
        <p:spPr>
          <a:xfrm>
            <a:off x="5820097" y="488349"/>
            <a:ext cx="2990779" cy="524100"/>
          </a:xfrm>
          <a:prstGeom prst="rect">
            <a:avLst/>
          </a:prstGeom>
          <a:solidFill>
            <a:srgbClr val="F1E81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ID" sz="25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Signika"/>
                <a:cs typeface="Arial" panose="020B0604020202020204" pitchFamily="34" charset="0"/>
                <a:sym typeface="Signika"/>
              </a:rPr>
              <a:t>Branch</a:t>
            </a:r>
            <a:r>
              <a:rPr lang="en" sz="30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Signika"/>
                <a:cs typeface="Arial" panose="020B0604020202020204" pitchFamily="34" charset="0"/>
                <a:sym typeface="Signika"/>
              </a:rPr>
              <a:t> / </a:t>
            </a:r>
            <a:r>
              <a:rPr lang="en" sz="25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Signika"/>
                <a:cs typeface="Arial" panose="020B0604020202020204" pitchFamily="34" charset="0"/>
                <a:sym typeface="Signika"/>
              </a:rPr>
              <a:t>Division</a:t>
            </a:r>
            <a:endParaRPr sz="25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Signika"/>
              <a:cs typeface="Arial" panose="020B0604020202020204" pitchFamily="34" charset="0"/>
              <a:sym typeface="Signika"/>
            </a:endParaRPr>
          </a:p>
        </p:txBody>
      </p:sp>
      <p:sp>
        <p:nvSpPr>
          <p:cNvPr id="2" name="Google Shape;231;g3694320abce_0_0">
            <a:extLst>
              <a:ext uri="{FF2B5EF4-FFF2-40B4-BE49-F238E27FC236}">
                <a16:creationId xmlns:a16="http://schemas.microsoft.com/office/drawing/2014/main" id="{2BD6DECD-E2E2-F334-4F36-F93D70D06EB0}"/>
              </a:ext>
            </a:extLst>
          </p:cNvPr>
          <p:cNvSpPr/>
          <p:nvPr/>
        </p:nvSpPr>
        <p:spPr>
          <a:xfrm rot="5400000">
            <a:off x="-2395181" y="2395181"/>
            <a:ext cx="5143500" cy="353138"/>
          </a:xfrm>
          <a:prstGeom prst="rect">
            <a:avLst/>
          </a:prstGeom>
          <a:gradFill>
            <a:gsLst>
              <a:gs pos="0">
                <a:srgbClr val="9FA032"/>
              </a:gs>
              <a:gs pos="100000">
                <a:srgbClr val="F0E71A"/>
              </a:gs>
            </a:gsLst>
            <a:lin ang="5400000" scaled="1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2000">
              <a:solidFill>
                <a:schemeClr val="lt1"/>
              </a:solidFill>
            </a:endParaRPr>
          </a:p>
        </p:txBody>
      </p:sp>
      <p:pic>
        <p:nvPicPr>
          <p:cNvPr id="3" name="Picture 2" descr="A black and white logo&#10;&#10;AI-generated content may be incorrect.">
            <a:extLst>
              <a:ext uri="{FF2B5EF4-FFF2-40B4-BE49-F238E27FC236}">
                <a16:creationId xmlns:a16="http://schemas.microsoft.com/office/drawing/2014/main" id="{C4D852A3-900A-7039-882F-F103EB6702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137" y="443953"/>
            <a:ext cx="1890363" cy="612892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F7D2B5A8-EE8E-29C2-027B-088CDA467A17}"/>
              </a:ext>
            </a:extLst>
          </p:cNvPr>
          <p:cNvSpPr txBox="1">
            <a:spLocks/>
          </p:cNvSpPr>
          <p:nvPr/>
        </p:nvSpPr>
        <p:spPr>
          <a:xfrm>
            <a:off x="586728" y="1278193"/>
            <a:ext cx="4761245" cy="1821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1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9pPr>
          </a:lstStyle>
          <a:p>
            <a:pPr algn="l"/>
            <a:r>
              <a:rPr lang="en" sz="36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CORPORATE PLANNING </a:t>
            </a:r>
            <a:br>
              <a:rPr lang="en" sz="36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" sz="36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E44304-948B-525A-4B53-4B3D7DF8FC8D}"/>
              </a:ext>
            </a:extLst>
          </p:cNvPr>
          <p:cNvSpPr txBox="1"/>
          <p:nvPr/>
        </p:nvSpPr>
        <p:spPr>
          <a:xfrm>
            <a:off x="613353" y="3221119"/>
            <a:ext cx="3782897" cy="830997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-ID"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Rooted</a:t>
            </a:r>
            <a:r>
              <a:rPr lang="en-ID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Responsibility, </a:t>
            </a:r>
          </a:p>
          <a:p>
            <a:r>
              <a:rPr lang="en-ID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Flourishing </a:t>
            </a:r>
            <a:r>
              <a:rPr lang="en-ID"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Transformation</a:t>
            </a:r>
            <a:endParaRPr lang="en-ID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34C525-384B-6DFA-C5E1-E9A1F8B4573B}"/>
              </a:ext>
            </a:extLst>
          </p:cNvPr>
          <p:cNvSpPr txBox="1"/>
          <p:nvPr/>
        </p:nvSpPr>
        <p:spPr>
          <a:xfrm>
            <a:off x="613352" y="4351213"/>
            <a:ext cx="4194621" cy="254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D" sz="8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 Januari – 1 </a:t>
            </a:r>
            <a:r>
              <a:rPr lang="en-ID" sz="800" b="1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Februari</a:t>
            </a:r>
            <a:r>
              <a:rPr lang="en-ID" sz="8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2026 di R Hotel, </a:t>
            </a:r>
            <a:r>
              <a:rPr lang="en-ID" sz="800" b="1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Rancamaya</a:t>
            </a:r>
            <a:r>
              <a:rPr lang="en-ID" sz="8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D" sz="800" b="1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Kecamatan</a:t>
            </a:r>
            <a:r>
              <a:rPr lang="en-ID" sz="8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800" b="1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Ciawi</a:t>
            </a:r>
            <a:r>
              <a:rPr lang="en-ID" sz="8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Kota Bogor</a:t>
            </a:r>
            <a:endParaRPr lang="en-ID" sz="4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D996806-9812-6280-1EFC-0A488A7E3FFA}"/>
              </a:ext>
            </a:extLst>
          </p:cNvPr>
          <p:cNvCxnSpPr>
            <a:cxnSpLocks/>
          </p:cNvCxnSpPr>
          <p:nvPr/>
        </p:nvCxnSpPr>
        <p:spPr>
          <a:xfrm>
            <a:off x="674091" y="3104596"/>
            <a:ext cx="2953846" cy="0"/>
          </a:xfrm>
          <a:prstGeom prst="line">
            <a:avLst/>
          </a:prstGeom>
          <a:ln w="12700">
            <a:solidFill>
              <a:srgbClr val="FFFFF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861A46A-6FE5-3035-2DC4-8EBC3E8EDE6F}"/>
              </a:ext>
            </a:extLst>
          </p:cNvPr>
          <p:cNvCxnSpPr>
            <a:cxnSpLocks/>
          </p:cNvCxnSpPr>
          <p:nvPr/>
        </p:nvCxnSpPr>
        <p:spPr>
          <a:xfrm>
            <a:off x="674091" y="4201664"/>
            <a:ext cx="3897909" cy="0"/>
          </a:xfrm>
          <a:prstGeom prst="line">
            <a:avLst/>
          </a:prstGeom>
          <a:ln w="12700">
            <a:solidFill>
              <a:srgbClr val="FFFFF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92948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Shape 221">
          <a:extLst>
            <a:ext uri="{FF2B5EF4-FFF2-40B4-BE49-F238E27FC236}">
              <a16:creationId xmlns:a16="http://schemas.microsoft.com/office/drawing/2014/main" id="{855138CF-6534-39F3-7011-A6D3F7AF0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Picture 57" descr="A person holding a small plant&#10;&#10;AI-generated content may be incorrect.">
            <a:extLst>
              <a:ext uri="{FF2B5EF4-FFF2-40B4-BE49-F238E27FC236}">
                <a16:creationId xmlns:a16="http://schemas.microsoft.com/office/drawing/2014/main" id="{BE6E2884-1ACB-25D6-72AC-83750886CF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t="17107" r="-15" b="26278"/>
          <a:stretch>
            <a:fillRect/>
          </a:stretch>
        </p:blipFill>
        <p:spPr>
          <a:xfrm>
            <a:off x="4707923" y="722873"/>
            <a:ext cx="4560874" cy="34423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6F9F6A0-B4EC-9487-447A-D2B21F2E265F}"/>
              </a:ext>
            </a:extLst>
          </p:cNvPr>
          <p:cNvSpPr txBox="1"/>
          <p:nvPr/>
        </p:nvSpPr>
        <p:spPr>
          <a:xfrm>
            <a:off x="151447" y="2444053"/>
            <a:ext cx="5825607" cy="1021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b="1" dirty="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ID" dirty="0" err="1"/>
              <a:t>Pertumbuhan</a:t>
            </a:r>
            <a:r>
              <a:rPr lang="en-ID" dirty="0"/>
              <a:t>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b="1" dirty="0" err="1"/>
              <a:t>bukan</a:t>
            </a:r>
            <a:r>
              <a:rPr lang="en-ID" b="1" dirty="0"/>
              <a:t> </a:t>
            </a:r>
            <a:r>
              <a:rPr lang="en-ID" b="1" dirty="0" err="1"/>
              <a:t>hanya</a:t>
            </a:r>
            <a:r>
              <a:rPr lang="en-ID" b="1" dirty="0"/>
              <a:t> </a:t>
            </a:r>
            <a:r>
              <a:rPr lang="en-ID" b="1" dirty="0" err="1"/>
              <a:t>soal</a:t>
            </a:r>
            <a:r>
              <a:rPr lang="en-ID" b="1" dirty="0"/>
              <a:t> </a:t>
            </a:r>
            <a:r>
              <a:rPr lang="en-ID" b="1" dirty="0" err="1"/>
              <a:t>angka</a:t>
            </a:r>
            <a:r>
              <a:rPr lang="en-ID" b="1" dirty="0"/>
              <a:t>, </a:t>
            </a:r>
            <a:r>
              <a:rPr lang="en-ID" b="1" dirty="0" err="1"/>
              <a:t>tapi</a:t>
            </a:r>
            <a:r>
              <a:rPr lang="en-ID" b="1" dirty="0"/>
              <a:t> </a:t>
            </a:r>
            <a:r>
              <a:rPr lang="en-ID" b="1" dirty="0" err="1"/>
              <a:t>tanggung</a:t>
            </a:r>
            <a:r>
              <a:rPr lang="en-ID" b="1" dirty="0"/>
              <a:t> </a:t>
            </a:r>
            <a:r>
              <a:rPr lang="en-ID" b="1" dirty="0" err="1"/>
              <a:t>jawab</a:t>
            </a:r>
            <a:r>
              <a:rPr lang="en-ID" dirty="0"/>
              <a:t>. </a:t>
            </a:r>
          </a:p>
          <a:p>
            <a:pPr algn="ctr">
              <a:lnSpc>
                <a:spcPct val="150000"/>
              </a:lnSpc>
            </a:pPr>
            <a:r>
              <a:rPr lang="en-ID" b="1" dirty="0" err="1"/>
              <a:t>Melalui</a:t>
            </a:r>
            <a:r>
              <a:rPr lang="en-ID" b="1" dirty="0"/>
              <a:t> </a:t>
            </a:r>
            <a:r>
              <a:rPr lang="en-ID" b="1" dirty="0" err="1"/>
              <a:t>setiap</a:t>
            </a:r>
            <a:r>
              <a:rPr lang="en-ID" b="1" dirty="0"/>
              <a:t> </a:t>
            </a:r>
            <a:r>
              <a:rPr lang="en-ID" b="1" dirty="0" err="1"/>
              <a:t>tindakan</a:t>
            </a:r>
            <a:r>
              <a:rPr lang="en-ID" b="1" dirty="0"/>
              <a:t> </a:t>
            </a:r>
            <a:r>
              <a:rPr lang="en-ID" b="1" dirty="0" err="1"/>
              <a:t>kecil</a:t>
            </a:r>
            <a:r>
              <a:rPr lang="en-ID" dirty="0"/>
              <a:t>,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berikan</a:t>
            </a:r>
            <a:r>
              <a:rPr lang="en-ID" dirty="0"/>
              <a:t> </a:t>
            </a:r>
            <a:r>
              <a:rPr lang="en-ID" dirty="0" err="1"/>
              <a:t>dampak</a:t>
            </a:r>
            <a:r>
              <a:rPr lang="en-ID" dirty="0"/>
              <a:t> </a:t>
            </a:r>
            <a:r>
              <a:rPr lang="en-ID" dirty="0" err="1"/>
              <a:t>positif</a:t>
            </a:r>
            <a:r>
              <a:rPr lang="en-ID" dirty="0"/>
              <a:t> dan </a:t>
            </a:r>
            <a:r>
              <a:rPr lang="en-ID" dirty="0" err="1"/>
              <a:t>transformatif</a:t>
            </a:r>
            <a:r>
              <a:rPr lang="en-ID" dirty="0"/>
              <a:t> </a:t>
            </a:r>
            <a:r>
              <a:rPr lang="en-ID" dirty="0" err="1"/>
              <a:t>bagi</a:t>
            </a:r>
            <a:r>
              <a:rPr lang="en-ID" dirty="0"/>
              <a:t> </a:t>
            </a:r>
            <a:r>
              <a:rPr lang="en-ID" dirty="0" err="1"/>
              <a:t>industri</a:t>
            </a:r>
            <a:r>
              <a:rPr lang="en-ID" dirty="0"/>
              <a:t> dan </a:t>
            </a:r>
            <a:r>
              <a:rPr lang="en-ID" dirty="0" err="1"/>
              <a:t>masyarakat</a:t>
            </a:r>
            <a:r>
              <a:rPr lang="en-ID" b="1" dirty="0"/>
              <a:t>.</a:t>
            </a:r>
            <a:r>
              <a:rPr lang="en-ID" b="1" dirty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endParaRPr lang="en-ID" sz="28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07B3154-D5FC-3779-4F3B-F98D9B4BE7CC}"/>
              </a:ext>
            </a:extLst>
          </p:cNvPr>
          <p:cNvSpPr txBox="1"/>
          <p:nvPr/>
        </p:nvSpPr>
        <p:spPr>
          <a:xfrm>
            <a:off x="868529" y="397777"/>
            <a:ext cx="3782897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ID" sz="24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Rooted</a:t>
            </a:r>
            <a:r>
              <a:rPr lang="en-ID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Responsibility, </a:t>
            </a:r>
          </a:p>
          <a:p>
            <a:r>
              <a:rPr lang="en-ID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Flourishing </a:t>
            </a:r>
            <a:r>
              <a:rPr lang="en-ID" sz="24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Transformation</a:t>
            </a:r>
            <a:endParaRPr lang="en-ID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Google Shape;231;g3694320abce_0_0">
            <a:extLst>
              <a:ext uri="{FF2B5EF4-FFF2-40B4-BE49-F238E27FC236}">
                <a16:creationId xmlns:a16="http://schemas.microsoft.com/office/drawing/2014/main" id="{8D16214F-44F8-4C6B-CDDA-0B94EF2EA5C6}"/>
              </a:ext>
            </a:extLst>
          </p:cNvPr>
          <p:cNvSpPr/>
          <p:nvPr/>
        </p:nvSpPr>
        <p:spPr>
          <a:xfrm>
            <a:off x="4445029" y="808005"/>
            <a:ext cx="4705340" cy="55488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2000">
              <a:solidFill>
                <a:schemeClr val="lt1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0C89688-69FB-F9FD-035D-72B3BF2E88D6}"/>
              </a:ext>
            </a:extLst>
          </p:cNvPr>
          <p:cNvGrpSpPr/>
          <p:nvPr/>
        </p:nvGrpSpPr>
        <p:grpSpPr>
          <a:xfrm>
            <a:off x="151447" y="444533"/>
            <a:ext cx="660585" cy="808613"/>
            <a:chOff x="8374955" y="177830"/>
            <a:chExt cx="660585" cy="808613"/>
          </a:xfrm>
        </p:grpSpPr>
        <p:pic>
          <p:nvPicPr>
            <p:cNvPr id="6" name="Picture 5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DE69DDD4-59F5-F67E-8018-DBE9A27814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73437"/>
            <a:stretch>
              <a:fillRect/>
            </a:stretch>
          </p:blipFill>
          <p:spPr>
            <a:xfrm>
              <a:off x="8499755" y="177830"/>
              <a:ext cx="410987" cy="501633"/>
            </a:xfrm>
            <a:prstGeom prst="rect">
              <a:avLst/>
            </a:prstGeom>
          </p:spPr>
        </p:pic>
        <p:sp>
          <p:nvSpPr>
            <p:cNvPr id="7" name="Title 1">
              <a:extLst>
                <a:ext uri="{FF2B5EF4-FFF2-40B4-BE49-F238E27FC236}">
                  <a16:creationId xmlns:a16="http://schemas.microsoft.com/office/drawing/2014/main" id="{22870C45-32E0-C78F-FB2D-ABA45F9060AE}"/>
                </a:ext>
              </a:extLst>
            </p:cNvPr>
            <p:cNvSpPr txBox="1">
              <a:spLocks/>
            </p:cNvSpPr>
            <p:nvPr/>
          </p:nvSpPr>
          <p:spPr>
            <a:xfrm>
              <a:off x="8374955" y="641372"/>
              <a:ext cx="660585" cy="3450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1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9pPr>
            </a:lstStyle>
            <a:p>
              <a:pPr algn="ctr"/>
              <a:r>
                <a:rPr lang="en" sz="500" dirty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CORPORATE PLANNING 2026</a:t>
              </a:r>
            </a:p>
          </p:txBody>
        </p:sp>
      </p:grpSp>
      <p:sp>
        <p:nvSpPr>
          <p:cNvPr id="2" name="Google Shape;231;g3694320abce_0_0">
            <a:extLst>
              <a:ext uri="{FF2B5EF4-FFF2-40B4-BE49-F238E27FC236}">
                <a16:creationId xmlns:a16="http://schemas.microsoft.com/office/drawing/2014/main" id="{E6867BAB-FA8F-46FB-94E3-9114F78C25C9}"/>
              </a:ext>
            </a:extLst>
          </p:cNvPr>
          <p:cNvSpPr/>
          <p:nvPr/>
        </p:nvSpPr>
        <p:spPr>
          <a:xfrm>
            <a:off x="-1" y="4825750"/>
            <a:ext cx="8748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F7ABF7C-9FD5-F881-9D16-32231F696BF4}"/>
              </a:ext>
            </a:extLst>
          </p:cNvPr>
          <p:cNvSpPr txBox="1">
            <a:spLocks/>
          </p:cNvSpPr>
          <p:nvPr/>
        </p:nvSpPr>
        <p:spPr>
          <a:xfrm>
            <a:off x="8428827" y="4843750"/>
            <a:ext cx="319172" cy="2155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900" b="1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i</a:t>
            </a:r>
            <a:endParaRPr lang="en-ID" sz="9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5904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Shape 221">
          <a:extLst>
            <a:ext uri="{FF2B5EF4-FFF2-40B4-BE49-F238E27FC236}">
              <a16:creationId xmlns:a16="http://schemas.microsoft.com/office/drawing/2014/main" id="{3553AA45-8400-611A-5EAC-8BF364314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224;p33">
            <a:hlinkClick r:id="" action="ppaction://noaction"/>
            <a:extLst>
              <a:ext uri="{FF2B5EF4-FFF2-40B4-BE49-F238E27FC236}">
                <a16:creationId xmlns:a16="http://schemas.microsoft.com/office/drawing/2014/main" id="{C8EBDAE3-F619-61FD-3DE2-249186FF16C3}"/>
              </a:ext>
            </a:extLst>
          </p:cNvPr>
          <p:cNvSpPr/>
          <p:nvPr/>
        </p:nvSpPr>
        <p:spPr>
          <a:xfrm>
            <a:off x="687234" y="3396479"/>
            <a:ext cx="518055" cy="518055"/>
          </a:xfrm>
          <a:prstGeom prst="ellipse">
            <a:avLst/>
          </a:prstGeom>
          <a:solidFill>
            <a:srgbClr val="F1E819"/>
          </a:solidFill>
          <a:ln>
            <a:solidFill>
              <a:schemeClr val="accent1">
                <a:lumMod val="10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12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  <a:endParaRPr sz="12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Google Shape;222;p33">
            <a:hlinkClick r:id="rId3" action="ppaction://hlinksldjump"/>
            <a:extLst>
              <a:ext uri="{FF2B5EF4-FFF2-40B4-BE49-F238E27FC236}">
                <a16:creationId xmlns:a16="http://schemas.microsoft.com/office/drawing/2014/main" id="{DA97CD58-ADA9-E5DB-FF47-98A4F717D4AD}"/>
              </a:ext>
            </a:extLst>
          </p:cNvPr>
          <p:cNvSpPr/>
          <p:nvPr/>
        </p:nvSpPr>
        <p:spPr>
          <a:xfrm>
            <a:off x="3247000" y="1661531"/>
            <a:ext cx="817200" cy="817200"/>
          </a:xfrm>
          <a:prstGeom prst="ellipse">
            <a:avLst/>
          </a:prstGeom>
          <a:solidFill>
            <a:srgbClr val="F1E819"/>
          </a:solidFill>
          <a:ln>
            <a:solidFill>
              <a:schemeClr val="accent1">
                <a:lumMod val="10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24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  <a:endParaRPr sz="24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2" name="Google Shape;222;p33">
            <a:hlinkClick r:id="rId3" action="ppaction://hlinksldjump"/>
            <a:extLst>
              <a:ext uri="{FF2B5EF4-FFF2-40B4-BE49-F238E27FC236}">
                <a16:creationId xmlns:a16="http://schemas.microsoft.com/office/drawing/2014/main" id="{C4B1246F-67ED-AF8D-E955-33F3DF9F2A2D}"/>
              </a:ext>
            </a:extLst>
          </p:cNvPr>
          <p:cNvSpPr/>
          <p:nvPr/>
        </p:nvSpPr>
        <p:spPr>
          <a:xfrm>
            <a:off x="687234" y="1671822"/>
            <a:ext cx="817200" cy="817200"/>
          </a:xfrm>
          <a:prstGeom prst="ellipse">
            <a:avLst/>
          </a:prstGeom>
          <a:solidFill>
            <a:srgbClr val="F1E819"/>
          </a:solidFill>
          <a:ln>
            <a:solidFill>
              <a:schemeClr val="accent1">
                <a:lumMod val="10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24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  <a:endParaRPr sz="24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6" name="Google Shape;226;p33">
            <a:hlinkClick r:id="rId4" action="ppaction://hlinksldjump"/>
            <a:extLst>
              <a:ext uri="{FF2B5EF4-FFF2-40B4-BE49-F238E27FC236}">
                <a16:creationId xmlns:a16="http://schemas.microsoft.com/office/drawing/2014/main" id="{9E071908-17C9-D298-C164-588C5EDAA675}"/>
              </a:ext>
            </a:extLst>
          </p:cNvPr>
          <p:cNvSpPr/>
          <p:nvPr/>
        </p:nvSpPr>
        <p:spPr>
          <a:xfrm>
            <a:off x="6007282" y="1600736"/>
            <a:ext cx="817200" cy="817200"/>
          </a:xfrm>
          <a:prstGeom prst="ellipse">
            <a:avLst/>
          </a:prstGeom>
          <a:solidFill>
            <a:srgbClr val="F1E819"/>
          </a:solidFill>
          <a:ln>
            <a:solidFill>
              <a:schemeClr val="accent1">
                <a:lumMod val="10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24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  <a:endParaRPr sz="24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0" name="Google Shape;230;p33">
            <a:hlinkClick r:id="rId3" action="ppaction://hlinksldjump"/>
            <a:extLst>
              <a:ext uri="{FF2B5EF4-FFF2-40B4-BE49-F238E27FC236}">
                <a16:creationId xmlns:a16="http://schemas.microsoft.com/office/drawing/2014/main" id="{3B334732-288E-7F86-4775-7DEC57CD054D}"/>
              </a:ext>
            </a:extLst>
          </p:cNvPr>
          <p:cNvSpPr txBox="1">
            <a:spLocks noGrp="1"/>
          </p:cNvSpPr>
          <p:nvPr>
            <p:ph type="title" idx="3"/>
          </p:nvPr>
        </p:nvSpPr>
        <p:spPr>
          <a:xfrm>
            <a:off x="1559056" y="1713039"/>
            <a:ext cx="1684500" cy="43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Reviews</a:t>
            </a:r>
            <a:endParaRPr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1" name="Google Shape;231;p33">
            <a:hlinkClick r:id="rId3" action="ppaction://hlinksldjump"/>
            <a:extLst>
              <a:ext uri="{FF2B5EF4-FFF2-40B4-BE49-F238E27FC236}">
                <a16:creationId xmlns:a16="http://schemas.microsoft.com/office/drawing/2014/main" id="{E2585AA1-5CCF-3EEF-4CA0-52D56138A5A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59047" y="2048016"/>
            <a:ext cx="1513834" cy="2865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ID" sz="9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Financial Target &amp; Actual</a:t>
            </a:r>
          </a:p>
        </p:txBody>
      </p:sp>
      <p:sp>
        <p:nvSpPr>
          <p:cNvPr id="233" name="Google Shape;233;p33">
            <a:hlinkClick r:id="" action="ppaction://noaction"/>
            <a:extLst>
              <a:ext uri="{FF2B5EF4-FFF2-40B4-BE49-F238E27FC236}">
                <a16:creationId xmlns:a16="http://schemas.microsoft.com/office/drawing/2014/main" id="{D837E9FA-7C76-0C94-FA0A-E8FC29A6DA2C}"/>
              </a:ext>
            </a:extLst>
          </p:cNvPr>
          <p:cNvSpPr txBox="1">
            <a:spLocks noGrp="1"/>
          </p:cNvSpPr>
          <p:nvPr>
            <p:ph type="title" idx="5"/>
          </p:nvPr>
        </p:nvSpPr>
        <p:spPr>
          <a:xfrm>
            <a:off x="1264859" y="3297032"/>
            <a:ext cx="1684500" cy="43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 sz="14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Market</a:t>
            </a:r>
            <a:endParaRPr sz="1400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6" name="Google Shape;236;p33">
            <a:hlinkClick r:id="rId5" action="ppaction://hlinksldjump"/>
            <a:extLst>
              <a:ext uri="{FF2B5EF4-FFF2-40B4-BE49-F238E27FC236}">
                <a16:creationId xmlns:a16="http://schemas.microsoft.com/office/drawing/2014/main" id="{1BF9CF74-65DD-1586-7480-3BEF7BBAD814}"/>
              </a:ext>
            </a:extLst>
          </p:cNvPr>
          <p:cNvSpPr txBox="1">
            <a:spLocks noGrp="1"/>
          </p:cNvSpPr>
          <p:nvPr>
            <p:ph type="title" idx="8"/>
          </p:nvPr>
        </p:nvSpPr>
        <p:spPr>
          <a:xfrm>
            <a:off x="4166997" y="1671822"/>
            <a:ext cx="1684500" cy="74611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Operational</a:t>
            </a:r>
            <a:br>
              <a:rPr lang="en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Evaluation</a:t>
            </a:r>
            <a:endParaRPr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2" name="Google Shape;242;p33">
            <a:hlinkClick r:id="rId4" action="ppaction://hlinksldjump"/>
            <a:extLst>
              <a:ext uri="{FF2B5EF4-FFF2-40B4-BE49-F238E27FC236}">
                <a16:creationId xmlns:a16="http://schemas.microsoft.com/office/drawing/2014/main" id="{14CEA4AB-B22B-30C9-4A2B-45EF90D1F469}"/>
              </a:ext>
            </a:extLst>
          </p:cNvPr>
          <p:cNvSpPr txBox="1">
            <a:spLocks noGrp="1"/>
          </p:cNvSpPr>
          <p:nvPr>
            <p:ph type="title" idx="17"/>
          </p:nvPr>
        </p:nvSpPr>
        <p:spPr>
          <a:xfrm>
            <a:off x="6996707" y="1666047"/>
            <a:ext cx="1272700" cy="67418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SWOT</a:t>
            </a:r>
            <a:br>
              <a:rPr lang="en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  <a:endParaRPr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0C3F9A-FBBC-1B10-880D-3552657E8DFA}"/>
              </a:ext>
            </a:extLst>
          </p:cNvPr>
          <p:cNvSpPr txBox="1"/>
          <p:nvPr/>
        </p:nvSpPr>
        <p:spPr>
          <a:xfrm>
            <a:off x="847352" y="416300"/>
            <a:ext cx="210200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 dirty="0">
                <a:solidFill>
                  <a:schemeClr val="accent6">
                    <a:lumMod val="10000"/>
                  </a:schemeClr>
                </a:solidFill>
              </a:rPr>
              <a:t>CONTENT</a:t>
            </a:r>
            <a:endParaRPr lang="en-ID" sz="3000" b="1" dirty="0">
              <a:solidFill>
                <a:schemeClr val="accent6">
                  <a:lumMod val="10000"/>
                </a:schemeClr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7B79B81-4E74-9E76-22A3-13C27BCEDFCF}"/>
              </a:ext>
            </a:extLst>
          </p:cNvPr>
          <p:cNvCxnSpPr/>
          <p:nvPr/>
        </p:nvCxnSpPr>
        <p:spPr>
          <a:xfrm>
            <a:off x="1629882" y="2091868"/>
            <a:ext cx="1300899" cy="0"/>
          </a:xfrm>
          <a:prstGeom prst="line">
            <a:avLst/>
          </a:prstGeom>
          <a:ln w="12700">
            <a:solidFill>
              <a:schemeClr val="accent6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Google Shape;231;g3694320abce_0_0">
            <a:extLst>
              <a:ext uri="{FF2B5EF4-FFF2-40B4-BE49-F238E27FC236}">
                <a16:creationId xmlns:a16="http://schemas.microsoft.com/office/drawing/2014/main" id="{52EB2523-49CB-4733-C782-AEBE082504B5}"/>
              </a:ext>
            </a:extLst>
          </p:cNvPr>
          <p:cNvSpPr/>
          <p:nvPr/>
        </p:nvSpPr>
        <p:spPr>
          <a:xfrm>
            <a:off x="2984679" y="687169"/>
            <a:ext cx="6159321" cy="45719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2000">
              <a:solidFill>
                <a:schemeClr val="lt1"/>
              </a:solidFill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BC845C7-72A6-5935-2223-1D989E74A400}"/>
              </a:ext>
            </a:extLst>
          </p:cNvPr>
          <p:cNvGrpSpPr/>
          <p:nvPr/>
        </p:nvGrpSpPr>
        <p:grpSpPr>
          <a:xfrm>
            <a:off x="151447" y="328581"/>
            <a:ext cx="660585" cy="808613"/>
            <a:chOff x="8374955" y="177830"/>
            <a:chExt cx="660585" cy="808613"/>
          </a:xfrm>
        </p:grpSpPr>
        <p:pic>
          <p:nvPicPr>
            <p:cNvPr id="30" name="Picture 29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6085888E-7218-EF43-2D3B-6CDE5946389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r="73437"/>
            <a:stretch>
              <a:fillRect/>
            </a:stretch>
          </p:blipFill>
          <p:spPr>
            <a:xfrm>
              <a:off x="8499755" y="177830"/>
              <a:ext cx="410987" cy="501633"/>
            </a:xfrm>
            <a:prstGeom prst="rect">
              <a:avLst/>
            </a:prstGeom>
          </p:spPr>
        </p:pic>
        <p:sp>
          <p:nvSpPr>
            <p:cNvPr id="31" name="Title 1">
              <a:extLst>
                <a:ext uri="{FF2B5EF4-FFF2-40B4-BE49-F238E27FC236}">
                  <a16:creationId xmlns:a16="http://schemas.microsoft.com/office/drawing/2014/main" id="{8C24526C-8865-7C60-0BD5-B6F37678720C}"/>
                </a:ext>
              </a:extLst>
            </p:cNvPr>
            <p:cNvSpPr txBox="1">
              <a:spLocks/>
            </p:cNvSpPr>
            <p:nvPr/>
          </p:nvSpPr>
          <p:spPr>
            <a:xfrm>
              <a:off x="8374955" y="641372"/>
              <a:ext cx="660585" cy="3450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1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9pPr>
            </a:lstStyle>
            <a:p>
              <a:pPr algn="ctr"/>
              <a:r>
                <a:rPr lang="en" sz="500" dirty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CORPORATE PLANNING 2026</a:t>
              </a:r>
            </a:p>
          </p:txBody>
        </p:sp>
      </p:grpSp>
      <p:sp>
        <p:nvSpPr>
          <p:cNvPr id="41" name="Google Shape;231;p33">
            <a:hlinkClick r:id="rId3" action="ppaction://hlinksldjump"/>
            <a:extLst>
              <a:ext uri="{FF2B5EF4-FFF2-40B4-BE49-F238E27FC236}">
                <a16:creationId xmlns:a16="http://schemas.microsoft.com/office/drawing/2014/main" id="{F85138D4-69A4-F756-F090-C39B5E679D03}"/>
              </a:ext>
            </a:extLst>
          </p:cNvPr>
          <p:cNvSpPr txBox="1">
            <a:spLocks/>
          </p:cNvSpPr>
          <p:nvPr/>
        </p:nvSpPr>
        <p:spPr>
          <a:xfrm>
            <a:off x="1264859" y="3655506"/>
            <a:ext cx="1513834" cy="300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alanquin"/>
              <a:buNone/>
              <a:defRPr sz="1600" b="0" i="0" u="none" strike="noStrike" cap="none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alanquin"/>
              <a:buNone/>
              <a:defRPr sz="1600" b="0" i="0" u="none" strike="noStrike" cap="none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alanquin"/>
              <a:buNone/>
              <a:defRPr sz="1600" b="0" i="0" u="none" strike="noStrike" cap="none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alanquin"/>
              <a:buNone/>
              <a:defRPr sz="1600" b="0" i="0" u="none" strike="noStrike" cap="none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alanquin"/>
              <a:buNone/>
              <a:defRPr sz="1600" b="0" i="0" u="none" strike="noStrike" cap="none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alanquin"/>
              <a:buNone/>
              <a:defRPr sz="1600" b="0" i="0" u="none" strike="noStrike" cap="none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alanquin"/>
              <a:buNone/>
              <a:defRPr sz="1600" b="0" i="0" u="none" strike="noStrike" cap="none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alanquin"/>
              <a:buNone/>
              <a:defRPr sz="1600" b="0" i="0" u="none" strike="noStrike" cap="none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alanquin"/>
              <a:buNone/>
              <a:defRPr sz="1600" b="0" i="0" u="none" strike="noStrike" cap="none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9pPr>
          </a:lstStyle>
          <a:p>
            <a:pPr marL="0" indent="0"/>
            <a:r>
              <a:rPr lang="en-ID" sz="9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Trends of Market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32004FF-D82F-3F26-75BE-B0B72669FB85}"/>
              </a:ext>
            </a:extLst>
          </p:cNvPr>
          <p:cNvCxnSpPr>
            <a:cxnSpLocks/>
          </p:cNvCxnSpPr>
          <p:nvPr/>
        </p:nvCxnSpPr>
        <p:spPr>
          <a:xfrm>
            <a:off x="1325029" y="3672687"/>
            <a:ext cx="1075271" cy="0"/>
          </a:xfrm>
          <a:prstGeom prst="line">
            <a:avLst/>
          </a:prstGeom>
          <a:ln w="12700">
            <a:solidFill>
              <a:schemeClr val="accent6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Google Shape;224;p33">
            <a:hlinkClick r:id="" action="ppaction://noaction"/>
            <a:extLst>
              <a:ext uri="{FF2B5EF4-FFF2-40B4-BE49-F238E27FC236}">
                <a16:creationId xmlns:a16="http://schemas.microsoft.com/office/drawing/2014/main" id="{F6BAD17F-A077-76D6-07B3-C6288053F252}"/>
              </a:ext>
            </a:extLst>
          </p:cNvPr>
          <p:cNvSpPr/>
          <p:nvPr/>
        </p:nvSpPr>
        <p:spPr>
          <a:xfrm>
            <a:off x="6457718" y="3436604"/>
            <a:ext cx="518055" cy="518055"/>
          </a:xfrm>
          <a:prstGeom prst="ellipse">
            <a:avLst/>
          </a:prstGeom>
          <a:solidFill>
            <a:srgbClr val="F1E819"/>
          </a:solidFill>
          <a:ln>
            <a:solidFill>
              <a:schemeClr val="accent1">
                <a:lumMod val="10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12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07</a:t>
            </a:r>
            <a:endParaRPr sz="12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Google Shape;233;p33">
            <a:hlinkClick r:id="" action="ppaction://noaction"/>
            <a:extLst>
              <a:ext uri="{FF2B5EF4-FFF2-40B4-BE49-F238E27FC236}">
                <a16:creationId xmlns:a16="http://schemas.microsoft.com/office/drawing/2014/main" id="{43830517-BB06-8BAD-D7BE-3A2393D46E65}"/>
              </a:ext>
            </a:extLst>
          </p:cNvPr>
          <p:cNvSpPr txBox="1">
            <a:spLocks/>
          </p:cNvSpPr>
          <p:nvPr/>
        </p:nvSpPr>
        <p:spPr>
          <a:xfrm>
            <a:off x="7035343" y="3454437"/>
            <a:ext cx="1234064" cy="4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ignika"/>
              <a:buNone/>
              <a:defRPr sz="1800" b="1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9pPr>
          </a:lstStyle>
          <a:p>
            <a:r>
              <a:rPr lang="en-ID" sz="14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Action Plan</a:t>
            </a:r>
          </a:p>
        </p:txBody>
      </p:sp>
      <p:sp>
        <p:nvSpPr>
          <p:cNvPr id="11" name="Google Shape;224;p33">
            <a:hlinkClick r:id="" action="ppaction://noaction"/>
            <a:extLst>
              <a:ext uri="{FF2B5EF4-FFF2-40B4-BE49-F238E27FC236}">
                <a16:creationId xmlns:a16="http://schemas.microsoft.com/office/drawing/2014/main" id="{BACA2AFB-7C98-43F9-06FE-9427C7A82CEE}"/>
              </a:ext>
            </a:extLst>
          </p:cNvPr>
          <p:cNvSpPr/>
          <p:nvPr/>
        </p:nvSpPr>
        <p:spPr>
          <a:xfrm>
            <a:off x="4670929" y="3436604"/>
            <a:ext cx="518055" cy="518055"/>
          </a:xfrm>
          <a:prstGeom prst="ellipse">
            <a:avLst/>
          </a:prstGeom>
          <a:solidFill>
            <a:srgbClr val="F1E819"/>
          </a:solidFill>
          <a:ln>
            <a:solidFill>
              <a:schemeClr val="accent1">
                <a:lumMod val="10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12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06</a:t>
            </a:r>
            <a:endParaRPr sz="12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Google Shape;233;p33">
            <a:hlinkClick r:id="" action="ppaction://noaction"/>
            <a:extLst>
              <a:ext uri="{FF2B5EF4-FFF2-40B4-BE49-F238E27FC236}">
                <a16:creationId xmlns:a16="http://schemas.microsoft.com/office/drawing/2014/main" id="{7414F2A9-89D4-4F01-134C-6FF31F7785C2}"/>
              </a:ext>
            </a:extLst>
          </p:cNvPr>
          <p:cNvSpPr txBox="1">
            <a:spLocks/>
          </p:cNvSpPr>
          <p:nvPr/>
        </p:nvSpPr>
        <p:spPr>
          <a:xfrm>
            <a:off x="5248554" y="3408413"/>
            <a:ext cx="1234064" cy="51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ignika"/>
              <a:buNone/>
              <a:defRPr sz="1800" b="1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9pPr>
          </a:lstStyle>
          <a:p>
            <a:r>
              <a:rPr lang="en-ID" sz="14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Strategic Priority</a:t>
            </a:r>
          </a:p>
        </p:txBody>
      </p:sp>
      <p:sp>
        <p:nvSpPr>
          <p:cNvPr id="15" name="Google Shape;224;p33">
            <a:hlinkClick r:id="" action="ppaction://noaction"/>
            <a:extLst>
              <a:ext uri="{FF2B5EF4-FFF2-40B4-BE49-F238E27FC236}">
                <a16:creationId xmlns:a16="http://schemas.microsoft.com/office/drawing/2014/main" id="{E21D37B7-F70A-A263-9F04-C514D90A38A6}"/>
              </a:ext>
            </a:extLst>
          </p:cNvPr>
          <p:cNvSpPr/>
          <p:nvPr/>
        </p:nvSpPr>
        <p:spPr>
          <a:xfrm>
            <a:off x="2778693" y="3431358"/>
            <a:ext cx="518055" cy="518055"/>
          </a:xfrm>
          <a:prstGeom prst="ellipse">
            <a:avLst/>
          </a:prstGeom>
          <a:solidFill>
            <a:srgbClr val="F1E819"/>
          </a:solidFill>
          <a:ln>
            <a:solidFill>
              <a:schemeClr val="accent1">
                <a:lumMod val="10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12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05</a:t>
            </a:r>
            <a:endParaRPr sz="12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Google Shape;233;p33">
            <a:hlinkClick r:id="" action="ppaction://noaction"/>
            <a:extLst>
              <a:ext uri="{FF2B5EF4-FFF2-40B4-BE49-F238E27FC236}">
                <a16:creationId xmlns:a16="http://schemas.microsoft.com/office/drawing/2014/main" id="{9323F3EB-7D40-2440-BE9B-8DA67F16F2DB}"/>
              </a:ext>
            </a:extLst>
          </p:cNvPr>
          <p:cNvSpPr txBox="1">
            <a:spLocks/>
          </p:cNvSpPr>
          <p:nvPr/>
        </p:nvSpPr>
        <p:spPr>
          <a:xfrm>
            <a:off x="3356318" y="3449191"/>
            <a:ext cx="1234064" cy="4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ignika"/>
              <a:buNone/>
              <a:defRPr sz="1800" b="1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9pPr>
          </a:lstStyle>
          <a:p>
            <a:r>
              <a:rPr lang="en-ID" sz="14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Planning</a:t>
            </a:r>
          </a:p>
          <a:p>
            <a:r>
              <a:rPr lang="en-ID" sz="14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2026</a:t>
            </a:r>
          </a:p>
        </p:txBody>
      </p:sp>
      <p:sp>
        <p:nvSpPr>
          <p:cNvPr id="2" name="Google Shape;231;g3694320abce_0_0">
            <a:extLst>
              <a:ext uri="{FF2B5EF4-FFF2-40B4-BE49-F238E27FC236}">
                <a16:creationId xmlns:a16="http://schemas.microsoft.com/office/drawing/2014/main" id="{BF7A9172-E5D7-77D6-7AE8-36513DB6FC6E}"/>
              </a:ext>
            </a:extLst>
          </p:cNvPr>
          <p:cNvSpPr/>
          <p:nvPr/>
        </p:nvSpPr>
        <p:spPr>
          <a:xfrm>
            <a:off x="-1" y="4825750"/>
            <a:ext cx="8748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A302C16-2202-095D-453E-2C46E8BBA619}"/>
              </a:ext>
            </a:extLst>
          </p:cNvPr>
          <p:cNvSpPr txBox="1">
            <a:spLocks/>
          </p:cNvSpPr>
          <p:nvPr/>
        </p:nvSpPr>
        <p:spPr>
          <a:xfrm>
            <a:off x="8428827" y="4843750"/>
            <a:ext cx="319172" cy="2155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9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ii</a:t>
            </a:r>
            <a:endParaRPr lang="en-ID" sz="9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7835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4"/>
          <p:cNvSpPr txBox="1">
            <a:spLocks noGrp="1"/>
          </p:cNvSpPr>
          <p:nvPr>
            <p:ph type="subTitle" idx="1"/>
          </p:nvPr>
        </p:nvSpPr>
        <p:spPr>
          <a:xfrm>
            <a:off x="2570855" y="2646644"/>
            <a:ext cx="4699500" cy="428758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ID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Financial Target &amp; Actual</a:t>
            </a:r>
          </a:p>
        </p:txBody>
      </p:sp>
      <p:sp>
        <p:nvSpPr>
          <p:cNvPr id="5" name="Google Shape;231;g3694320abce_0_0">
            <a:extLst>
              <a:ext uri="{FF2B5EF4-FFF2-40B4-BE49-F238E27FC236}">
                <a16:creationId xmlns:a16="http://schemas.microsoft.com/office/drawing/2014/main" id="{A198C6A4-27C8-A67E-6273-4897A41E7A99}"/>
              </a:ext>
            </a:extLst>
          </p:cNvPr>
          <p:cNvSpPr/>
          <p:nvPr/>
        </p:nvSpPr>
        <p:spPr>
          <a:xfrm>
            <a:off x="2570857" y="2597846"/>
            <a:ext cx="6573145" cy="85893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2000">
              <a:solidFill>
                <a:schemeClr val="lt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E07321C-354D-55E3-C03D-E3505EFF60D4}"/>
              </a:ext>
            </a:extLst>
          </p:cNvPr>
          <p:cNvSpPr txBox="1">
            <a:spLocks/>
          </p:cNvSpPr>
          <p:nvPr/>
        </p:nvSpPr>
        <p:spPr>
          <a:xfrm>
            <a:off x="2570856" y="2120289"/>
            <a:ext cx="1402055" cy="477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6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5200" b="1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9pPr>
          </a:lstStyle>
          <a:p>
            <a:pPr algn="l"/>
            <a:r>
              <a:rPr lang="en-ID" sz="32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Reviews</a:t>
            </a:r>
            <a:endParaRPr lang="en-US" sz="2800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E6916EF-1307-D650-CFBE-9B2C59F48389}"/>
              </a:ext>
            </a:extLst>
          </p:cNvPr>
          <p:cNvGrpSpPr/>
          <p:nvPr/>
        </p:nvGrpSpPr>
        <p:grpSpPr>
          <a:xfrm>
            <a:off x="1552624" y="2014883"/>
            <a:ext cx="910181" cy="1383082"/>
            <a:chOff x="1552624" y="2160811"/>
            <a:chExt cx="910181" cy="1383082"/>
          </a:xfrm>
        </p:grpSpPr>
        <p:pic>
          <p:nvPicPr>
            <p:cNvPr id="7" name="Picture 6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79CF7AA8-A968-5B63-4B1A-CAE2FCA994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73437"/>
            <a:stretch>
              <a:fillRect/>
            </a:stretch>
          </p:blipFill>
          <p:spPr>
            <a:xfrm>
              <a:off x="1552624" y="2160811"/>
              <a:ext cx="910181" cy="1045856"/>
            </a:xfrm>
            <a:prstGeom prst="rect">
              <a:avLst/>
            </a:prstGeom>
          </p:spPr>
        </p:pic>
        <p:sp>
          <p:nvSpPr>
            <p:cNvPr id="10" name="Title 1">
              <a:extLst>
                <a:ext uri="{FF2B5EF4-FFF2-40B4-BE49-F238E27FC236}">
                  <a16:creationId xmlns:a16="http://schemas.microsoft.com/office/drawing/2014/main" id="{86473149-39AD-F963-D713-B3365E3CE646}"/>
                </a:ext>
              </a:extLst>
            </p:cNvPr>
            <p:cNvSpPr txBox="1">
              <a:spLocks/>
            </p:cNvSpPr>
            <p:nvPr/>
          </p:nvSpPr>
          <p:spPr>
            <a:xfrm>
              <a:off x="1552624" y="3206667"/>
              <a:ext cx="910181" cy="33722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1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9pPr>
            </a:lstStyle>
            <a:p>
              <a:pPr algn="ctr"/>
              <a:r>
                <a:rPr lang="en" sz="700" dirty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CORPORATE PLANNING </a:t>
              </a:r>
            </a:p>
            <a:p>
              <a:pPr algn="ctr"/>
              <a:r>
                <a:rPr lang="en" sz="700" dirty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2026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A48C34F4-DF98-F1F6-A0C2-373C74A615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72115413"/>
              </p:ext>
            </p:extLst>
          </p:nvPr>
        </p:nvGraphicFramePr>
        <p:xfrm>
          <a:off x="247808" y="693402"/>
          <a:ext cx="4036632" cy="1501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036438D-9F73-A05E-A9D0-02A19B1B3B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2019029"/>
              </p:ext>
            </p:extLst>
          </p:nvPr>
        </p:nvGraphicFramePr>
        <p:xfrm>
          <a:off x="247808" y="2360293"/>
          <a:ext cx="4036632" cy="23000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38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77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2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19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086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13752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Services</a:t>
                      </a:r>
                    </a:p>
                  </a:txBody>
                  <a:tcPr marL="84486" marR="84486" marT="42243" marB="42243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DA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Number of Projects</a:t>
                      </a:r>
                    </a:p>
                  </a:txBody>
                  <a:tcPr marL="84486" marR="84486" marT="42243" marB="42243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DA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Actual</a:t>
                      </a:r>
                      <a:r>
                        <a:rPr lang="en-US" sz="700" b="1" baseline="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700" b="1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Revenue</a:t>
                      </a:r>
                      <a:endParaRPr lang="en-US" sz="700" b="1" baseline="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700" b="1" baseline="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(million </a:t>
                      </a:r>
                      <a:r>
                        <a:rPr lang="en-US" sz="700" b="1" baseline="0" dirty="0" err="1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Rp</a:t>
                      </a:r>
                      <a:r>
                        <a:rPr lang="en-US" sz="700" b="1" baseline="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US" sz="700" b="1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DA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Target</a:t>
                      </a:r>
                      <a:r>
                        <a:rPr lang="en-US" sz="700" b="1" baseline="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Revenue (million </a:t>
                      </a:r>
                      <a:r>
                        <a:rPr lang="en-US" sz="700" b="1" baseline="0" dirty="0" err="1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Rp</a:t>
                      </a:r>
                      <a:r>
                        <a:rPr lang="en-US" sz="700" b="1" baseline="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US" sz="700" b="1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DA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Actual in</a:t>
                      </a:r>
                      <a:r>
                        <a:rPr lang="en-US" sz="700" b="1" baseline="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700" b="1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84486" marR="84486" marT="42243" marB="42243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DA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367"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Asset</a:t>
                      </a:r>
                      <a:r>
                        <a:rPr lang="en-US" sz="800" baseline="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Valuation</a:t>
                      </a:r>
                      <a:endParaRPr lang="en-US" sz="8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491"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Business Valuation</a:t>
                      </a: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367"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Consultancy</a:t>
                      </a: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7367"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Monitoring</a:t>
                      </a: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7367"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Advisory</a:t>
                      </a: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9930645"/>
                  </a:ext>
                </a:extLst>
              </a:tr>
              <a:tr h="257367"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</a:t>
                      </a: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000" b="1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000" b="1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000" b="1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Google Shape;231;g3694320abce_0_0">
            <a:extLst>
              <a:ext uri="{FF2B5EF4-FFF2-40B4-BE49-F238E27FC236}">
                <a16:creationId xmlns:a16="http://schemas.microsoft.com/office/drawing/2014/main" id="{BF76FDE1-6A16-B45A-9085-8E55E29CF249}"/>
              </a:ext>
            </a:extLst>
          </p:cNvPr>
          <p:cNvSpPr/>
          <p:nvPr/>
        </p:nvSpPr>
        <p:spPr>
          <a:xfrm>
            <a:off x="-1" y="403433"/>
            <a:ext cx="8280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3FB6C45-BB59-8037-EC20-BCCCEF99B435}"/>
              </a:ext>
            </a:extLst>
          </p:cNvPr>
          <p:cNvSpPr txBox="1">
            <a:spLocks/>
          </p:cNvSpPr>
          <p:nvPr/>
        </p:nvSpPr>
        <p:spPr>
          <a:xfrm>
            <a:off x="247808" y="163063"/>
            <a:ext cx="2808248" cy="2173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D" sz="11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BAB 01 | </a:t>
            </a:r>
            <a:r>
              <a:rPr lang="en-ID" sz="11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Financial Target &amp; Actual</a:t>
            </a:r>
            <a:endParaRPr lang="en-ID" sz="11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sp>
        <p:nvSpPr>
          <p:cNvPr id="7" name="Google Shape;231;g3694320abce_0_0">
            <a:extLst>
              <a:ext uri="{FF2B5EF4-FFF2-40B4-BE49-F238E27FC236}">
                <a16:creationId xmlns:a16="http://schemas.microsoft.com/office/drawing/2014/main" id="{F346495F-25EA-9714-F3E3-89EB0C4432E4}"/>
              </a:ext>
            </a:extLst>
          </p:cNvPr>
          <p:cNvSpPr/>
          <p:nvPr/>
        </p:nvSpPr>
        <p:spPr>
          <a:xfrm>
            <a:off x="-1" y="4825750"/>
            <a:ext cx="8748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A4D2FEF-046C-8E74-AC4F-F074CDBF7660}"/>
              </a:ext>
            </a:extLst>
          </p:cNvPr>
          <p:cNvSpPr txBox="1">
            <a:spLocks/>
          </p:cNvSpPr>
          <p:nvPr/>
        </p:nvSpPr>
        <p:spPr>
          <a:xfrm>
            <a:off x="8428827" y="4843750"/>
            <a:ext cx="319172" cy="2155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900" b="1" dirty="0">
                <a:solidFill>
                  <a:schemeClr val="accent6">
                    <a:lumMod val="10000"/>
                  </a:schemeClr>
                </a:solidFill>
                <a:latin typeface="Arial"/>
                <a:ea typeface="Palatino" pitchFamily="2" charset="77"/>
                <a:cs typeface="Arial"/>
              </a:rPr>
              <a:t>02</a:t>
            </a:r>
            <a:endParaRPr lang="en-ID" sz="9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67DB1E1-10FE-8167-B5EA-594D5DC0091C}"/>
              </a:ext>
            </a:extLst>
          </p:cNvPr>
          <p:cNvGrpSpPr/>
          <p:nvPr/>
        </p:nvGrpSpPr>
        <p:grpSpPr>
          <a:xfrm>
            <a:off x="8374955" y="177830"/>
            <a:ext cx="660585" cy="808613"/>
            <a:chOff x="8374955" y="177830"/>
            <a:chExt cx="660585" cy="808613"/>
          </a:xfrm>
        </p:grpSpPr>
        <p:pic>
          <p:nvPicPr>
            <p:cNvPr id="2" name="Picture 1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C63463B7-C629-3C81-64B7-8032D1244F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73437"/>
            <a:stretch>
              <a:fillRect/>
            </a:stretch>
          </p:blipFill>
          <p:spPr>
            <a:xfrm>
              <a:off x="8499755" y="177830"/>
              <a:ext cx="410987" cy="501633"/>
            </a:xfrm>
            <a:prstGeom prst="rect">
              <a:avLst/>
            </a:prstGeom>
          </p:spPr>
        </p:pic>
        <p:sp>
          <p:nvSpPr>
            <p:cNvPr id="9" name="Title 1">
              <a:extLst>
                <a:ext uri="{FF2B5EF4-FFF2-40B4-BE49-F238E27FC236}">
                  <a16:creationId xmlns:a16="http://schemas.microsoft.com/office/drawing/2014/main" id="{C51C5B6B-C85B-2F91-D6D1-0B60A58AADB9}"/>
                </a:ext>
              </a:extLst>
            </p:cNvPr>
            <p:cNvSpPr txBox="1">
              <a:spLocks/>
            </p:cNvSpPr>
            <p:nvPr/>
          </p:nvSpPr>
          <p:spPr>
            <a:xfrm>
              <a:off x="8374955" y="641372"/>
              <a:ext cx="660585" cy="3450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1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9pPr>
            </a:lstStyle>
            <a:p>
              <a:pPr algn="ctr"/>
              <a:r>
                <a:rPr lang="en" sz="500" dirty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CORPORATE PLANNING 2026</a:t>
              </a:r>
            </a:p>
          </p:txBody>
        </p:sp>
      </p:grp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351CBF16-8A31-541F-AB52-F6C7A7AE2D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43443991"/>
              </p:ext>
            </p:extLst>
          </p:nvPr>
        </p:nvGraphicFramePr>
        <p:xfrm>
          <a:off x="4463123" y="693402"/>
          <a:ext cx="4036632" cy="1501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4963DA3-CA8C-3674-4E6C-4E7E297518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2701239"/>
              </p:ext>
            </p:extLst>
          </p:nvPr>
        </p:nvGraphicFramePr>
        <p:xfrm>
          <a:off x="4463123" y="2360293"/>
          <a:ext cx="4036632" cy="23000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38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77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2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19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086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13752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Services</a:t>
                      </a:r>
                    </a:p>
                  </a:txBody>
                  <a:tcPr marL="84486" marR="84486" marT="42243" marB="42243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DA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Number of Projects</a:t>
                      </a:r>
                    </a:p>
                  </a:txBody>
                  <a:tcPr marL="84486" marR="84486" marT="42243" marB="42243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DA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Actual</a:t>
                      </a:r>
                      <a:r>
                        <a:rPr lang="en-US" sz="700" b="1" baseline="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700" b="1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Revenue</a:t>
                      </a:r>
                      <a:endParaRPr lang="en-US" sz="700" b="1" baseline="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700" b="1" baseline="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(million </a:t>
                      </a:r>
                      <a:r>
                        <a:rPr lang="en-US" sz="700" b="1" baseline="0" dirty="0" err="1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Rp</a:t>
                      </a:r>
                      <a:r>
                        <a:rPr lang="en-US" sz="700" b="1" baseline="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US" sz="700" b="1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DA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Target</a:t>
                      </a:r>
                      <a:r>
                        <a:rPr lang="en-US" sz="700" b="1" baseline="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Revenue (million </a:t>
                      </a:r>
                      <a:r>
                        <a:rPr lang="en-US" sz="700" b="1" baseline="0" dirty="0" err="1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Rp</a:t>
                      </a:r>
                      <a:r>
                        <a:rPr lang="en-US" sz="700" b="1" baseline="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US" sz="700" b="1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DA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Actual in</a:t>
                      </a:r>
                      <a:r>
                        <a:rPr lang="en-US" sz="700" b="1" baseline="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700" b="1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84486" marR="84486" marT="42243" marB="42243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DA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367"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Asset</a:t>
                      </a:r>
                      <a:r>
                        <a:rPr lang="en-US" sz="800" baseline="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Valuation</a:t>
                      </a:r>
                      <a:endParaRPr lang="en-US" sz="8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491"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Business Valuation</a:t>
                      </a: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367"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Consultancy</a:t>
                      </a: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7367"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Monitoring</a:t>
                      </a: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7367"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Advisory</a:t>
                      </a: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9930645"/>
                  </a:ext>
                </a:extLst>
              </a:tr>
              <a:tr h="257367"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</a:t>
                      </a: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000" b="1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000" b="1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000" b="1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3886E02-4124-9046-D13A-C775C75F5681}"/>
              </a:ext>
            </a:extLst>
          </p:cNvPr>
          <p:cNvCxnSpPr>
            <a:cxnSpLocks/>
          </p:cNvCxnSpPr>
          <p:nvPr/>
        </p:nvCxnSpPr>
        <p:spPr>
          <a:xfrm flipV="1">
            <a:off x="4373999" y="528474"/>
            <a:ext cx="0" cy="4131856"/>
          </a:xfrm>
          <a:prstGeom prst="line">
            <a:avLst/>
          </a:prstGeom>
          <a:ln w="12700">
            <a:solidFill>
              <a:schemeClr val="accent1">
                <a:lumMod val="1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itle 1">
            <a:extLst>
              <a:ext uri="{FF2B5EF4-FFF2-40B4-BE49-F238E27FC236}">
                <a16:creationId xmlns:a16="http://schemas.microsoft.com/office/drawing/2014/main" id="{637E882A-B9D9-7EE5-EFF0-E81950A74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808" y="528474"/>
            <a:ext cx="2318748" cy="301517"/>
          </a:xfrm>
        </p:spPr>
        <p:txBody>
          <a:bodyPr/>
          <a:lstStyle/>
          <a:p>
            <a:r>
              <a:rPr lang="en-US" sz="10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Financial Target &amp; Actual 2024</a:t>
            </a:r>
            <a:endParaRPr lang="en-ID" sz="1000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1767BC2A-EC8B-68DD-5B69-C745A1C98525}"/>
              </a:ext>
            </a:extLst>
          </p:cNvPr>
          <p:cNvSpPr txBox="1">
            <a:spLocks/>
          </p:cNvSpPr>
          <p:nvPr/>
        </p:nvSpPr>
        <p:spPr>
          <a:xfrm>
            <a:off x="4572000" y="531047"/>
            <a:ext cx="2318748" cy="301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1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9pPr>
          </a:lstStyle>
          <a:p>
            <a:r>
              <a:rPr lang="en-US" sz="10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Financial Target &amp; Actual 2025</a:t>
            </a:r>
            <a:endParaRPr lang="en-ID" sz="1000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FF65-3732-7F5D-0BA4-2BEC973B6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807" y="528474"/>
            <a:ext cx="2318748" cy="301517"/>
          </a:xfrm>
        </p:spPr>
        <p:txBody>
          <a:bodyPr/>
          <a:lstStyle/>
          <a:p>
            <a:r>
              <a:rPr lang="en-US" sz="10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 5 Clients 2024</a:t>
            </a:r>
            <a:endParaRPr lang="en-ID" sz="1000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96631E3F-5B74-5AC1-688D-6D05EBE640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19697025"/>
              </p:ext>
            </p:extLst>
          </p:nvPr>
        </p:nvGraphicFramePr>
        <p:xfrm>
          <a:off x="229948" y="840104"/>
          <a:ext cx="3858850" cy="21521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14C72E10-8842-D687-7777-1D32256C230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36124161"/>
              </p:ext>
            </p:extLst>
          </p:nvPr>
        </p:nvGraphicFramePr>
        <p:xfrm>
          <a:off x="4572000" y="829990"/>
          <a:ext cx="3790835" cy="20874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9BA3829-9154-60F8-535D-83656F58F5F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25752673"/>
              </p:ext>
            </p:extLst>
          </p:nvPr>
        </p:nvGraphicFramePr>
        <p:xfrm>
          <a:off x="247807" y="2917452"/>
          <a:ext cx="3840991" cy="19082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BA1DFDF6-6366-9E9B-87C6-1E7FCCF860E8}"/>
              </a:ext>
            </a:extLst>
          </p:cNvPr>
          <p:cNvSpPr txBox="1">
            <a:spLocks/>
          </p:cNvSpPr>
          <p:nvPr/>
        </p:nvSpPr>
        <p:spPr>
          <a:xfrm>
            <a:off x="4572000" y="528473"/>
            <a:ext cx="2192482" cy="301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1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9pPr>
          </a:lstStyle>
          <a:p>
            <a:r>
              <a:rPr lang="en-US" sz="10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 5 Clients 2025</a:t>
            </a: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FDC0318D-4E87-F7DB-5481-5FC4CB2C0A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49274771"/>
              </p:ext>
            </p:extLst>
          </p:nvPr>
        </p:nvGraphicFramePr>
        <p:xfrm>
          <a:off x="4572001" y="2991045"/>
          <a:ext cx="3707998" cy="18347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" name="Google Shape;231;g3694320abce_0_0">
            <a:extLst>
              <a:ext uri="{FF2B5EF4-FFF2-40B4-BE49-F238E27FC236}">
                <a16:creationId xmlns:a16="http://schemas.microsoft.com/office/drawing/2014/main" id="{2B0A03AC-53D6-CD25-98AB-85318C55B581}"/>
              </a:ext>
            </a:extLst>
          </p:cNvPr>
          <p:cNvSpPr/>
          <p:nvPr/>
        </p:nvSpPr>
        <p:spPr>
          <a:xfrm>
            <a:off x="-1" y="403433"/>
            <a:ext cx="8280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34BB97C-9F8F-E590-7EEE-AF394E390A07}"/>
              </a:ext>
            </a:extLst>
          </p:cNvPr>
          <p:cNvSpPr txBox="1">
            <a:spLocks/>
          </p:cNvSpPr>
          <p:nvPr/>
        </p:nvSpPr>
        <p:spPr>
          <a:xfrm>
            <a:off x="247808" y="163063"/>
            <a:ext cx="2808248" cy="2173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D" sz="11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BAB 01 | </a:t>
            </a:r>
            <a:r>
              <a:rPr lang="en-ID" sz="11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 Clients</a:t>
            </a:r>
            <a:endParaRPr lang="en-ID" sz="11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sp>
        <p:nvSpPr>
          <p:cNvPr id="11" name="Google Shape;231;g3694320abce_0_0">
            <a:extLst>
              <a:ext uri="{FF2B5EF4-FFF2-40B4-BE49-F238E27FC236}">
                <a16:creationId xmlns:a16="http://schemas.microsoft.com/office/drawing/2014/main" id="{0FF7C893-B070-D950-D161-130B5301ECC4}"/>
              </a:ext>
            </a:extLst>
          </p:cNvPr>
          <p:cNvSpPr/>
          <p:nvPr/>
        </p:nvSpPr>
        <p:spPr>
          <a:xfrm>
            <a:off x="-1" y="4825750"/>
            <a:ext cx="8748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526226F-4C37-571E-4B2E-CF585E959D62}"/>
              </a:ext>
            </a:extLst>
          </p:cNvPr>
          <p:cNvSpPr txBox="1">
            <a:spLocks/>
          </p:cNvSpPr>
          <p:nvPr/>
        </p:nvSpPr>
        <p:spPr>
          <a:xfrm>
            <a:off x="8428827" y="4843750"/>
            <a:ext cx="319172" cy="2155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900" b="1" dirty="0">
                <a:solidFill>
                  <a:schemeClr val="accent6">
                    <a:lumMod val="10000"/>
                  </a:schemeClr>
                </a:solidFill>
                <a:latin typeface="Arial"/>
                <a:ea typeface="Palatino" pitchFamily="2" charset="77"/>
                <a:cs typeface="Arial"/>
              </a:rPr>
              <a:t>03</a:t>
            </a:r>
            <a:endParaRPr lang="en-US" sz="9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C78CED0-3879-3CE3-2091-96D3784EA5FB}"/>
              </a:ext>
            </a:extLst>
          </p:cNvPr>
          <p:cNvGrpSpPr/>
          <p:nvPr/>
        </p:nvGrpSpPr>
        <p:grpSpPr>
          <a:xfrm>
            <a:off x="8374955" y="177830"/>
            <a:ext cx="660585" cy="808613"/>
            <a:chOff x="8374955" y="177830"/>
            <a:chExt cx="660585" cy="808613"/>
          </a:xfrm>
        </p:grpSpPr>
        <p:pic>
          <p:nvPicPr>
            <p:cNvPr id="14" name="Picture 13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67DBAC21-A6E2-A369-4CE7-C8C95B3DBAC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r="73437"/>
            <a:stretch>
              <a:fillRect/>
            </a:stretch>
          </p:blipFill>
          <p:spPr>
            <a:xfrm>
              <a:off x="8499755" y="177830"/>
              <a:ext cx="410987" cy="501633"/>
            </a:xfrm>
            <a:prstGeom prst="rect">
              <a:avLst/>
            </a:prstGeom>
          </p:spPr>
        </p:pic>
        <p:sp>
          <p:nvSpPr>
            <p:cNvPr id="15" name="Title 1">
              <a:extLst>
                <a:ext uri="{FF2B5EF4-FFF2-40B4-BE49-F238E27FC236}">
                  <a16:creationId xmlns:a16="http://schemas.microsoft.com/office/drawing/2014/main" id="{9F2359E1-C83E-FCC1-FA8A-68DE2265F2A8}"/>
                </a:ext>
              </a:extLst>
            </p:cNvPr>
            <p:cNvSpPr txBox="1">
              <a:spLocks/>
            </p:cNvSpPr>
            <p:nvPr/>
          </p:nvSpPr>
          <p:spPr>
            <a:xfrm>
              <a:off x="8374955" y="641372"/>
              <a:ext cx="660585" cy="3450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1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9pPr>
            </a:lstStyle>
            <a:p>
              <a:pPr algn="ctr"/>
              <a:r>
                <a:rPr lang="en" sz="500" dirty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CORPORATE PLANNING 2026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55820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7433CA-33BB-7246-9B23-3E6A6C1E1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6F9A9-CF7B-9930-E60C-EC275D8B3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807" y="528474"/>
            <a:ext cx="3118848" cy="301517"/>
          </a:xfrm>
        </p:spPr>
        <p:txBody>
          <a:bodyPr/>
          <a:lstStyle/>
          <a:p>
            <a:r>
              <a:rPr lang="en-US" sz="10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 3 valuation purpose based on revenue 2024</a:t>
            </a:r>
            <a:endParaRPr lang="en-ID" sz="1000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261D1825-8DBC-4516-4C2D-EFC3E6B26A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63793883"/>
              </p:ext>
            </p:extLst>
          </p:nvPr>
        </p:nvGraphicFramePr>
        <p:xfrm>
          <a:off x="229948" y="840104"/>
          <a:ext cx="3858850" cy="21521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69D9BFEF-3164-1907-9160-9FE6FDD651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74003075"/>
              </p:ext>
            </p:extLst>
          </p:nvPr>
        </p:nvGraphicFramePr>
        <p:xfrm>
          <a:off x="4572000" y="829990"/>
          <a:ext cx="3790835" cy="20874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BDEB2195-D114-E3D1-BCC2-0D607F189C2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77750504"/>
              </p:ext>
            </p:extLst>
          </p:nvPr>
        </p:nvGraphicFramePr>
        <p:xfrm>
          <a:off x="247807" y="2935740"/>
          <a:ext cx="3840991" cy="19082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D54BC380-0AD2-C5FF-864C-DCD49236F613}"/>
              </a:ext>
            </a:extLst>
          </p:cNvPr>
          <p:cNvSpPr txBox="1">
            <a:spLocks/>
          </p:cNvSpPr>
          <p:nvPr/>
        </p:nvSpPr>
        <p:spPr>
          <a:xfrm>
            <a:off x="4571999" y="528473"/>
            <a:ext cx="3231573" cy="301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1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9pPr>
          </a:lstStyle>
          <a:p>
            <a:r>
              <a:rPr lang="en-US" sz="10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 3 valuation purpose based on revenue 2025</a:t>
            </a: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16EEAA43-0244-B10C-18F2-9302D5F616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90094362"/>
              </p:ext>
            </p:extLst>
          </p:nvPr>
        </p:nvGraphicFramePr>
        <p:xfrm>
          <a:off x="4572001" y="2991045"/>
          <a:ext cx="3707998" cy="18347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" name="Google Shape;231;g3694320abce_0_0">
            <a:extLst>
              <a:ext uri="{FF2B5EF4-FFF2-40B4-BE49-F238E27FC236}">
                <a16:creationId xmlns:a16="http://schemas.microsoft.com/office/drawing/2014/main" id="{D13D352A-0B12-4475-8717-9DCA48BCC0B8}"/>
              </a:ext>
            </a:extLst>
          </p:cNvPr>
          <p:cNvSpPr/>
          <p:nvPr/>
        </p:nvSpPr>
        <p:spPr>
          <a:xfrm>
            <a:off x="-1" y="403433"/>
            <a:ext cx="8280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66D8A27-49A6-21F1-AFF7-2DEB2891BE0E}"/>
              </a:ext>
            </a:extLst>
          </p:cNvPr>
          <p:cNvSpPr txBox="1">
            <a:spLocks/>
          </p:cNvSpPr>
          <p:nvPr/>
        </p:nvSpPr>
        <p:spPr>
          <a:xfrm>
            <a:off x="247807" y="163063"/>
            <a:ext cx="3283897" cy="2173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D" sz="11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BAB 01 | </a:t>
            </a:r>
            <a:r>
              <a:rPr lang="en-ID" sz="11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 v</a:t>
            </a:r>
            <a:r>
              <a:rPr lang="en-US" sz="1100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aluation</a:t>
            </a:r>
            <a:r>
              <a:rPr lang="en-US" sz="11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purpose based on revenue</a:t>
            </a:r>
            <a:endParaRPr lang="en-ID" sz="11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sp>
        <p:nvSpPr>
          <p:cNvPr id="11" name="Google Shape;231;g3694320abce_0_0">
            <a:extLst>
              <a:ext uri="{FF2B5EF4-FFF2-40B4-BE49-F238E27FC236}">
                <a16:creationId xmlns:a16="http://schemas.microsoft.com/office/drawing/2014/main" id="{5907DDFF-361C-5122-42A4-89171E58BC3E}"/>
              </a:ext>
            </a:extLst>
          </p:cNvPr>
          <p:cNvSpPr/>
          <p:nvPr/>
        </p:nvSpPr>
        <p:spPr>
          <a:xfrm>
            <a:off x="-1" y="4825750"/>
            <a:ext cx="8748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3303874-198C-8AAE-CDB7-DD687ED12EFA}"/>
              </a:ext>
            </a:extLst>
          </p:cNvPr>
          <p:cNvSpPr txBox="1">
            <a:spLocks/>
          </p:cNvSpPr>
          <p:nvPr/>
        </p:nvSpPr>
        <p:spPr>
          <a:xfrm>
            <a:off x="8428827" y="4843750"/>
            <a:ext cx="319172" cy="2155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9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04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DC1FD10-468C-F4A0-A873-4E3B6F6A23A2}"/>
              </a:ext>
            </a:extLst>
          </p:cNvPr>
          <p:cNvGrpSpPr/>
          <p:nvPr/>
        </p:nvGrpSpPr>
        <p:grpSpPr>
          <a:xfrm>
            <a:off x="8374955" y="177830"/>
            <a:ext cx="660585" cy="808613"/>
            <a:chOff x="8374955" y="177830"/>
            <a:chExt cx="660585" cy="808613"/>
          </a:xfrm>
        </p:grpSpPr>
        <p:pic>
          <p:nvPicPr>
            <p:cNvPr id="14" name="Picture 13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193BC13F-1B31-09AB-791A-D58159806A2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r="73437"/>
            <a:stretch>
              <a:fillRect/>
            </a:stretch>
          </p:blipFill>
          <p:spPr>
            <a:xfrm>
              <a:off x="8499755" y="177830"/>
              <a:ext cx="410987" cy="501633"/>
            </a:xfrm>
            <a:prstGeom prst="rect">
              <a:avLst/>
            </a:prstGeom>
          </p:spPr>
        </p:pic>
        <p:sp>
          <p:nvSpPr>
            <p:cNvPr id="15" name="Title 1">
              <a:extLst>
                <a:ext uri="{FF2B5EF4-FFF2-40B4-BE49-F238E27FC236}">
                  <a16:creationId xmlns:a16="http://schemas.microsoft.com/office/drawing/2014/main" id="{18889F00-E45E-E2B7-D606-51862FF709BB}"/>
                </a:ext>
              </a:extLst>
            </p:cNvPr>
            <p:cNvSpPr txBox="1">
              <a:spLocks/>
            </p:cNvSpPr>
            <p:nvPr/>
          </p:nvSpPr>
          <p:spPr>
            <a:xfrm>
              <a:off x="8374955" y="641372"/>
              <a:ext cx="660585" cy="3450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1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9pPr>
            </a:lstStyle>
            <a:p>
              <a:pPr algn="ctr"/>
              <a:r>
                <a:rPr lang="en" sz="500" dirty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CORPORATE PLANNING 2026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140330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09;p37">
            <a:extLst>
              <a:ext uri="{FF2B5EF4-FFF2-40B4-BE49-F238E27FC236}">
                <a16:creationId xmlns:a16="http://schemas.microsoft.com/office/drawing/2014/main" id="{D27980BF-E8DD-88BF-1E8C-54E54204787D}"/>
              </a:ext>
            </a:extLst>
          </p:cNvPr>
          <p:cNvSpPr/>
          <p:nvPr/>
        </p:nvSpPr>
        <p:spPr>
          <a:xfrm>
            <a:off x="263969" y="1046541"/>
            <a:ext cx="8016029" cy="321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185" indent="-330189">
              <a:lnSpc>
                <a:spcPct val="115000"/>
              </a:lnSpc>
              <a:buClr>
                <a:schemeClr val="dk1"/>
              </a:buClr>
              <a:buSzPts val="1600"/>
              <a:buFont typeface="Palanquin"/>
              <a:buChar char="●"/>
            </a:pPr>
            <a:r>
              <a:rPr lang="en-US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There are 10% new clients, higher 5% than the previous year;</a:t>
            </a:r>
          </a:p>
        </p:txBody>
      </p:sp>
      <p:sp>
        <p:nvSpPr>
          <p:cNvPr id="3" name="Google Shape;309;p37">
            <a:extLst>
              <a:ext uri="{FF2B5EF4-FFF2-40B4-BE49-F238E27FC236}">
                <a16:creationId xmlns:a16="http://schemas.microsoft.com/office/drawing/2014/main" id="{F114BC1F-3E7E-34E6-D865-7A18036C0379}"/>
              </a:ext>
            </a:extLst>
          </p:cNvPr>
          <p:cNvSpPr/>
          <p:nvPr/>
        </p:nvSpPr>
        <p:spPr>
          <a:xfrm>
            <a:off x="3284342" y="2026475"/>
            <a:ext cx="2751300" cy="18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185" indent="-330189">
              <a:lnSpc>
                <a:spcPct val="115000"/>
              </a:lnSpc>
              <a:buClr>
                <a:schemeClr val="dk1"/>
              </a:buClr>
              <a:buSzPts val="1600"/>
              <a:buFont typeface="Palanquin"/>
              <a:buChar char="●"/>
            </a:pPr>
            <a:endParaRPr sz="1600" dirty="0">
              <a:solidFill>
                <a:schemeClr val="dk1"/>
              </a:solidFill>
              <a:latin typeface="Arial" panose="020B0604020202020204" pitchFamily="34" charset="0"/>
              <a:ea typeface="Palanquin"/>
              <a:cs typeface="Arial" panose="020B0604020202020204" pitchFamily="34" charset="0"/>
              <a:sym typeface="Palanquin"/>
            </a:endParaRPr>
          </a:p>
        </p:txBody>
      </p:sp>
      <p:sp>
        <p:nvSpPr>
          <p:cNvPr id="4" name="Google Shape;309;p37">
            <a:extLst>
              <a:ext uri="{FF2B5EF4-FFF2-40B4-BE49-F238E27FC236}">
                <a16:creationId xmlns:a16="http://schemas.microsoft.com/office/drawing/2014/main" id="{1452C93D-F08F-3302-9774-E6FEAB29612A}"/>
              </a:ext>
            </a:extLst>
          </p:cNvPr>
          <p:cNvSpPr/>
          <p:nvPr/>
        </p:nvSpPr>
        <p:spPr>
          <a:xfrm>
            <a:off x="6211622" y="2026475"/>
            <a:ext cx="2751300" cy="18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185" indent="-330189">
              <a:lnSpc>
                <a:spcPct val="115000"/>
              </a:lnSpc>
              <a:buClr>
                <a:schemeClr val="dk1"/>
              </a:buClr>
              <a:buSzPts val="1600"/>
              <a:buFont typeface="Palanquin"/>
              <a:buChar char="●"/>
            </a:pPr>
            <a:endParaRPr sz="1600" dirty="0">
              <a:solidFill>
                <a:schemeClr val="dk1"/>
              </a:solidFill>
              <a:latin typeface="Arial" panose="020B0604020202020204" pitchFamily="34" charset="0"/>
              <a:ea typeface="Palanquin"/>
              <a:cs typeface="Arial" panose="020B0604020202020204" pitchFamily="34" charset="0"/>
              <a:sym typeface="Palanquin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29586D-3DE1-4C8F-602A-7DAA429230DC}"/>
              </a:ext>
            </a:extLst>
          </p:cNvPr>
          <p:cNvSpPr txBox="1"/>
          <p:nvPr/>
        </p:nvSpPr>
        <p:spPr>
          <a:xfrm>
            <a:off x="263969" y="1701061"/>
            <a:ext cx="8016029" cy="321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85" indent="-330189">
              <a:lnSpc>
                <a:spcPct val="115000"/>
              </a:lnSpc>
              <a:buClr>
                <a:schemeClr val="dk1"/>
              </a:buClr>
              <a:buSzPts val="1600"/>
              <a:buFont typeface="Palanquin"/>
              <a:buChar char="●"/>
            </a:pPr>
            <a:r>
              <a:rPr lang="en-US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Ect</a:t>
            </a:r>
            <a:endParaRPr lang="en-US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C99553-2A16-0BC6-2B2A-B6BE5C2EDF62}"/>
              </a:ext>
            </a:extLst>
          </p:cNvPr>
          <p:cNvSpPr txBox="1"/>
          <p:nvPr/>
        </p:nvSpPr>
        <p:spPr>
          <a:xfrm>
            <a:off x="263969" y="1371795"/>
            <a:ext cx="8016029" cy="321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85" indent="-330189">
              <a:lnSpc>
                <a:spcPct val="115000"/>
              </a:lnSpc>
              <a:buClr>
                <a:schemeClr val="dk1"/>
              </a:buClr>
              <a:buSzPts val="1600"/>
              <a:buFont typeface="Palanquin"/>
              <a:buChar char="●"/>
            </a:pPr>
            <a:r>
              <a:rPr lang="en-US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Most of our clients are from finance sector representing 10% of the client</a:t>
            </a:r>
          </a:p>
        </p:txBody>
      </p:sp>
      <p:sp>
        <p:nvSpPr>
          <p:cNvPr id="5" name="Google Shape;231;g3694320abce_0_0">
            <a:extLst>
              <a:ext uri="{FF2B5EF4-FFF2-40B4-BE49-F238E27FC236}">
                <a16:creationId xmlns:a16="http://schemas.microsoft.com/office/drawing/2014/main" id="{A200941F-629E-ABCA-048B-CDA89287DA28}"/>
              </a:ext>
            </a:extLst>
          </p:cNvPr>
          <p:cNvSpPr/>
          <p:nvPr/>
        </p:nvSpPr>
        <p:spPr>
          <a:xfrm>
            <a:off x="-1" y="403433"/>
            <a:ext cx="8280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9B21BE4-29E9-7C4A-A3E5-2BE4C6BC3AD8}"/>
              </a:ext>
            </a:extLst>
          </p:cNvPr>
          <p:cNvSpPr txBox="1">
            <a:spLocks/>
          </p:cNvSpPr>
          <p:nvPr/>
        </p:nvSpPr>
        <p:spPr>
          <a:xfrm>
            <a:off x="247808" y="163063"/>
            <a:ext cx="2808248" cy="2173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D" sz="11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BAB 01 | </a:t>
            </a:r>
            <a:r>
              <a:rPr lang="en-ID" sz="11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&amp; Client - Highlights</a:t>
            </a:r>
            <a:endParaRPr lang="en-ID" sz="11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sp>
        <p:nvSpPr>
          <p:cNvPr id="7" name="Google Shape;231;g3694320abce_0_0">
            <a:extLst>
              <a:ext uri="{FF2B5EF4-FFF2-40B4-BE49-F238E27FC236}">
                <a16:creationId xmlns:a16="http://schemas.microsoft.com/office/drawing/2014/main" id="{D6108229-B747-6614-3B72-B62EC63A5470}"/>
              </a:ext>
            </a:extLst>
          </p:cNvPr>
          <p:cNvSpPr/>
          <p:nvPr/>
        </p:nvSpPr>
        <p:spPr>
          <a:xfrm>
            <a:off x="-1" y="4825750"/>
            <a:ext cx="8748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CA1ED41-7026-EB28-5E4E-279CED379973}"/>
              </a:ext>
            </a:extLst>
          </p:cNvPr>
          <p:cNvSpPr txBox="1">
            <a:spLocks/>
          </p:cNvSpPr>
          <p:nvPr/>
        </p:nvSpPr>
        <p:spPr>
          <a:xfrm>
            <a:off x="8428827" y="4843750"/>
            <a:ext cx="319172" cy="2155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900" b="1" dirty="0">
                <a:solidFill>
                  <a:schemeClr val="accent6">
                    <a:lumMod val="10000"/>
                  </a:schemeClr>
                </a:solidFill>
                <a:latin typeface="Arial"/>
                <a:ea typeface="Palatino" pitchFamily="2" charset="77"/>
                <a:cs typeface="Arial"/>
              </a:rPr>
              <a:t>05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F8FAD32-EEDE-EB82-26C7-3C73763DED44}"/>
              </a:ext>
            </a:extLst>
          </p:cNvPr>
          <p:cNvGrpSpPr/>
          <p:nvPr/>
        </p:nvGrpSpPr>
        <p:grpSpPr>
          <a:xfrm>
            <a:off x="8374955" y="177830"/>
            <a:ext cx="660585" cy="808613"/>
            <a:chOff x="8374955" y="177830"/>
            <a:chExt cx="660585" cy="808613"/>
          </a:xfrm>
        </p:grpSpPr>
        <p:pic>
          <p:nvPicPr>
            <p:cNvPr id="12" name="Picture 11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400A8772-9CD5-B6BD-CFB3-D71FE96AD0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73437"/>
            <a:stretch>
              <a:fillRect/>
            </a:stretch>
          </p:blipFill>
          <p:spPr>
            <a:xfrm>
              <a:off x="8499755" y="177830"/>
              <a:ext cx="410987" cy="501633"/>
            </a:xfrm>
            <a:prstGeom prst="rect">
              <a:avLst/>
            </a:prstGeom>
          </p:spPr>
        </p:pic>
        <p:sp>
          <p:nvSpPr>
            <p:cNvPr id="14" name="Title 1">
              <a:extLst>
                <a:ext uri="{FF2B5EF4-FFF2-40B4-BE49-F238E27FC236}">
                  <a16:creationId xmlns:a16="http://schemas.microsoft.com/office/drawing/2014/main" id="{94A67CBD-F1D4-5637-5A25-ABCFC9BF8018}"/>
                </a:ext>
              </a:extLst>
            </p:cNvPr>
            <p:cNvSpPr txBox="1">
              <a:spLocks/>
            </p:cNvSpPr>
            <p:nvPr/>
          </p:nvSpPr>
          <p:spPr>
            <a:xfrm>
              <a:off x="8374955" y="641372"/>
              <a:ext cx="660585" cy="3450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1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9pPr>
            </a:lstStyle>
            <a:p>
              <a:pPr algn="ctr"/>
              <a:r>
                <a:rPr lang="en" sz="500" dirty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CORPORATE PLANNING 2026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E4F72EEC-2452-99E4-411A-AE3FFAFF7938}"/>
              </a:ext>
            </a:extLst>
          </p:cNvPr>
          <p:cNvSpPr txBox="1"/>
          <p:nvPr/>
        </p:nvSpPr>
        <p:spPr>
          <a:xfrm>
            <a:off x="263969" y="2030327"/>
            <a:ext cx="8016029" cy="321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85" indent="-330189">
              <a:lnSpc>
                <a:spcPct val="115000"/>
              </a:lnSpc>
              <a:buClr>
                <a:schemeClr val="dk1"/>
              </a:buClr>
              <a:buSzPts val="1600"/>
              <a:buFont typeface="Palanquin"/>
              <a:buChar char="●"/>
            </a:pPr>
            <a:r>
              <a:rPr lang="en-US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Ect</a:t>
            </a:r>
            <a:endParaRPr lang="en-US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9AEF8F-1D8C-F341-7C21-69F4D50CDC06}"/>
              </a:ext>
            </a:extLst>
          </p:cNvPr>
          <p:cNvSpPr txBox="1"/>
          <p:nvPr/>
        </p:nvSpPr>
        <p:spPr>
          <a:xfrm>
            <a:off x="263969" y="2680835"/>
            <a:ext cx="8016029" cy="321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85" indent="-330189">
              <a:lnSpc>
                <a:spcPct val="115000"/>
              </a:lnSpc>
              <a:buClr>
                <a:schemeClr val="dk1"/>
              </a:buClr>
              <a:buSzPts val="1600"/>
              <a:buFont typeface="Palanquin"/>
              <a:buChar char="●"/>
            </a:pPr>
            <a:r>
              <a:rPr lang="en-US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Ect</a:t>
            </a:r>
            <a:endParaRPr lang="en-US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1EB6B4-8A3B-9DCD-39E1-A628A0644396}"/>
              </a:ext>
            </a:extLst>
          </p:cNvPr>
          <p:cNvSpPr txBox="1"/>
          <p:nvPr/>
        </p:nvSpPr>
        <p:spPr>
          <a:xfrm>
            <a:off x="263969" y="2351569"/>
            <a:ext cx="8016029" cy="321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85" indent="-330189">
              <a:lnSpc>
                <a:spcPct val="115000"/>
              </a:lnSpc>
              <a:buClr>
                <a:schemeClr val="dk1"/>
              </a:buClr>
              <a:buSzPts val="1600"/>
              <a:buFont typeface="Palanquin"/>
              <a:buChar char="●"/>
            </a:pPr>
            <a:r>
              <a:rPr lang="en-US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Ect</a:t>
            </a:r>
            <a:endParaRPr lang="en-US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BED65B-DA52-A51B-95FC-8134DD18A863}"/>
              </a:ext>
            </a:extLst>
          </p:cNvPr>
          <p:cNvSpPr txBox="1"/>
          <p:nvPr/>
        </p:nvSpPr>
        <p:spPr>
          <a:xfrm>
            <a:off x="263969" y="3010101"/>
            <a:ext cx="8016029" cy="321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85" indent="-330189">
              <a:lnSpc>
                <a:spcPct val="115000"/>
              </a:lnSpc>
              <a:buClr>
                <a:schemeClr val="dk1"/>
              </a:buClr>
              <a:buSzPts val="1600"/>
              <a:buFont typeface="Palanquin"/>
              <a:buChar char="●"/>
            </a:pPr>
            <a:r>
              <a:rPr lang="en-US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Ect</a:t>
            </a:r>
            <a:endParaRPr lang="en-US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0F521D-264A-2918-4799-2498FF169E86}"/>
              </a:ext>
            </a:extLst>
          </p:cNvPr>
          <p:cNvSpPr txBox="1"/>
          <p:nvPr/>
        </p:nvSpPr>
        <p:spPr>
          <a:xfrm>
            <a:off x="263969" y="3660609"/>
            <a:ext cx="8016029" cy="321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85" indent="-330189">
              <a:lnSpc>
                <a:spcPct val="115000"/>
              </a:lnSpc>
              <a:buClr>
                <a:schemeClr val="dk1"/>
              </a:buClr>
              <a:buSzPts val="1600"/>
              <a:buFont typeface="Palanquin"/>
              <a:buChar char="●"/>
            </a:pPr>
            <a:r>
              <a:rPr lang="en-US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Ect</a:t>
            </a:r>
            <a:endParaRPr lang="en-US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607FCB-2103-5DC6-6179-B4C267E334DF}"/>
              </a:ext>
            </a:extLst>
          </p:cNvPr>
          <p:cNvSpPr txBox="1"/>
          <p:nvPr/>
        </p:nvSpPr>
        <p:spPr>
          <a:xfrm>
            <a:off x="263969" y="3331343"/>
            <a:ext cx="8016029" cy="321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85" indent="-330189">
              <a:lnSpc>
                <a:spcPct val="115000"/>
              </a:lnSpc>
              <a:buClr>
                <a:schemeClr val="dk1"/>
              </a:buClr>
              <a:buSzPts val="1600"/>
              <a:buFont typeface="Palanquin"/>
              <a:buChar char="●"/>
            </a:pPr>
            <a:r>
              <a:rPr lang="en-US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Ect</a:t>
            </a:r>
            <a:endParaRPr lang="en-US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026F66D-0BD7-8CC6-24AF-8045C01AA1B8}"/>
              </a:ext>
            </a:extLst>
          </p:cNvPr>
          <p:cNvSpPr txBox="1"/>
          <p:nvPr/>
        </p:nvSpPr>
        <p:spPr>
          <a:xfrm>
            <a:off x="263969" y="3989875"/>
            <a:ext cx="8016029" cy="321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85" indent="-330189">
              <a:lnSpc>
                <a:spcPct val="115000"/>
              </a:lnSpc>
              <a:buClr>
                <a:schemeClr val="dk1"/>
              </a:buClr>
              <a:buSzPts val="1600"/>
              <a:buFont typeface="Palanquin"/>
              <a:buChar char="●"/>
            </a:pPr>
            <a:r>
              <a:rPr lang="en-US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Ect</a:t>
            </a:r>
            <a:endParaRPr lang="en-US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43190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Shape 250">
          <a:extLst>
            <a:ext uri="{FF2B5EF4-FFF2-40B4-BE49-F238E27FC236}">
              <a16:creationId xmlns:a16="http://schemas.microsoft.com/office/drawing/2014/main" id="{C31A5A26-124B-1292-3CE1-324DAF96F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31;g3694320abce_0_0">
            <a:extLst>
              <a:ext uri="{FF2B5EF4-FFF2-40B4-BE49-F238E27FC236}">
                <a16:creationId xmlns:a16="http://schemas.microsoft.com/office/drawing/2014/main" id="{5800A384-F96E-71FF-E11F-C1D3BEB6CA9F}"/>
              </a:ext>
            </a:extLst>
          </p:cNvPr>
          <p:cNvSpPr/>
          <p:nvPr/>
        </p:nvSpPr>
        <p:spPr>
          <a:xfrm>
            <a:off x="2570857" y="2597846"/>
            <a:ext cx="6573145" cy="85893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2000">
              <a:solidFill>
                <a:schemeClr val="lt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0130FE5-E5F9-1822-8E94-94A084E75B06}"/>
              </a:ext>
            </a:extLst>
          </p:cNvPr>
          <p:cNvSpPr txBox="1">
            <a:spLocks/>
          </p:cNvSpPr>
          <p:nvPr/>
        </p:nvSpPr>
        <p:spPr>
          <a:xfrm>
            <a:off x="2570855" y="2120289"/>
            <a:ext cx="3404060" cy="477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5200" b="1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9pPr>
          </a:lstStyle>
          <a:p>
            <a:pPr algn="l"/>
            <a:r>
              <a:rPr lang="en-ID" sz="24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Operational Evaluation</a:t>
            </a:r>
            <a:endParaRPr lang="en-US" sz="2000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2191E64-24EE-7912-6488-0ED99A2B7C0A}"/>
              </a:ext>
            </a:extLst>
          </p:cNvPr>
          <p:cNvGrpSpPr/>
          <p:nvPr/>
        </p:nvGrpSpPr>
        <p:grpSpPr>
          <a:xfrm>
            <a:off x="1552624" y="2014883"/>
            <a:ext cx="910181" cy="1383082"/>
            <a:chOff x="1552624" y="2160811"/>
            <a:chExt cx="910181" cy="1383082"/>
          </a:xfrm>
        </p:grpSpPr>
        <p:pic>
          <p:nvPicPr>
            <p:cNvPr id="3" name="Picture 2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55DA9180-7458-7D6E-81A5-4E5A07DFB9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73437"/>
            <a:stretch>
              <a:fillRect/>
            </a:stretch>
          </p:blipFill>
          <p:spPr>
            <a:xfrm>
              <a:off x="1552624" y="2160811"/>
              <a:ext cx="910181" cy="1045856"/>
            </a:xfrm>
            <a:prstGeom prst="rect">
              <a:avLst/>
            </a:prstGeom>
          </p:spPr>
        </p:pic>
        <p:sp>
          <p:nvSpPr>
            <p:cNvPr id="4" name="Title 1">
              <a:extLst>
                <a:ext uri="{FF2B5EF4-FFF2-40B4-BE49-F238E27FC236}">
                  <a16:creationId xmlns:a16="http://schemas.microsoft.com/office/drawing/2014/main" id="{7D9A8A51-5264-0298-3A58-ED7C0F36DA9F}"/>
                </a:ext>
              </a:extLst>
            </p:cNvPr>
            <p:cNvSpPr txBox="1">
              <a:spLocks/>
            </p:cNvSpPr>
            <p:nvPr/>
          </p:nvSpPr>
          <p:spPr>
            <a:xfrm>
              <a:off x="1552624" y="3206667"/>
              <a:ext cx="910181" cy="33722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1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9pPr>
            </a:lstStyle>
            <a:p>
              <a:pPr algn="ctr"/>
              <a:r>
                <a:rPr lang="en" sz="700" dirty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CORPORATE PLANNING </a:t>
              </a:r>
            </a:p>
            <a:p>
              <a:pPr algn="ctr"/>
              <a:r>
                <a:rPr lang="en" sz="700" dirty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2026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396484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31;g3694320abce_0_0">
            <a:extLst>
              <a:ext uri="{FF2B5EF4-FFF2-40B4-BE49-F238E27FC236}">
                <a16:creationId xmlns:a16="http://schemas.microsoft.com/office/drawing/2014/main" id="{466CBFD9-BCE7-EFAB-62E6-44E52B915C67}"/>
              </a:ext>
            </a:extLst>
          </p:cNvPr>
          <p:cNvSpPr/>
          <p:nvPr/>
        </p:nvSpPr>
        <p:spPr>
          <a:xfrm>
            <a:off x="-1" y="403433"/>
            <a:ext cx="8280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11EE792-0FFF-63FC-DEB0-D5DCC9F4D357}"/>
              </a:ext>
            </a:extLst>
          </p:cNvPr>
          <p:cNvSpPr txBox="1">
            <a:spLocks/>
          </p:cNvSpPr>
          <p:nvPr/>
        </p:nvSpPr>
        <p:spPr>
          <a:xfrm>
            <a:off x="247808" y="163063"/>
            <a:ext cx="3482620" cy="2173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D" sz="11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BAB 02 | </a:t>
            </a:r>
            <a:r>
              <a:rPr lang="en-US" sz="11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Contract Value vs Completion Time - Highlights</a:t>
            </a:r>
            <a:endParaRPr lang="en-ID" sz="11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sp>
        <p:nvSpPr>
          <p:cNvPr id="7" name="Google Shape;231;g3694320abce_0_0">
            <a:extLst>
              <a:ext uri="{FF2B5EF4-FFF2-40B4-BE49-F238E27FC236}">
                <a16:creationId xmlns:a16="http://schemas.microsoft.com/office/drawing/2014/main" id="{DED6C633-5CD9-7E37-5EA3-CFF7D054B942}"/>
              </a:ext>
            </a:extLst>
          </p:cNvPr>
          <p:cNvSpPr/>
          <p:nvPr/>
        </p:nvSpPr>
        <p:spPr>
          <a:xfrm>
            <a:off x="-1" y="4825750"/>
            <a:ext cx="8748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C5CB16B-87E3-8586-A0C6-B065EF4DE04A}"/>
              </a:ext>
            </a:extLst>
          </p:cNvPr>
          <p:cNvSpPr txBox="1">
            <a:spLocks/>
          </p:cNvSpPr>
          <p:nvPr/>
        </p:nvSpPr>
        <p:spPr>
          <a:xfrm>
            <a:off x="8428827" y="4843750"/>
            <a:ext cx="319172" cy="2155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9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07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A93E996-1768-6855-661F-C9469FDB8B5B}"/>
              </a:ext>
            </a:extLst>
          </p:cNvPr>
          <p:cNvGrpSpPr/>
          <p:nvPr/>
        </p:nvGrpSpPr>
        <p:grpSpPr>
          <a:xfrm>
            <a:off x="8374955" y="177830"/>
            <a:ext cx="660585" cy="808613"/>
            <a:chOff x="8374955" y="177830"/>
            <a:chExt cx="660585" cy="808613"/>
          </a:xfrm>
        </p:grpSpPr>
        <p:pic>
          <p:nvPicPr>
            <p:cNvPr id="11" name="Picture 10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A53763DB-B3C8-2722-CD69-02CDDE73CF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73437"/>
            <a:stretch>
              <a:fillRect/>
            </a:stretch>
          </p:blipFill>
          <p:spPr>
            <a:xfrm>
              <a:off x="8499755" y="177830"/>
              <a:ext cx="410987" cy="501633"/>
            </a:xfrm>
            <a:prstGeom prst="rect">
              <a:avLst/>
            </a:prstGeom>
          </p:spPr>
        </p:pic>
        <p:sp>
          <p:nvSpPr>
            <p:cNvPr id="12" name="Title 1">
              <a:extLst>
                <a:ext uri="{FF2B5EF4-FFF2-40B4-BE49-F238E27FC236}">
                  <a16:creationId xmlns:a16="http://schemas.microsoft.com/office/drawing/2014/main" id="{09FD7959-46C4-1EC4-1C8B-3254BEF5C72E}"/>
                </a:ext>
              </a:extLst>
            </p:cNvPr>
            <p:cNvSpPr txBox="1">
              <a:spLocks/>
            </p:cNvSpPr>
            <p:nvPr/>
          </p:nvSpPr>
          <p:spPr>
            <a:xfrm>
              <a:off x="8374955" y="641372"/>
              <a:ext cx="660585" cy="3450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1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9pPr>
            </a:lstStyle>
            <a:p>
              <a:pPr algn="ctr"/>
              <a:r>
                <a:rPr lang="en" sz="500" dirty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CORPORATE PLANNING 2026</a:t>
              </a:r>
            </a:p>
          </p:txBody>
        </p:sp>
      </p:grpSp>
      <p:sp>
        <p:nvSpPr>
          <p:cNvPr id="13" name="Google Shape;309;p37">
            <a:extLst>
              <a:ext uri="{FF2B5EF4-FFF2-40B4-BE49-F238E27FC236}">
                <a16:creationId xmlns:a16="http://schemas.microsoft.com/office/drawing/2014/main" id="{2F6A3D3F-0A08-6258-FD9C-7075CE06F3E6}"/>
              </a:ext>
            </a:extLst>
          </p:cNvPr>
          <p:cNvSpPr/>
          <p:nvPr/>
        </p:nvSpPr>
        <p:spPr>
          <a:xfrm>
            <a:off x="263969" y="1046541"/>
            <a:ext cx="8016029" cy="321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185" indent="-330189">
              <a:lnSpc>
                <a:spcPct val="115000"/>
              </a:lnSpc>
              <a:buClr>
                <a:schemeClr val="dk1"/>
              </a:buClr>
              <a:buSzPts val="1600"/>
              <a:buFont typeface="Palanquin"/>
              <a:buChar char="●"/>
            </a:pPr>
            <a:r>
              <a:rPr lang="en-US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Revenue of property division has been doubled from the set target due to new clients</a:t>
            </a:r>
            <a:endParaRPr lang="en-US" dirty="0">
              <a:solidFill>
                <a:sysClr val="windowText" lastClr="000000"/>
              </a:solidFill>
              <a:latin typeface="Arial" panose="020B0604020202020204" pitchFamily="34" charset="0"/>
              <a:ea typeface="Palanquin"/>
              <a:cs typeface="Arial" panose="020B0604020202020204" pitchFamily="34" charset="0"/>
              <a:sym typeface="Palanquin"/>
            </a:endParaRPr>
          </a:p>
        </p:txBody>
      </p:sp>
      <p:sp>
        <p:nvSpPr>
          <p:cNvPr id="14" name="Google Shape;309;p37">
            <a:extLst>
              <a:ext uri="{FF2B5EF4-FFF2-40B4-BE49-F238E27FC236}">
                <a16:creationId xmlns:a16="http://schemas.microsoft.com/office/drawing/2014/main" id="{A065BFC0-6FFA-065E-0485-3FE719929555}"/>
              </a:ext>
            </a:extLst>
          </p:cNvPr>
          <p:cNvSpPr/>
          <p:nvPr/>
        </p:nvSpPr>
        <p:spPr>
          <a:xfrm>
            <a:off x="3284342" y="2026475"/>
            <a:ext cx="2751300" cy="18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185" indent="-330189">
              <a:lnSpc>
                <a:spcPct val="115000"/>
              </a:lnSpc>
              <a:buClr>
                <a:schemeClr val="dk1"/>
              </a:buClr>
              <a:buSzPts val="1600"/>
              <a:buFont typeface="Palanquin"/>
              <a:buChar char="●"/>
            </a:pPr>
            <a:endParaRPr sz="1600" dirty="0">
              <a:solidFill>
                <a:schemeClr val="dk1"/>
              </a:solidFill>
              <a:latin typeface="Arial" panose="020B0604020202020204" pitchFamily="34" charset="0"/>
              <a:ea typeface="Palanquin"/>
              <a:cs typeface="Arial" panose="020B0604020202020204" pitchFamily="34" charset="0"/>
              <a:sym typeface="Palanquin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80FC9C-8166-9B8F-D3A7-41E26DA00A53}"/>
              </a:ext>
            </a:extLst>
          </p:cNvPr>
          <p:cNvSpPr txBox="1"/>
          <p:nvPr/>
        </p:nvSpPr>
        <p:spPr>
          <a:xfrm>
            <a:off x="263969" y="1701061"/>
            <a:ext cx="8016029" cy="321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85" indent="-330189">
              <a:lnSpc>
                <a:spcPct val="115000"/>
              </a:lnSpc>
              <a:buClr>
                <a:schemeClr val="dk1"/>
              </a:buClr>
              <a:buSzPts val="1600"/>
              <a:buFont typeface="Palanquin"/>
              <a:buChar char="●"/>
            </a:pPr>
            <a:r>
              <a:rPr lang="en-US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Ect</a:t>
            </a:r>
            <a:endParaRPr lang="en-US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F937C3-9C22-E654-AE69-E465D1F90EE8}"/>
              </a:ext>
            </a:extLst>
          </p:cNvPr>
          <p:cNvSpPr txBox="1"/>
          <p:nvPr/>
        </p:nvSpPr>
        <p:spPr>
          <a:xfrm>
            <a:off x="263969" y="1371795"/>
            <a:ext cx="8016029" cy="321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85" indent="-330189">
              <a:lnSpc>
                <a:spcPct val="115000"/>
              </a:lnSpc>
              <a:buClr>
                <a:schemeClr val="dk1"/>
              </a:buClr>
              <a:buSzPts val="1600"/>
              <a:buFont typeface="Palanquin"/>
              <a:buChar char="●"/>
            </a:pPr>
            <a:r>
              <a:rPr lang="en-US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Revenue of property division has been doubled from the set target due to new clients</a:t>
            </a:r>
            <a:endParaRPr lang="en-US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nquin"/>
              <a:cs typeface="Arial" panose="020B0604020202020204" pitchFamily="34" charset="0"/>
              <a:sym typeface="Palanquin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EB0185-1F75-C4D0-3589-67781695525F}"/>
              </a:ext>
            </a:extLst>
          </p:cNvPr>
          <p:cNvSpPr txBox="1"/>
          <p:nvPr/>
        </p:nvSpPr>
        <p:spPr>
          <a:xfrm>
            <a:off x="263969" y="2030327"/>
            <a:ext cx="8016029" cy="321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85" indent="-330189">
              <a:lnSpc>
                <a:spcPct val="115000"/>
              </a:lnSpc>
              <a:buClr>
                <a:schemeClr val="dk1"/>
              </a:buClr>
              <a:buSzPts val="1600"/>
              <a:buFont typeface="Palanquin"/>
              <a:buChar char="●"/>
            </a:pPr>
            <a:r>
              <a:rPr lang="en-US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Ect</a:t>
            </a:r>
            <a:endParaRPr lang="en-US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243315C-566C-C850-ACDD-1EE4219D627F}"/>
              </a:ext>
            </a:extLst>
          </p:cNvPr>
          <p:cNvSpPr txBox="1"/>
          <p:nvPr/>
        </p:nvSpPr>
        <p:spPr>
          <a:xfrm>
            <a:off x="263969" y="2680835"/>
            <a:ext cx="8016029" cy="321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85" indent="-330189">
              <a:lnSpc>
                <a:spcPct val="115000"/>
              </a:lnSpc>
              <a:buClr>
                <a:schemeClr val="dk1"/>
              </a:buClr>
              <a:buSzPts val="1600"/>
              <a:buFont typeface="Palanquin"/>
              <a:buChar char="●"/>
            </a:pPr>
            <a:r>
              <a:rPr lang="en-US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Ect</a:t>
            </a:r>
            <a:endParaRPr lang="en-US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4051B29-AA41-D33C-A903-6C531C8C3C5E}"/>
              </a:ext>
            </a:extLst>
          </p:cNvPr>
          <p:cNvSpPr txBox="1"/>
          <p:nvPr/>
        </p:nvSpPr>
        <p:spPr>
          <a:xfrm>
            <a:off x="263969" y="2351569"/>
            <a:ext cx="8016029" cy="321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85" indent="-330189">
              <a:lnSpc>
                <a:spcPct val="115000"/>
              </a:lnSpc>
              <a:buClr>
                <a:schemeClr val="dk1"/>
              </a:buClr>
              <a:buSzPts val="1600"/>
              <a:buFont typeface="Palanquin"/>
              <a:buChar char="●"/>
            </a:pPr>
            <a:r>
              <a:rPr lang="en-US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Ect</a:t>
            </a:r>
            <a:endParaRPr lang="en-US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1D791B-3F3C-AB6F-9254-2BE19E1BF971}"/>
              </a:ext>
            </a:extLst>
          </p:cNvPr>
          <p:cNvSpPr txBox="1"/>
          <p:nvPr/>
        </p:nvSpPr>
        <p:spPr>
          <a:xfrm>
            <a:off x="263969" y="3010101"/>
            <a:ext cx="8016029" cy="321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85" indent="-330189">
              <a:lnSpc>
                <a:spcPct val="115000"/>
              </a:lnSpc>
              <a:buClr>
                <a:schemeClr val="dk1"/>
              </a:buClr>
              <a:buSzPts val="1600"/>
              <a:buFont typeface="Palanquin"/>
              <a:buChar char="●"/>
            </a:pPr>
            <a:r>
              <a:rPr lang="en-US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Ect</a:t>
            </a:r>
            <a:endParaRPr lang="en-US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10766CE-2CB1-DB43-AEC6-9FC6E2E81E47}"/>
              </a:ext>
            </a:extLst>
          </p:cNvPr>
          <p:cNvSpPr txBox="1"/>
          <p:nvPr/>
        </p:nvSpPr>
        <p:spPr>
          <a:xfrm>
            <a:off x="263969" y="3660609"/>
            <a:ext cx="8016029" cy="321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85" indent="-330189">
              <a:lnSpc>
                <a:spcPct val="115000"/>
              </a:lnSpc>
              <a:buClr>
                <a:schemeClr val="dk1"/>
              </a:buClr>
              <a:buSzPts val="1600"/>
              <a:buFont typeface="Palanquin"/>
              <a:buChar char="●"/>
            </a:pPr>
            <a:r>
              <a:rPr lang="en-US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Ect</a:t>
            </a:r>
            <a:endParaRPr lang="en-US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01CD46E-FD69-AA71-327E-F555B4B45B67}"/>
              </a:ext>
            </a:extLst>
          </p:cNvPr>
          <p:cNvSpPr txBox="1"/>
          <p:nvPr/>
        </p:nvSpPr>
        <p:spPr>
          <a:xfrm>
            <a:off x="263969" y="3331343"/>
            <a:ext cx="8016029" cy="321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85" indent="-330189">
              <a:lnSpc>
                <a:spcPct val="115000"/>
              </a:lnSpc>
              <a:buClr>
                <a:schemeClr val="dk1"/>
              </a:buClr>
              <a:buSzPts val="1600"/>
              <a:buFont typeface="Palanquin"/>
              <a:buChar char="●"/>
            </a:pPr>
            <a:r>
              <a:rPr lang="en-US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Ect</a:t>
            </a:r>
            <a:endParaRPr lang="en-US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3962E9-7AEE-2535-92C9-0DB2CE75CC12}"/>
              </a:ext>
            </a:extLst>
          </p:cNvPr>
          <p:cNvSpPr txBox="1"/>
          <p:nvPr/>
        </p:nvSpPr>
        <p:spPr>
          <a:xfrm>
            <a:off x="263969" y="3989875"/>
            <a:ext cx="8016029" cy="321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85" indent="-330189">
              <a:lnSpc>
                <a:spcPct val="115000"/>
              </a:lnSpc>
              <a:buClr>
                <a:schemeClr val="dk1"/>
              </a:buClr>
              <a:buSzPts val="1600"/>
              <a:buFont typeface="Palanquin"/>
              <a:buChar char="●"/>
            </a:pPr>
            <a:r>
              <a:rPr lang="en-US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Ect</a:t>
            </a:r>
            <a:endParaRPr lang="en-US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98832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E2008E96-8144-B777-6AAA-FE5C42F2CCE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98867551"/>
              </p:ext>
            </p:extLst>
          </p:nvPr>
        </p:nvGraphicFramePr>
        <p:xfrm>
          <a:off x="713225" y="650540"/>
          <a:ext cx="6893824" cy="2042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B2458416-2E14-1113-F02C-CA7DBF67B8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11047425"/>
              </p:ext>
            </p:extLst>
          </p:nvPr>
        </p:nvGraphicFramePr>
        <p:xfrm>
          <a:off x="713225" y="2785760"/>
          <a:ext cx="6893824" cy="170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" name="Google Shape;231;g3694320abce_0_0">
            <a:extLst>
              <a:ext uri="{FF2B5EF4-FFF2-40B4-BE49-F238E27FC236}">
                <a16:creationId xmlns:a16="http://schemas.microsoft.com/office/drawing/2014/main" id="{9613213F-0E74-4092-E2CE-6CE9E5CA4840}"/>
              </a:ext>
            </a:extLst>
          </p:cNvPr>
          <p:cNvSpPr/>
          <p:nvPr/>
        </p:nvSpPr>
        <p:spPr>
          <a:xfrm>
            <a:off x="-1" y="403433"/>
            <a:ext cx="8280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F018134-B46F-EB4C-DABB-75622717414C}"/>
              </a:ext>
            </a:extLst>
          </p:cNvPr>
          <p:cNvSpPr txBox="1">
            <a:spLocks/>
          </p:cNvSpPr>
          <p:nvPr/>
        </p:nvSpPr>
        <p:spPr>
          <a:xfrm>
            <a:off x="247808" y="163063"/>
            <a:ext cx="3482620" cy="2173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D" sz="11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BAB 02 | </a:t>
            </a:r>
            <a:r>
              <a:rPr lang="en-ID" sz="11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5-Year Performance P&amp;L</a:t>
            </a:r>
            <a:endParaRPr lang="en-ID" sz="11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sp>
        <p:nvSpPr>
          <p:cNvPr id="6" name="Google Shape;231;g3694320abce_0_0">
            <a:extLst>
              <a:ext uri="{FF2B5EF4-FFF2-40B4-BE49-F238E27FC236}">
                <a16:creationId xmlns:a16="http://schemas.microsoft.com/office/drawing/2014/main" id="{F827F76A-04E5-F1CF-F7D9-00E5261AE3E6}"/>
              </a:ext>
            </a:extLst>
          </p:cNvPr>
          <p:cNvSpPr/>
          <p:nvPr/>
        </p:nvSpPr>
        <p:spPr>
          <a:xfrm>
            <a:off x="-1" y="4825750"/>
            <a:ext cx="8748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3659535-28D3-4DF0-76BB-4B60C0337672}"/>
              </a:ext>
            </a:extLst>
          </p:cNvPr>
          <p:cNvSpPr txBox="1">
            <a:spLocks/>
          </p:cNvSpPr>
          <p:nvPr/>
        </p:nvSpPr>
        <p:spPr>
          <a:xfrm>
            <a:off x="8428827" y="4843750"/>
            <a:ext cx="319172" cy="2155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900" b="1" dirty="0">
                <a:solidFill>
                  <a:schemeClr val="accent6">
                    <a:lumMod val="10000"/>
                  </a:schemeClr>
                </a:solidFill>
                <a:latin typeface="Arial"/>
                <a:ea typeface="Palatino" pitchFamily="2" charset="77"/>
                <a:cs typeface="Arial"/>
              </a:rPr>
              <a:t>08</a:t>
            </a:r>
            <a:endParaRPr lang="en-US" sz="9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EF7ACD7-E1CF-D699-C9E8-B7E59D5D8FC5}"/>
              </a:ext>
            </a:extLst>
          </p:cNvPr>
          <p:cNvGrpSpPr/>
          <p:nvPr/>
        </p:nvGrpSpPr>
        <p:grpSpPr>
          <a:xfrm>
            <a:off x="8374955" y="177830"/>
            <a:ext cx="660585" cy="808613"/>
            <a:chOff x="8374955" y="177830"/>
            <a:chExt cx="660585" cy="808613"/>
          </a:xfrm>
        </p:grpSpPr>
        <p:pic>
          <p:nvPicPr>
            <p:cNvPr id="10" name="Picture 9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1F00BB7E-F0BD-A6D9-8047-E1C87FC2AA8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73437"/>
            <a:stretch>
              <a:fillRect/>
            </a:stretch>
          </p:blipFill>
          <p:spPr>
            <a:xfrm>
              <a:off x="8499755" y="177830"/>
              <a:ext cx="410987" cy="501633"/>
            </a:xfrm>
            <a:prstGeom prst="rect">
              <a:avLst/>
            </a:prstGeom>
          </p:spPr>
        </p:pic>
        <p:sp>
          <p:nvSpPr>
            <p:cNvPr id="11" name="Title 1">
              <a:extLst>
                <a:ext uri="{FF2B5EF4-FFF2-40B4-BE49-F238E27FC236}">
                  <a16:creationId xmlns:a16="http://schemas.microsoft.com/office/drawing/2014/main" id="{E3BDA601-B73F-75C6-A1C4-6030B0F432B7}"/>
                </a:ext>
              </a:extLst>
            </p:cNvPr>
            <p:cNvSpPr txBox="1">
              <a:spLocks/>
            </p:cNvSpPr>
            <p:nvPr/>
          </p:nvSpPr>
          <p:spPr>
            <a:xfrm>
              <a:off x="8374955" y="641372"/>
              <a:ext cx="660585" cy="3450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1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9pPr>
            </a:lstStyle>
            <a:p>
              <a:pPr algn="ctr"/>
              <a:r>
                <a:rPr lang="en" sz="500" dirty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CORPORATE PLANNING 2026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Shape 392">
          <a:extLst>
            <a:ext uri="{FF2B5EF4-FFF2-40B4-BE49-F238E27FC236}">
              <a16:creationId xmlns:a16="http://schemas.microsoft.com/office/drawing/2014/main" id="{9E3C7000-308A-64AB-3CB4-35991382C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31;g3694320abce_0_0">
            <a:extLst>
              <a:ext uri="{FF2B5EF4-FFF2-40B4-BE49-F238E27FC236}">
                <a16:creationId xmlns:a16="http://schemas.microsoft.com/office/drawing/2014/main" id="{F8C75F96-BC24-ECF4-E83F-8A452AAF8D69}"/>
              </a:ext>
            </a:extLst>
          </p:cNvPr>
          <p:cNvSpPr/>
          <p:nvPr/>
        </p:nvSpPr>
        <p:spPr>
          <a:xfrm>
            <a:off x="-1" y="403433"/>
            <a:ext cx="8280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D7DA0AA-F1AE-76F0-7988-755D936AEDC1}"/>
              </a:ext>
            </a:extLst>
          </p:cNvPr>
          <p:cNvSpPr txBox="1">
            <a:spLocks/>
          </p:cNvSpPr>
          <p:nvPr/>
        </p:nvSpPr>
        <p:spPr>
          <a:xfrm>
            <a:off x="247808" y="163063"/>
            <a:ext cx="3482620" cy="2173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D" sz="11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BAB 02 | </a:t>
            </a:r>
            <a:r>
              <a:rPr lang="en-ID" sz="11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RIS-SPM, Database, PMR</a:t>
            </a:r>
            <a:endParaRPr lang="en-ID" sz="11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sp>
        <p:nvSpPr>
          <p:cNvPr id="6" name="Google Shape;231;g3694320abce_0_0">
            <a:extLst>
              <a:ext uri="{FF2B5EF4-FFF2-40B4-BE49-F238E27FC236}">
                <a16:creationId xmlns:a16="http://schemas.microsoft.com/office/drawing/2014/main" id="{F80EF06C-58EC-BDBF-69E6-005E9F5BA937}"/>
              </a:ext>
            </a:extLst>
          </p:cNvPr>
          <p:cNvSpPr/>
          <p:nvPr/>
        </p:nvSpPr>
        <p:spPr>
          <a:xfrm>
            <a:off x="-1" y="4825750"/>
            <a:ext cx="8748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00CE1C4-98DB-DF4D-C311-BC5878C34F6E}"/>
              </a:ext>
            </a:extLst>
          </p:cNvPr>
          <p:cNvSpPr txBox="1">
            <a:spLocks/>
          </p:cNvSpPr>
          <p:nvPr/>
        </p:nvSpPr>
        <p:spPr>
          <a:xfrm>
            <a:off x="8428827" y="4843750"/>
            <a:ext cx="319172" cy="2155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9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09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897302A-CC08-FDE5-F112-298ECF07D0A5}"/>
              </a:ext>
            </a:extLst>
          </p:cNvPr>
          <p:cNvGrpSpPr/>
          <p:nvPr/>
        </p:nvGrpSpPr>
        <p:grpSpPr>
          <a:xfrm>
            <a:off x="8374955" y="177830"/>
            <a:ext cx="660585" cy="808613"/>
            <a:chOff x="8374955" y="177830"/>
            <a:chExt cx="660585" cy="808613"/>
          </a:xfrm>
        </p:grpSpPr>
        <p:pic>
          <p:nvPicPr>
            <p:cNvPr id="10" name="Picture 9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17C3A784-E078-0670-5B1A-79747DDA23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73437"/>
            <a:stretch>
              <a:fillRect/>
            </a:stretch>
          </p:blipFill>
          <p:spPr>
            <a:xfrm>
              <a:off x="8499755" y="177830"/>
              <a:ext cx="410987" cy="501633"/>
            </a:xfrm>
            <a:prstGeom prst="rect">
              <a:avLst/>
            </a:prstGeom>
          </p:spPr>
        </p:pic>
        <p:sp>
          <p:nvSpPr>
            <p:cNvPr id="11" name="Title 1">
              <a:extLst>
                <a:ext uri="{FF2B5EF4-FFF2-40B4-BE49-F238E27FC236}">
                  <a16:creationId xmlns:a16="http://schemas.microsoft.com/office/drawing/2014/main" id="{65BD9A61-CB15-95E5-511A-D533156C6423}"/>
                </a:ext>
              </a:extLst>
            </p:cNvPr>
            <p:cNvSpPr txBox="1">
              <a:spLocks/>
            </p:cNvSpPr>
            <p:nvPr/>
          </p:nvSpPr>
          <p:spPr>
            <a:xfrm>
              <a:off x="8374955" y="641372"/>
              <a:ext cx="660585" cy="3450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1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9pPr>
            </a:lstStyle>
            <a:p>
              <a:pPr algn="ctr"/>
              <a:r>
                <a:rPr lang="en" sz="500" dirty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CORPORATE PLANNING 2026</a:t>
              </a:r>
            </a:p>
          </p:txBody>
        </p:sp>
      </p:grp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02B84D69-11B4-3F60-3DDA-0CBFDE91F58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4056716"/>
              </p:ext>
            </p:extLst>
          </p:nvPr>
        </p:nvGraphicFramePr>
        <p:xfrm>
          <a:off x="247808" y="846179"/>
          <a:ext cx="2603389" cy="30530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6D2C57A7-E753-45AD-33A5-673DC3DBB0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27436721"/>
              </p:ext>
            </p:extLst>
          </p:nvPr>
        </p:nvGraphicFramePr>
        <p:xfrm>
          <a:off x="3034057" y="846179"/>
          <a:ext cx="2603389" cy="300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CF28A651-A20C-6F11-ABDA-D2EEA79EDA9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1426413"/>
              </p:ext>
            </p:extLst>
          </p:nvPr>
        </p:nvGraphicFramePr>
        <p:xfrm>
          <a:off x="5824117" y="846179"/>
          <a:ext cx="2603389" cy="300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48ECFCAC-D63B-CD8B-80F1-BE8979B46162}"/>
              </a:ext>
            </a:extLst>
          </p:cNvPr>
          <p:cNvSpPr/>
          <p:nvPr/>
        </p:nvSpPr>
        <p:spPr>
          <a:xfrm>
            <a:off x="2554635" y="4151870"/>
            <a:ext cx="296562" cy="271849"/>
          </a:xfrm>
          <a:prstGeom prst="rect">
            <a:avLst/>
          </a:prstGeom>
          <a:solidFill>
            <a:srgbClr val="F1E819"/>
          </a:solidFill>
          <a:ln>
            <a:solidFill>
              <a:schemeClr val="accent6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E1F99C-6727-431C-90FE-6DAC94FA21B0}"/>
              </a:ext>
            </a:extLst>
          </p:cNvPr>
          <p:cNvSpPr/>
          <p:nvPr/>
        </p:nvSpPr>
        <p:spPr>
          <a:xfrm>
            <a:off x="5095103" y="4136245"/>
            <a:ext cx="296562" cy="271849"/>
          </a:xfrm>
          <a:prstGeom prst="rect">
            <a:avLst/>
          </a:prstGeom>
          <a:solidFill>
            <a:srgbClr val="9E9F33"/>
          </a:solidFill>
          <a:ln>
            <a:solidFill>
              <a:schemeClr val="accent6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000DD73-7CC6-0664-6774-24B9CACB5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1197" y="4137035"/>
            <a:ext cx="965101" cy="301517"/>
          </a:xfrm>
        </p:spPr>
        <p:txBody>
          <a:bodyPr anchor="ctr"/>
          <a:lstStyle/>
          <a:p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Tercapai</a:t>
            </a:r>
            <a:endParaRPr lang="en-ID" sz="1200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4D97A54-99E2-1218-ECA4-FC179D0A5274}"/>
              </a:ext>
            </a:extLst>
          </p:cNvPr>
          <p:cNvSpPr txBox="1">
            <a:spLocks/>
          </p:cNvSpPr>
          <p:nvPr/>
        </p:nvSpPr>
        <p:spPr>
          <a:xfrm>
            <a:off x="5391665" y="4137035"/>
            <a:ext cx="1447442" cy="301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1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9pPr>
          </a:lstStyle>
          <a:p>
            <a:r>
              <a:rPr lang="en-US" sz="12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Belum </a:t>
            </a:r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Tercapai</a:t>
            </a:r>
            <a:endParaRPr lang="en-ID" sz="1200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92243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0">
          <a:extLst>
            <a:ext uri="{FF2B5EF4-FFF2-40B4-BE49-F238E27FC236}">
              <a16:creationId xmlns:a16="http://schemas.microsoft.com/office/drawing/2014/main" id="{7B0BEC12-5CBA-2DE0-5AD6-440B0D871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31;g3694320abce_0_0">
            <a:extLst>
              <a:ext uri="{FF2B5EF4-FFF2-40B4-BE49-F238E27FC236}">
                <a16:creationId xmlns:a16="http://schemas.microsoft.com/office/drawing/2014/main" id="{25E2C3F7-CA18-70F9-8D6C-CB98AF3B751D}"/>
              </a:ext>
            </a:extLst>
          </p:cNvPr>
          <p:cNvSpPr/>
          <p:nvPr/>
        </p:nvSpPr>
        <p:spPr>
          <a:xfrm>
            <a:off x="2570857" y="2597846"/>
            <a:ext cx="6573145" cy="85893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2000">
              <a:solidFill>
                <a:schemeClr val="lt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CCC6D15-1BAD-B109-366E-26766B0F770C}"/>
              </a:ext>
            </a:extLst>
          </p:cNvPr>
          <p:cNvSpPr txBox="1">
            <a:spLocks/>
          </p:cNvSpPr>
          <p:nvPr/>
        </p:nvSpPr>
        <p:spPr>
          <a:xfrm>
            <a:off x="2570855" y="2120289"/>
            <a:ext cx="3404060" cy="477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5200" b="1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9pPr>
          </a:lstStyle>
          <a:p>
            <a:pPr algn="l"/>
            <a:r>
              <a:rPr lang="en-ID" sz="24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SWOT Analysis</a:t>
            </a:r>
            <a:endParaRPr lang="en-US" sz="2000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8801A1B-4323-2B5F-56D1-4D03AEF10391}"/>
              </a:ext>
            </a:extLst>
          </p:cNvPr>
          <p:cNvGrpSpPr/>
          <p:nvPr/>
        </p:nvGrpSpPr>
        <p:grpSpPr>
          <a:xfrm>
            <a:off x="1552624" y="2014883"/>
            <a:ext cx="910181" cy="1383082"/>
            <a:chOff x="1552624" y="2160811"/>
            <a:chExt cx="910181" cy="1383082"/>
          </a:xfrm>
        </p:grpSpPr>
        <p:pic>
          <p:nvPicPr>
            <p:cNvPr id="3" name="Picture 2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77E1B398-426F-5706-6991-ADF5C98AD2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73437"/>
            <a:stretch>
              <a:fillRect/>
            </a:stretch>
          </p:blipFill>
          <p:spPr>
            <a:xfrm>
              <a:off x="1552624" y="2160811"/>
              <a:ext cx="910181" cy="1045856"/>
            </a:xfrm>
            <a:prstGeom prst="rect">
              <a:avLst/>
            </a:prstGeom>
          </p:spPr>
        </p:pic>
        <p:sp>
          <p:nvSpPr>
            <p:cNvPr id="4" name="Title 1">
              <a:extLst>
                <a:ext uri="{FF2B5EF4-FFF2-40B4-BE49-F238E27FC236}">
                  <a16:creationId xmlns:a16="http://schemas.microsoft.com/office/drawing/2014/main" id="{FC7A28AA-8BCC-A93C-5D5B-BD9D7161C449}"/>
                </a:ext>
              </a:extLst>
            </p:cNvPr>
            <p:cNvSpPr txBox="1">
              <a:spLocks/>
            </p:cNvSpPr>
            <p:nvPr/>
          </p:nvSpPr>
          <p:spPr>
            <a:xfrm>
              <a:off x="1552624" y="3206667"/>
              <a:ext cx="910181" cy="33722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1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9pPr>
            </a:lstStyle>
            <a:p>
              <a:pPr algn="ctr"/>
              <a:r>
                <a:rPr lang="en" sz="700" dirty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CORPORATE PLANNING </a:t>
              </a:r>
            </a:p>
            <a:p>
              <a:pPr algn="ctr"/>
              <a:r>
                <a:rPr lang="en" sz="700" dirty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2026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097610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43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br>
              <a:rPr lang="en" dirty="0"/>
            </a:b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E2D5079-3F6E-6FAD-6EA3-48FF81316C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7348923"/>
              </p:ext>
            </p:extLst>
          </p:nvPr>
        </p:nvGraphicFramePr>
        <p:xfrm>
          <a:off x="1545110" y="741499"/>
          <a:ext cx="6057899" cy="3836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43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17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17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98214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SWOT</a:t>
                      </a:r>
                    </a:p>
                    <a:p>
                      <a:pPr algn="ctr"/>
                      <a:r>
                        <a:rPr lang="en-US" sz="1800" b="1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ANALYSIS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Strength</a:t>
                      </a:r>
                      <a:endParaRPr lang="en-US" sz="1000" b="1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000" b="0" baseline="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Additional 1 Partner (professional)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000" b="0" dirty="0" err="1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etc</a:t>
                      </a:r>
                      <a:endParaRPr lang="en-US" sz="1000" b="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000" b="0" dirty="0" err="1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Etc</a:t>
                      </a:r>
                      <a:endParaRPr lang="en-US" sz="1000" b="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DA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Weakness</a:t>
                      </a:r>
                      <a:endParaRPr lang="en-US" sz="1000" b="1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000" b="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Personnel’s turn over is quite quick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000" b="0" dirty="0" err="1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etc</a:t>
                      </a:r>
                      <a:endParaRPr lang="en-US" sz="1000" b="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000" b="0" dirty="0" err="1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etc</a:t>
                      </a:r>
                      <a:endParaRPr lang="en-US" sz="1000" b="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DA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06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Opportunity</a:t>
                      </a:r>
                      <a:endParaRPr lang="en-US" sz="1000" b="1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000" b="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Getting a potential</a:t>
                      </a:r>
                      <a:r>
                        <a:rPr lang="en-US" sz="1000" b="0" baseline="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annual client from previous year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000" b="0" baseline="0" dirty="0" err="1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etc</a:t>
                      </a:r>
                      <a:endParaRPr lang="en-US" sz="1000" b="0" baseline="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000" b="0" baseline="0" dirty="0" err="1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etc</a:t>
                      </a:r>
                      <a:endParaRPr lang="en-US" sz="1000" b="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A27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Willing</a:t>
                      </a:r>
                      <a:r>
                        <a:rPr lang="en-US" sz="1000" b="0" baseline="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to get more clients/projects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baseline="0" dirty="0" err="1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etc</a:t>
                      </a:r>
                      <a:endParaRPr lang="en-US" sz="1000" b="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Hiring more personnel or outsources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dirty="0" err="1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etc</a:t>
                      </a:r>
                      <a:endParaRPr lang="en-US" sz="1000" b="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06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Threat</a:t>
                      </a:r>
                      <a:endParaRPr lang="en-US" sz="1000" b="1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000" b="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Politic year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000" b="0" dirty="0" err="1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etc</a:t>
                      </a:r>
                      <a:endParaRPr lang="en-US" sz="1000" b="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000" b="0" dirty="0" err="1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etc</a:t>
                      </a:r>
                      <a:endParaRPr lang="en-US" sz="1000" b="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A27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n/a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n/a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Google Shape;231;g3694320abce_0_0">
            <a:extLst>
              <a:ext uri="{FF2B5EF4-FFF2-40B4-BE49-F238E27FC236}">
                <a16:creationId xmlns:a16="http://schemas.microsoft.com/office/drawing/2014/main" id="{A707C9D8-7C10-3178-6A90-BEA8B47B3B26}"/>
              </a:ext>
            </a:extLst>
          </p:cNvPr>
          <p:cNvSpPr/>
          <p:nvPr/>
        </p:nvSpPr>
        <p:spPr>
          <a:xfrm>
            <a:off x="-1" y="403433"/>
            <a:ext cx="8280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B6DE405-47A7-3943-43F9-541916E6B2F9}"/>
              </a:ext>
            </a:extLst>
          </p:cNvPr>
          <p:cNvSpPr txBox="1">
            <a:spLocks/>
          </p:cNvSpPr>
          <p:nvPr/>
        </p:nvSpPr>
        <p:spPr>
          <a:xfrm>
            <a:off x="247808" y="163063"/>
            <a:ext cx="3482620" cy="2173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D" sz="11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BAB 03 | </a:t>
            </a:r>
            <a:r>
              <a:rPr lang="en-ID" sz="11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SWOT Analysis</a:t>
            </a:r>
            <a:endParaRPr lang="en-ID" sz="11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sp>
        <p:nvSpPr>
          <p:cNvPr id="5" name="Google Shape;231;g3694320abce_0_0">
            <a:extLst>
              <a:ext uri="{FF2B5EF4-FFF2-40B4-BE49-F238E27FC236}">
                <a16:creationId xmlns:a16="http://schemas.microsoft.com/office/drawing/2014/main" id="{3216D316-7C54-7931-6F4B-381E8A83DAA4}"/>
              </a:ext>
            </a:extLst>
          </p:cNvPr>
          <p:cNvSpPr/>
          <p:nvPr/>
        </p:nvSpPr>
        <p:spPr>
          <a:xfrm>
            <a:off x="-1" y="4825750"/>
            <a:ext cx="8748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C281A0A-3805-67CC-BC34-5D1A0562F675}"/>
              </a:ext>
            </a:extLst>
          </p:cNvPr>
          <p:cNvSpPr txBox="1">
            <a:spLocks/>
          </p:cNvSpPr>
          <p:nvPr/>
        </p:nvSpPr>
        <p:spPr>
          <a:xfrm>
            <a:off x="8428827" y="4843750"/>
            <a:ext cx="319172" cy="2155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9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11</a:t>
            </a:r>
          </a:p>
        </p:txBody>
      </p:sp>
      <p:pic>
        <p:nvPicPr>
          <p:cNvPr id="7" name="Picture 6" descr="A black and white logo&#10;&#10;AI-generated content may be incorrect.">
            <a:extLst>
              <a:ext uri="{FF2B5EF4-FFF2-40B4-BE49-F238E27FC236}">
                <a16:creationId xmlns:a16="http://schemas.microsoft.com/office/drawing/2014/main" id="{08E3DA25-1BF4-6FA2-A0FB-8C20B8B8AD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3437"/>
          <a:stretch>
            <a:fillRect/>
          </a:stretch>
        </p:blipFill>
        <p:spPr>
          <a:xfrm>
            <a:off x="8499755" y="177830"/>
            <a:ext cx="410987" cy="50163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0">
          <a:extLst>
            <a:ext uri="{FF2B5EF4-FFF2-40B4-BE49-F238E27FC236}">
              <a16:creationId xmlns:a16="http://schemas.microsoft.com/office/drawing/2014/main" id="{EF8B613F-25BB-617E-37B7-DD4250A75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31;g3694320abce_0_0">
            <a:extLst>
              <a:ext uri="{FF2B5EF4-FFF2-40B4-BE49-F238E27FC236}">
                <a16:creationId xmlns:a16="http://schemas.microsoft.com/office/drawing/2014/main" id="{55D94059-BC49-D5D3-A8B3-73BD6C86E31B}"/>
              </a:ext>
            </a:extLst>
          </p:cNvPr>
          <p:cNvSpPr/>
          <p:nvPr/>
        </p:nvSpPr>
        <p:spPr>
          <a:xfrm>
            <a:off x="2570857" y="2597846"/>
            <a:ext cx="6573145" cy="85893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2000">
              <a:solidFill>
                <a:schemeClr val="lt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9B17B15-B3D1-129B-B44A-CD743CDE5CB2}"/>
              </a:ext>
            </a:extLst>
          </p:cNvPr>
          <p:cNvSpPr txBox="1">
            <a:spLocks/>
          </p:cNvSpPr>
          <p:nvPr/>
        </p:nvSpPr>
        <p:spPr>
          <a:xfrm>
            <a:off x="2570855" y="2120289"/>
            <a:ext cx="3404060" cy="477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5200" b="1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9pPr>
          </a:lstStyle>
          <a:p>
            <a:pPr algn="l"/>
            <a:r>
              <a:rPr lang="en-ID" sz="24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Market Overview</a:t>
            </a:r>
            <a:endParaRPr lang="en-US" sz="2000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E62D923-69EF-8212-5B7C-1C95DED0C200}"/>
              </a:ext>
            </a:extLst>
          </p:cNvPr>
          <p:cNvGrpSpPr/>
          <p:nvPr/>
        </p:nvGrpSpPr>
        <p:grpSpPr>
          <a:xfrm>
            <a:off x="1552624" y="2014883"/>
            <a:ext cx="910181" cy="1383082"/>
            <a:chOff x="1552624" y="2160811"/>
            <a:chExt cx="910181" cy="1383082"/>
          </a:xfrm>
        </p:grpSpPr>
        <p:pic>
          <p:nvPicPr>
            <p:cNvPr id="3" name="Picture 2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48B2861B-83DE-88F1-FC7E-97F0FE4895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73437"/>
            <a:stretch>
              <a:fillRect/>
            </a:stretch>
          </p:blipFill>
          <p:spPr>
            <a:xfrm>
              <a:off x="1552624" y="2160811"/>
              <a:ext cx="910181" cy="1045856"/>
            </a:xfrm>
            <a:prstGeom prst="rect">
              <a:avLst/>
            </a:prstGeom>
          </p:spPr>
        </p:pic>
        <p:sp>
          <p:nvSpPr>
            <p:cNvPr id="4" name="Title 1">
              <a:extLst>
                <a:ext uri="{FF2B5EF4-FFF2-40B4-BE49-F238E27FC236}">
                  <a16:creationId xmlns:a16="http://schemas.microsoft.com/office/drawing/2014/main" id="{7B0AC7A7-AEDF-892B-5D19-84256A9CB864}"/>
                </a:ext>
              </a:extLst>
            </p:cNvPr>
            <p:cNvSpPr txBox="1">
              <a:spLocks/>
            </p:cNvSpPr>
            <p:nvPr/>
          </p:nvSpPr>
          <p:spPr>
            <a:xfrm>
              <a:off x="1552624" y="3206667"/>
              <a:ext cx="910181" cy="33722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1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9pPr>
            </a:lstStyle>
            <a:p>
              <a:pPr algn="ctr"/>
              <a:r>
                <a:rPr lang="en" sz="700" dirty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CORPORATE PLANNING </a:t>
              </a:r>
            </a:p>
            <a:p>
              <a:pPr algn="ctr"/>
              <a:r>
                <a:rPr lang="en" sz="700" dirty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2026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209852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44"/>
          <p:cNvSpPr txBox="1"/>
          <p:nvPr/>
        </p:nvSpPr>
        <p:spPr>
          <a:xfrm>
            <a:off x="713225" y="1112200"/>
            <a:ext cx="7717500" cy="4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91425" rIns="91425" bIns="91425" anchor="ctr" anchorCtr="0">
            <a:noAutofit/>
          </a:bodyPr>
          <a:lstStyle/>
          <a:p>
            <a:r>
              <a:rPr lang="en-US" sz="16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nquin"/>
                <a:cs typeface="Arial" panose="020B0604020202020204" pitchFamily="34" charset="0"/>
                <a:sym typeface="Palanquin"/>
              </a:rPr>
              <a:t>“Please fill with industry outlook in your region”</a:t>
            </a:r>
            <a:endParaRPr lang="en-ID" sz="1600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nquin"/>
              <a:cs typeface="Arial" panose="020B0604020202020204" pitchFamily="34" charset="0"/>
              <a:sym typeface="Palanquin"/>
            </a:endParaRPr>
          </a:p>
        </p:txBody>
      </p:sp>
      <p:sp>
        <p:nvSpPr>
          <p:cNvPr id="467" name="Google Shape;467;p44"/>
          <p:cNvSpPr txBox="1"/>
          <p:nvPr/>
        </p:nvSpPr>
        <p:spPr>
          <a:xfrm>
            <a:off x="1409314" y="2137012"/>
            <a:ext cx="6378800" cy="489599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sz="20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Signika"/>
                <a:cs typeface="Arial" panose="020B0604020202020204" pitchFamily="34" charset="0"/>
                <a:sym typeface="Signika"/>
              </a:rPr>
              <a:t>Industrial</a:t>
            </a:r>
            <a:endParaRPr sz="20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Signika"/>
              <a:cs typeface="Arial" panose="020B0604020202020204" pitchFamily="34" charset="0"/>
              <a:sym typeface="Signika"/>
            </a:endParaRPr>
          </a:p>
        </p:txBody>
      </p:sp>
      <p:sp>
        <p:nvSpPr>
          <p:cNvPr id="471" name="Google Shape;471;p44"/>
          <p:cNvSpPr txBox="1"/>
          <p:nvPr/>
        </p:nvSpPr>
        <p:spPr>
          <a:xfrm>
            <a:off x="1409314" y="2838868"/>
            <a:ext cx="6378799" cy="449713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sz="20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Signika"/>
                <a:cs typeface="Arial" panose="020B0604020202020204" pitchFamily="34" charset="0"/>
                <a:sym typeface="Signika"/>
              </a:rPr>
              <a:t>Commercial</a:t>
            </a:r>
            <a:endParaRPr sz="20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Signika"/>
              <a:cs typeface="Arial" panose="020B0604020202020204" pitchFamily="34" charset="0"/>
              <a:sym typeface="Signika"/>
            </a:endParaRPr>
          </a:p>
        </p:txBody>
      </p:sp>
      <p:sp>
        <p:nvSpPr>
          <p:cNvPr id="474" name="Google Shape;474;p44"/>
          <p:cNvSpPr txBox="1"/>
          <p:nvPr/>
        </p:nvSpPr>
        <p:spPr>
          <a:xfrm>
            <a:off x="1409314" y="3540717"/>
            <a:ext cx="6378799" cy="490584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sz="20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Signika"/>
                <a:cs typeface="Arial" panose="020B0604020202020204" pitchFamily="34" charset="0"/>
                <a:sym typeface="Signika"/>
              </a:rPr>
              <a:t>Housing</a:t>
            </a:r>
            <a:endParaRPr sz="20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Signika"/>
              <a:cs typeface="Arial" panose="020B0604020202020204" pitchFamily="34" charset="0"/>
              <a:sym typeface="Signika"/>
            </a:endParaRPr>
          </a:p>
        </p:txBody>
      </p:sp>
      <p:sp>
        <p:nvSpPr>
          <p:cNvPr id="2" name="Google Shape;231;g3694320abce_0_0">
            <a:extLst>
              <a:ext uri="{FF2B5EF4-FFF2-40B4-BE49-F238E27FC236}">
                <a16:creationId xmlns:a16="http://schemas.microsoft.com/office/drawing/2014/main" id="{BD6F3070-3FCE-7F4C-DE23-8B652CA1676B}"/>
              </a:ext>
            </a:extLst>
          </p:cNvPr>
          <p:cNvSpPr/>
          <p:nvPr/>
        </p:nvSpPr>
        <p:spPr>
          <a:xfrm>
            <a:off x="-1" y="403433"/>
            <a:ext cx="8280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E9FEA24-7C30-9FFE-E657-056F8738CD40}"/>
              </a:ext>
            </a:extLst>
          </p:cNvPr>
          <p:cNvSpPr txBox="1">
            <a:spLocks/>
          </p:cNvSpPr>
          <p:nvPr/>
        </p:nvSpPr>
        <p:spPr>
          <a:xfrm>
            <a:off x="247808" y="163063"/>
            <a:ext cx="3482620" cy="2173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D" sz="11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BAB 04 | </a:t>
            </a:r>
            <a:r>
              <a:rPr lang="en-ID" sz="11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Market Trends</a:t>
            </a:r>
            <a:endParaRPr lang="en-ID" sz="11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sp>
        <p:nvSpPr>
          <p:cNvPr id="4" name="Google Shape;231;g3694320abce_0_0">
            <a:extLst>
              <a:ext uri="{FF2B5EF4-FFF2-40B4-BE49-F238E27FC236}">
                <a16:creationId xmlns:a16="http://schemas.microsoft.com/office/drawing/2014/main" id="{6D7465C2-261B-F0A2-DF6D-A43D9025A82C}"/>
              </a:ext>
            </a:extLst>
          </p:cNvPr>
          <p:cNvSpPr/>
          <p:nvPr/>
        </p:nvSpPr>
        <p:spPr>
          <a:xfrm>
            <a:off x="-1" y="4825750"/>
            <a:ext cx="8748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89C6C5F-A91C-984D-0E27-69C378C472C5}"/>
              </a:ext>
            </a:extLst>
          </p:cNvPr>
          <p:cNvSpPr txBox="1">
            <a:spLocks/>
          </p:cNvSpPr>
          <p:nvPr/>
        </p:nvSpPr>
        <p:spPr>
          <a:xfrm>
            <a:off x="8428827" y="4843750"/>
            <a:ext cx="319172" cy="2155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900" b="1" dirty="0">
                <a:solidFill>
                  <a:schemeClr val="accent6">
                    <a:lumMod val="10000"/>
                  </a:schemeClr>
                </a:solidFill>
                <a:latin typeface="Arial"/>
                <a:ea typeface="Palatino" pitchFamily="2" charset="77"/>
                <a:cs typeface="Arial"/>
              </a:rPr>
              <a:t>13</a:t>
            </a:r>
            <a:endParaRPr lang="en-US" sz="9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13CE1BD-F22F-3BFD-8CC3-5DE238CD6245}"/>
              </a:ext>
            </a:extLst>
          </p:cNvPr>
          <p:cNvGrpSpPr/>
          <p:nvPr/>
        </p:nvGrpSpPr>
        <p:grpSpPr>
          <a:xfrm>
            <a:off x="8374955" y="177830"/>
            <a:ext cx="660585" cy="808613"/>
            <a:chOff x="8374955" y="177830"/>
            <a:chExt cx="660585" cy="808613"/>
          </a:xfrm>
        </p:grpSpPr>
        <p:pic>
          <p:nvPicPr>
            <p:cNvPr id="8" name="Picture 7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6BFB6BA4-492B-2EAD-D61C-D2F789E09B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73437"/>
            <a:stretch>
              <a:fillRect/>
            </a:stretch>
          </p:blipFill>
          <p:spPr>
            <a:xfrm>
              <a:off x="8499755" y="177830"/>
              <a:ext cx="410987" cy="501633"/>
            </a:xfrm>
            <a:prstGeom prst="rect">
              <a:avLst/>
            </a:prstGeom>
          </p:spPr>
        </p:pic>
        <p:sp>
          <p:nvSpPr>
            <p:cNvPr id="9" name="Title 1">
              <a:extLst>
                <a:ext uri="{FF2B5EF4-FFF2-40B4-BE49-F238E27FC236}">
                  <a16:creationId xmlns:a16="http://schemas.microsoft.com/office/drawing/2014/main" id="{7E30CD8D-C0F1-D898-F744-501E493521E2}"/>
                </a:ext>
              </a:extLst>
            </p:cNvPr>
            <p:cNvSpPr txBox="1">
              <a:spLocks/>
            </p:cNvSpPr>
            <p:nvPr/>
          </p:nvSpPr>
          <p:spPr>
            <a:xfrm>
              <a:off x="8374955" y="641372"/>
              <a:ext cx="660585" cy="3450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1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9pPr>
            </a:lstStyle>
            <a:p>
              <a:pPr algn="ctr"/>
              <a:r>
                <a:rPr lang="en" sz="500" dirty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CORPORATE PLANNING 2026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0">
          <a:extLst>
            <a:ext uri="{FF2B5EF4-FFF2-40B4-BE49-F238E27FC236}">
              <a16:creationId xmlns:a16="http://schemas.microsoft.com/office/drawing/2014/main" id="{AD12183F-7EE0-F929-D087-36B0D4F30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31;g3694320abce_0_0">
            <a:extLst>
              <a:ext uri="{FF2B5EF4-FFF2-40B4-BE49-F238E27FC236}">
                <a16:creationId xmlns:a16="http://schemas.microsoft.com/office/drawing/2014/main" id="{03D12062-B8AB-8B53-FB35-542FD99F04F5}"/>
              </a:ext>
            </a:extLst>
          </p:cNvPr>
          <p:cNvSpPr/>
          <p:nvPr/>
        </p:nvSpPr>
        <p:spPr>
          <a:xfrm>
            <a:off x="2570857" y="2597846"/>
            <a:ext cx="6573145" cy="85893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2000">
              <a:solidFill>
                <a:schemeClr val="lt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C8CE104-B8DF-D21E-13EC-F3BFC51A9A75}"/>
              </a:ext>
            </a:extLst>
          </p:cNvPr>
          <p:cNvSpPr txBox="1">
            <a:spLocks/>
          </p:cNvSpPr>
          <p:nvPr/>
        </p:nvSpPr>
        <p:spPr>
          <a:xfrm>
            <a:off x="2570855" y="2120289"/>
            <a:ext cx="3404060" cy="477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5200" b="1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9pPr>
          </a:lstStyle>
          <a:p>
            <a:pPr algn="l"/>
            <a:r>
              <a:rPr lang="en-ID" sz="24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PLANNING</a:t>
            </a:r>
            <a:endParaRPr lang="en-US" sz="2000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BDD1735-31C5-5BF2-647D-6DE99035AB75}"/>
              </a:ext>
            </a:extLst>
          </p:cNvPr>
          <p:cNvGrpSpPr/>
          <p:nvPr/>
        </p:nvGrpSpPr>
        <p:grpSpPr>
          <a:xfrm>
            <a:off x="1552624" y="2014883"/>
            <a:ext cx="910181" cy="1383082"/>
            <a:chOff x="1552624" y="2160811"/>
            <a:chExt cx="910181" cy="1383082"/>
          </a:xfrm>
        </p:grpSpPr>
        <p:pic>
          <p:nvPicPr>
            <p:cNvPr id="3" name="Picture 2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E159D9EC-4AB3-256F-EDE6-08150FBC07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73437"/>
            <a:stretch>
              <a:fillRect/>
            </a:stretch>
          </p:blipFill>
          <p:spPr>
            <a:xfrm>
              <a:off x="1552624" y="2160811"/>
              <a:ext cx="910181" cy="1045856"/>
            </a:xfrm>
            <a:prstGeom prst="rect">
              <a:avLst/>
            </a:prstGeom>
          </p:spPr>
        </p:pic>
        <p:sp>
          <p:nvSpPr>
            <p:cNvPr id="4" name="Title 1">
              <a:extLst>
                <a:ext uri="{FF2B5EF4-FFF2-40B4-BE49-F238E27FC236}">
                  <a16:creationId xmlns:a16="http://schemas.microsoft.com/office/drawing/2014/main" id="{24786B42-ACF8-B637-3BC2-0E6A9E68FB8D}"/>
                </a:ext>
              </a:extLst>
            </p:cNvPr>
            <p:cNvSpPr txBox="1">
              <a:spLocks/>
            </p:cNvSpPr>
            <p:nvPr/>
          </p:nvSpPr>
          <p:spPr>
            <a:xfrm>
              <a:off x="1552624" y="3206667"/>
              <a:ext cx="910181" cy="33722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1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9pPr>
            </a:lstStyle>
            <a:p>
              <a:pPr algn="ctr"/>
              <a:r>
                <a:rPr lang="en" sz="700" dirty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CORPORATE PLANNING </a:t>
              </a:r>
            </a:p>
            <a:p>
              <a:pPr algn="ctr"/>
              <a:r>
                <a:rPr lang="en" sz="700" dirty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2026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065574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Shape 664">
          <a:extLst>
            <a:ext uri="{FF2B5EF4-FFF2-40B4-BE49-F238E27FC236}">
              <a16:creationId xmlns:a16="http://schemas.microsoft.com/office/drawing/2014/main" id="{74DB07ED-706A-88E5-1A97-87A222F4F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668;p51">
            <a:extLst>
              <a:ext uri="{FF2B5EF4-FFF2-40B4-BE49-F238E27FC236}">
                <a16:creationId xmlns:a16="http://schemas.microsoft.com/office/drawing/2014/main" id="{D2050481-5679-1420-2845-61B89B733F5E}"/>
              </a:ext>
            </a:extLst>
          </p:cNvPr>
          <p:cNvSpPr txBox="1"/>
          <p:nvPr/>
        </p:nvSpPr>
        <p:spPr>
          <a:xfrm>
            <a:off x="430911" y="644791"/>
            <a:ext cx="7849088" cy="345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91425" rIns="91425" bIns="91425" anchor="ctr" anchorCtr="0">
            <a:noAutofit/>
          </a:bodyPr>
          <a:lstStyle/>
          <a:p>
            <a:r>
              <a:rPr lang="en-US" sz="16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nquin"/>
                <a:cs typeface="Arial" panose="020B0604020202020204" pitchFamily="34" charset="0"/>
                <a:sym typeface="Palanquin"/>
              </a:rPr>
              <a:t>PLANNING (Based by SWOT and Market Overview)</a:t>
            </a:r>
            <a:endParaRPr sz="16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nquin"/>
              <a:cs typeface="Arial" panose="020B0604020202020204" pitchFamily="34" charset="0"/>
              <a:sym typeface="Palanquin"/>
            </a:endParaRPr>
          </a:p>
        </p:txBody>
      </p:sp>
      <p:sp>
        <p:nvSpPr>
          <p:cNvPr id="668" name="Google Shape;668;p51">
            <a:extLst>
              <a:ext uri="{FF2B5EF4-FFF2-40B4-BE49-F238E27FC236}">
                <a16:creationId xmlns:a16="http://schemas.microsoft.com/office/drawing/2014/main" id="{B919525D-4A0B-CC9D-C973-5CD32F3A784F}"/>
              </a:ext>
            </a:extLst>
          </p:cNvPr>
          <p:cNvSpPr txBox="1"/>
          <p:nvPr/>
        </p:nvSpPr>
        <p:spPr>
          <a:xfrm>
            <a:off x="432809" y="1112200"/>
            <a:ext cx="7847190" cy="4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91425" rIns="91425" bIns="91425" anchor="ctr" anchorCtr="0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6">
                    <a:lumMod val="10000"/>
                  </a:schemeClr>
                </a:solidFill>
                <a:ea typeface="Gotham Bold"/>
                <a:cs typeface="Gotham Bold"/>
                <a:sym typeface="Gotham Bold"/>
              </a:rPr>
              <a:t>(</a:t>
            </a:r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  <a:ea typeface="Gotham Bold"/>
                <a:cs typeface="Gotham Bold"/>
                <a:sym typeface="Gotham Bold"/>
              </a:rPr>
              <a:t>contoh</a:t>
            </a:r>
            <a:r>
              <a:rPr lang="en-US" sz="1200" dirty="0">
                <a:solidFill>
                  <a:schemeClr val="accent6">
                    <a:lumMod val="10000"/>
                  </a:schemeClr>
                </a:solidFill>
                <a:ea typeface="Gotham Bold"/>
                <a:cs typeface="Gotham Bold"/>
                <a:sym typeface="Gotham Bold"/>
              </a:rPr>
              <a:t> : </a:t>
            </a:r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  <a:ea typeface="Gotham Bold"/>
                <a:cs typeface="Gotham Bold"/>
                <a:sym typeface="Gotham Bold"/>
              </a:rPr>
              <a:t>Untuk</a:t>
            </a:r>
            <a:r>
              <a:rPr lang="en-US" sz="1200" dirty="0">
                <a:solidFill>
                  <a:schemeClr val="accent6">
                    <a:lumMod val="10000"/>
                  </a:schemeClr>
                </a:solidFill>
                <a:ea typeface="Gotham Bold"/>
                <a:cs typeface="Gotham Bold"/>
                <a:sym typeface="Gotham Bold"/>
              </a:rPr>
              <a:t> 2026 </a:t>
            </a:r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  <a:ea typeface="Gotham Bold"/>
                <a:cs typeface="Gotham Bold"/>
                <a:sym typeface="Gotham Bold"/>
              </a:rPr>
              <a:t>akan</a:t>
            </a:r>
            <a:r>
              <a:rPr lang="en-US" sz="1200" dirty="0">
                <a:solidFill>
                  <a:schemeClr val="accent6">
                    <a:lumMod val="10000"/>
                  </a:schemeClr>
                </a:solidFill>
                <a:ea typeface="Gotham Bold"/>
                <a:cs typeface="Gotham Bold"/>
                <a:sym typeface="Gotham Bold"/>
              </a:rPr>
              <a:t> </a:t>
            </a:r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  <a:ea typeface="Gotham Bold"/>
                <a:cs typeface="Gotham Bold"/>
                <a:sym typeface="Gotham Bold"/>
              </a:rPr>
              <a:t>dilakukan</a:t>
            </a:r>
            <a:r>
              <a:rPr lang="en-US" sz="1200" dirty="0">
                <a:solidFill>
                  <a:schemeClr val="accent6">
                    <a:lumMod val="10000"/>
                  </a:schemeClr>
                </a:solidFill>
                <a:ea typeface="Gotham Bold"/>
                <a:cs typeface="Gotham Bold"/>
                <a:sym typeface="Gotham Bold"/>
              </a:rPr>
              <a:t> … , </a:t>
            </a:r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  <a:ea typeface="Gotham Bold"/>
                <a:cs typeface="Gotham Bold"/>
                <a:sym typeface="Gotham Bold"/>
              </a:rPr>
              <a:t>hal</a:t>
            </a:r>
            <a:r>
              <a:rPr lang="en-US" sz="1200" dirty="0">
                <a:solidFill>
                  <a:schemeClr val="accent6">
                    <a:lumMod val="10000"/>
                  </a:schemeClr>
                </a:solidFill>
                <a:ea typeface="Gotham Bold"/>
                <a:cs typeface="Gotham Bold"/>
                <a:sym typeface="Gotham Bold"/>
              </a:rPr>
              <a:t> </a:t>
            </a:r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  <a:ea typeface="Gotham Bold"/>
                <a:cs typeface="Gotham Bold"/>
                <a:sym typeface="Gotham Bold"/>
              </a:rPr>
              <a:t>ini</a:t>
            </a:r>
            <a:r>
              <a:rPr lang="en-US" sz="1200" dirty="0">
                <a:solidFill>
                  <a:schemeClr val="accent6">
                    <a:lumMod val="10000"/>
                  </a:schemeClr>
                </a:solidFill>
                <a:ea typeface="Gotham Bold"/>
                <a:cs typeface="Gotham Bold"/>
                <a:sym typeface="Gotham Bold"/>
              </a:rPr>
              <a:t> di </a:t>
            </a:r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  <a:ea typeface="Gotham Bold"/>
                <a:cs typeface="Gotham Bold"/>
                <a:sym typeface="Gotham Bold"/>
              </a:rPr>
              <a:t>diperlukan</a:t>
            </a:r>
            <a:r>
              <a:rPr lang="en-US" sz="1200" dirty="0">
                <a:solidFill>
                  <a:schemeClr val="accent6">
                    <a:lumMod val="10000"/>
                  </a:schemeClr>
                </a:solidFill>
                <a:ea typeface="Gotham Bold"/>
                <a:cs typeface="Gotham Bold"/>
                <a:sym typeface="Gotham Bold"/>
              </a:rPr>
              <a:t> </a:t>
            </a:r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  <a:ea typeface="Gotham Bold"/>
                <a:cs typeface="Gotham Bold"/>
                <a:sym typeface="Gotham Bold"/>
              </a:rPr>
              <a:t>untuk</a:t>
            </a:r>
            <a:r>
              <a:rPr lang="en-US" sz="1200" dirty="0">
                <a:solidFill>
                  <a:schemeClr val="accent6">
                    <a:lumMod val="10000"/>
                  </a:schemeClr>
                </a:solidFill>
                <a:ea typeface="Gotham Bold"/>
                <a:cs typeface="Gotham Bold"/>
                <a:sym typeface="Gotham Bold"/>
              </a:rPr>
              <a:t> …)</a:t>
            </a:r>
          </a:p>
        </p:txBody>
      </p:sp>
      <p:sp>
        <p:nvSpPr>
          <p:cNvPr id="4" name="Google Shape;231;g3694320abce_0_0">
            <a:extLst>
              <a:ext uri="{FF2B5EF4-FFF2-40B4-BE49-F238E27FC236}">
                <a16:creationId xmlns:a16="http://schemas.microsoft.com/office/drawing/2014/main" id="{6E43946B-2519-60A4-15D7-7098E637C499}"/>
              </a:ext>
            </a:extLst>
          </p:cNvPr>
          <p:cNvSpPr/>
          <p:nvPr/>
        </p:nvSpPr>
        <p:spPr>
          <a:xfrm>
            <a:off x="-1" y="403433"/>
            <a:ext cx="8280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FFD4220-1794-832D-F419-C1CA490530FC}"/>
              </a:ext>
            </a:extLst>
          </p:cNvPr>
          <p:cNvSpPr txBox="1">
            <a:spLocks/>
          </p:cNvSpPr>
          <p:nvPr/>
        </p:nvSpPr>
        <p:spPr>
          <a:xfrm>
            <a:off x="247808" y="163063"/>
            <a:ext cx="3482620" cy="2173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D" sz="11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BAB 05 | </a:t>
            </a:r>
            <a:r>
              <a:rPr lang="en-ID" sz="11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Planning for 2026</a:t>
            </a:r>
            <a:endParaRPr lang="en-ID" sz="11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sp>
        <p:nvSpPr>
          <p:cNvPr id="6" name="Google Shape;231;g3694320abce_0_0">
            <a:extLst>
              <a:ext uri="{FF2B5EF4-FFF2-40B4-BE49-F238E27FC236}">
                <a16:creationId xmlns:a16="http://schemas.microsoft.com/office/drawing/2014/main" id="{DB45277D-4952-C760-A59F-D7419C93190B}"/>
              </a:ext>
            </a:extLst>
          </p:cNvPr>
          <p:cNvSpPr/>
          <p:nvPr/>
        </p:nvSpPr>
        <p:spPr>
          <a:xfrm>
            <a:off x="-1" y="4825750"/>
            <a:ext cx="8748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CCF98CF-597C-FBFF-09A8-B4A93400C038}"/>
              </a:ext>
            </a:extLst>
          </p:cNvPr>
          <p:cNvSpPr txBox="1">
            <a:spLocks/>
          </p:cNvSpPr>
          <p:nvPr/>
        </p:nvSpPr>
        <p:spPr>
          <a:xfrm>
            <a:off x="8428827" y="4843750"/>
            <a:ext cx="319172" cy="2155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900" b="1" dirty="0">
                <a:solidFill>
                  <a:schemeClr val="accent6">
                    <a:lumMod val="10000"/>
                  </a:schemeClr>
                </a:solidFill>
                <a:latin typeface="Arial"/>
                <a:ea typeface="Palatino" pitchFamily="2" charset="77"/>
                <a:cs typeface="Arial"/>
              </a:rPr>
              <a:t>15</a:t>
            </a:r>
            <a:endParaRPr lang="en-US" sz="9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A743640-51D2-5841-F92F-67A793C59421}"/>
              </a:ext>
            </a:extLst>
          </p:cNvPr>
          <p:cNvGrpSpPr/>
          <p:nvPr/>
        </p:nvGrpSpPr>
        <p:grpSpPr>
          <a:xfrm>
            <a:off x="8374955" y="177830"/>
            <a:ext cx="660585" cy="808613"/>
            <a:chOff x="8374955" y="177830"/>
            <a:chExt cx="660585" cy="808613"/>
          </a:xfrm>
        </p:grpSpPr>
        <p:pic>
          <p:nvPicPr>
            <p:cNvPr id="10" name="Picture 9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8FBA45F1-E4FB-9A11-AD09-9CCCA611CB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73437"/>
            <a:stretch>
              <a:fillRect/>
            </a:stretch>
          </p:blipFill>
          <p:spPr>
            <a:xfrm>
              <a:off x="8499755" y="177830"/>
              <a:ext cx="410987" cy="501633"/>
            </a:xfrm>
            <a:prstGeom prst="rect">
              <a:avLst/>
            </a:prstGeom>
          </p:spPr>
        </p:pic>
        <p:sp>
          <p:nvSpPr>
            <p:cNvPr id="11" name="Title 1">
              <a:extLst>
                <a:ext uri="{FF2B5EF4-FFF2-40B4-BE49-F238E27FC236}">
                  <a16:creationId xmlns:a16="http://schemas.microsoft.com/office/drawing/2014/main" id="{E41318F6-F31D-5A0C-5941-F3BF64625657}"/>
                </a:ext>
              </a:extLst>
            </p:cNvPr>
            <p:cNvSpPr txBox="1">
              <a:spLocks/>
            </p:cNvSpPr>
            <p:nvPr/>
          </p:nvSpPr>
          <p:spPr>
            <a:xfrm>
              <a:off x="8374955" y="641372"/>
              <a:ext cx="660585" cy="3450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1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9pPr>
            </a:lstStyle>
            <a:p>
              <a:pPr algn="ctr"/>
              <a:r>
                <a:rPr lang="en" sz="500" dirty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CORPORATE PLANNING 2026</a:t>
              </a:r>
            </a:p>
          </p:txBody>
        </p:sp>
      </p:grpSp>
      <p:sp>
        <p:nvSpPr>
          <p:cNvPr id="8" name="Google Shape;668;p51">
            <a:extLst>
              <a:ext uri="{FF2B5EF4-FFF2-40B4-BE49-F238E27FC236}">
                <a16:creationId xmlns:a16="http://schemas.microsoft.com/office/drawing/2014/main" id="{68DBCDDB-14E9-C300-4B8D-173E587CCDC2}"/>
              </a:ext>
            </a:extLst>
          </p:cNvPr>
          <p:cNvSpPr txBox="1"/>
          <p:nvPr/>
        </p:nvSpPr>
        <p:spPr>
          <a:xfrm>
            <a:off x="432809" y="1601800"/>
            <a:ext cx="7847190" cy="4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91425" rIns="91425" bIns="91425" anchor="ctr" anchorCtr="0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  <a:ea typeface="Gotham Bold"/>
                <a:cs typeface="Gotham Bold"/>
                <a:sym typeface="Gotham Bold"/>
              </a:rPr>
              <a:t>Ect</a:t>
            </a:r>
            <a:endParaRPr lang="en-US" sz="1200" dirty="0">
              <a:solidFill>
                <a:schemeClr val="accent6">
                  <a:lumMod val="10000"/>
                </a:schemeClr>
              </a:solidFill>
              <a:ea typeface="Gotham Bold"/>
              <a:cs typeface="Gotham Bold"/>
              <a:sym typeface="Gotham Bold"/>
            </a:endParaRPr>
          </a:p>
        </p:txBody>
      </p:sp>
      <p:sp>
        <p:nvSpPr>
          <p:cNvPr id="13" name="Google Shape;668;p51">
            <a:extLst>
              <a:ext uri="{FF2B5EF4-FFF2-40B4-BE49-F238E27FC236}">
                <a16:creationId xmlns:a16="http://schemas.microsoft.com/office/drawing/2014/main" id="{8121C4FD-F306-58CB-BEBF-4F780957DC6D}"/>
              </a:ext>
            </a:extLst>
          </p:cNvPr>
          <p:cNvSpPr txBox="1"/>
          <p:nvPr/>
        </p:nvSpPr>
        <p:spPr>
          <a:xfrm>
            <a:off x="430911" y="2091400"/>
            <a:ext cx="7847190" cy="4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91425" rIns="91425" bIns="91425" anchor="ctr" anchorCtr="0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  <a:ea typeface="Gotham Bold"/>
                <a:cs typeface="Gotham Bold"/>
                <a:sym typeface="Gotham Bold"/>
              </a:rPr>
              <a:t>Ect</a:t>
            </a:r>
            <a:endParaRPr lang="en-US" sz="1200" dirty="0">
              <a:solidFill>
                <a:schemeClr val="accent6">
                  <a:lumMod val="10000"/>
                </a:schemeClr>
              </a:solidFill>
              <a:ea typeface="Gotham Bold"/>
              <a:cs typeface="Gotham Bold"/>
              <a:sym typeface="Gotham Bold"/>
            </a:endParaRPr>
          </a:p>
        </p:txBody>
      </p:sp>
      <p:sp>
        <p:nvSpPr>
          <p:cNvPr id="14" name="Google Shape;668;p51">
            <a:extLst>
              <a:ext uri="{FF2B5EF4-FFF2-40B4-BE49-F238E27FC236}">
                <a16:creationId xmlns:a16="http://schemas.microsoft.com/office/drawing/2014/main" id="{0E24EB90-E44E-0BFD-BAAC-A4187D68617E}"/>
              </a:ext>
            </a:extLst>
          </p:cNvPr>
          <p:cNvSpPr txBox="1"/>
          <p:nvPr/>
        </p:nvSpPr>
        <p:spPr>
          <a:xfrm>
            <a:off x="430911" y="2581000"/>
            <a:ext cx="7847190" cy="4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91425" rIns="91425" bIns="91425" anchor="ctr" anchorCtr="0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  <a:ea typeface="Gotham Bold"/>
                <a:cs typeface="Gotham Bold"/>
                <a:sym typeface="Gotham Bold"/>
              </a:rPr>
              <a:t>Ect</a:t>
            </a:r>
            <a:endParaRPr lang="en-US" sz="1200" dirty="0">
              <a:solidFill>
                <a:schemeClr val="accent6">
                  <a:lumMod val="10000"/>
                </a:schemeClr>
              </a:solidFill>
              <a:ea typeface="Gotham Bold"/>
              <a:cs typeface="Gotham Bold"/>
              <a:sym typeface="Gotham Bold"/>
            </a:endParaRPr>
          </a:p>
        </p:txBody>
      </p:sp>
      <p:sp>
        <p:nvSpPr>
          <p:cNvPr id="15" name="Google Shape;668;p51">
            <a:extLst>
              <a:ext uri="{FF2B5EF4-FFF2-40B4-BE49-F238E27FC236}">
                <a16:creationId xmlns:a16="http://schemas.microsoft.com/office/drawing/2014/main" id="{9DFA7CAD-B7E7-FCEA-A785-75DBBE865BC7}"/>
              </a:ext>
            </a:extLst>
          </p:cNvPr>
          <p:cNvSpPr txBox="1"/>
          <p:nvPr/>
        </p:nvSpPr>
        <p:spPr>
          <a:xfrm>
            <a:off x="430911" y="3070600"/>
            <a:ext cx="7847190" cy="4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91425" rIns="91425" bIns="91425" anchor="ctr" anchorCtr="0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  <a:ea typeface="Gotham Bold"/>
                <a:cs typeface="Gotham Bold"/>
                <a:sym typeface="Gotham Bold"/>
              </a:rPr>
              <a:t>Ect</a:t>
            </a:r>
            <a:endParaRPr lang="en-US" sz="1200" dirty="0">
              <a:solidFill>
                <a:schemeClr val="accent6">
                  <a:lumMod val="10000"/>
                </a:schemeClr>
              </a:solidFill>
              <a:ea typeface="Gotham Bold"/>
              <a:cs typeface="Gotham Bold"/>
              <a:sym typeface="Gotham Bold"/>
            </a:endParaRPr>
          </a:p>
        </p:txBody>
      </p:sp>
      <p:sp>
        <p:nvSpPr>
          <p:cNvPr id="16" name="Google Shape;668;p51">
            <a:extLst>
              <a:ext uri="{FF2B5EF4-FFF2-40B4-BE49-F238E27FC236}">
                <a16:creationId xmlns:a16="http://schemas.microsoft.com/office/drawing/2014/main" id="{6D72AD8C-AF3C-5F4D-8566-A20E1931DA9E}"/>
              </a:ext>
            </a:extLst>
          </p:cNvPr>
          <p:cNvSpPr txBox="1"/>
          <p:nvPr/>
        </p:nvSpPr>
        <p:spPr>
          <a:xfrm>
            <a:off x="430911" y="3560200"/>
            <a:ext cx="7847190" cy="4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91425" rIns="91425" bIns="91425" anchor="ctr" anchorCtr="0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  <a:ea typeface="Gotham Bold"/>
                <a:cs typeface="Gotham Bold"/>
                <a:sym typeface="Gotham Bold"/>
              </a:rPr>
              <a:t>Ect</a:t>
            </a:r>
            <a:endParaRPr lang="en-US" sz="1200" dirty="0">
              <a:solidFill>
                <a:schemeClr val="accent6">
                  <a:lumMod val="10000"/>
                </a:schemeClr>
              </a:solidFill>
              <a:ea typeface="Gotham Bold"/>
              <a:cs typeface="Gotham Bold"/>
              <a:sym typeface="Gotham Bold"/>
            </a:endParaRPr>
          </a:p>
        </p:txBody>
      </p:sp>
    </p:spTree>
    <p:extLst>
      <p:ext uri="{BB962C8B-B14F-4D97-AF65-F5344CB8AC3E}">
        <p14:creationId xmlns:p14="http://schemas.microsoft.com/office/powerpoint/2010/main" val="6939677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Shape 392">
          <a:extLst>
            <a:ext uri="{FF2B5EF4-FFF2-40B4-BE49-F238E27FC236}">
              <a16:creationId xmlns:a16="http://schemas.microsoft.com/office/drawing/2014/main" id="{FAA3A346-F7E3-979A-460F-D5DF1B1F9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EA6C1A47-F672-00E0-3018-22CC42F0CE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78193692"/>
              </p:ext>
            </p:extLst>
          </p:nvPr>
        </p:nvGraphicFramePr>
        <p:xfrm>
          <a:off x="713225" y="650540"/>
          <a:ext cx="6893824" cy="2042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7B131D89-2C77-F2D9-2D30-1F8C553078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02588026"/>
              </p:ext>
            </p:extLst>
          </p:nvPr>
        </p:nvGraphicFramePr>
        <p:xfrm>
          <a:off x="713225" y="2785760"/>
          <a:ext cx="6893824" cy="170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" name="Google Shape;231;g3694320abce_0_0">
            <a:extLst>
              <a:ext uri="{FF2B5EF4-FFF2-40B4-BE49-F238E27FC236}">
                <a16:creationId xmlns:a16="http://schemas.microsoft.com/office/drawing/2014/main" id="{A221A6DD-BDE4-B8EC-EC1C-E052E1E958A7}"/>
              </a:ext>
            </a:extLst>
          </p:cNvPr>
          <p:cNvSpPr/>
          <p:nvPr/>
        </p:nvSpPr>
        <p:spPr>
          <a:xfrm>
            <a:off x="-1" y="403433"/>
            <a:ext cx="8280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8CF6A23-C53B-8DCC-9D3D-19ED0C8C81E3}"/>
              </a:ext>
            </a:extLst>
          </p:cNvPr>
          <p:cNvSpPr txBox="1">
            <a:spLocks/>
          </p:cNvSpPr>
          <p:nvPr/>
        </p:nvSpPr>
        <p:spPr>
          <a:xfrm>
            <a:off x="247808" y="163063"/>
            <a:ext cx="3482620" cy="2173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D" sz="11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BAB 05 | </a:t>
            </a:r>
            <a:r>
              <a:rPr lang="en-ID" sz="11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P&amp;L</a:t>
            </a:r>
            <a:r>
              <a:rPr lang="en-ID" sz="11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Projection</a:t>
            </a:r>
            <a:endParaRPr lang="en-ID" sz="11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sp>
        <p:nvSpPr>
          <p:cNvPr id="6" name="Google Shape;231;g3694320abce_0_0">
            <a:extLst>
              <a:ext uri="{FF2B5EF4-FFF2-40B4-BE49-F238E27FC236}">
                <a16:creationId xmlns:a16="http://schemas.microsoft.com/office/drawing/2014/main" id="{0CAEAC1B-35DA-DD74-003A-A2952C5D85F1}"/>
              </a:ext>
            </a:extLst>
          </p:cNvPr>
          <p:cNvSpPr/>
          <p:nvPr/>
        </p:nvSpPr>
        <p:spPr>
          <a:xfrm>
            <a:off x="-1" y="4825750"/>
            <a:ext cx="8748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823FA6D-E59B-47AA-7256-79F1BB902E79}"/>
              </a:ext>
            </a:extLst>
          </p:cNvPr>
          <p:cNvSpPr txBox="1">
            <a:spLocks/>
          </p:cNvSpPr>
          <p:nvPr/>
        </p:nvSpPr>
        <p:spPr>
          <a:xfrm>
            <a:off x="8428827" y="4843750"/>
            <a:ext cx="319172" cy="2155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900" b="1" dirty="0">
                <a:solidFill>
                  <a:schemeClr val="accent6">
                    <a:lumMod val="10000"/>
                  </a:schemeClr>
                </a:solidFill>
                <a:latin typeface="Arial"/>
                <a:ea typeface="Palatino" pitchFamily="2" charset="77"/>
                <a:cs typeface="Arial"/>
              </a:rPr>
              <a:t>16</a:t>
            </a:r>
            <a:endParaRPr lang="en-US" sz="9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EBBB8B1-2F77-11EC-EF81-41B4979A50C5}"/>
              </a:ext>
            </a:extLst>
          </p:cNvPr>
          <p:cNvGrpSpPr/>
          <p:nvPr/>
        </p:nvGrpSpPr>
        <p:grpSpPr>
          <a:xfrm>
            <a:off x="8374955" y="177830"/>
            <a:ext cx="660585" cy="808613"/>
            <a:chOff x="8374955" y="177830"/>
            <a:chExt cx="660585" cy="808613"/>
          </a:xfrm>
        </p:grpSpPr>
        <p:pic>
          <p:nvPicPr>
            <p:cNvPr id="10" name="Picture 9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A667F196-44B1-4D02-34E1-0AC061E20E1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73437"/>
            <a:stretch>
              <a:fillRect/>
            </a:stretch>
          </p:blipFill>
          <p:spPr>
            <a:xfrm>
              <a:off x="8499755" y="177830"/>
              <a:ext cx="410987" cy="501633"/>
            </a:xfrm>
            <a:prstGeom prst="rect">
              <a:avLst/>
            </a:prstGeom>
          </p:spPr>
        </p:pic>
        <p:sp>
          <p:nvSpPr>
            <p:cNvPr id="11" name="Title 1">
              <a:extLst>
                <a:ext uri="{FF2B5EF4-FFF2-40B4-BE49-F238E27FC236}">
                  <a16:creationId xmlns:a16="http://schemas.microsoft.com/office/drawing/2014/main" id="{0070399E-C41B-3AFE-71A4-FFE7C03C1A1A}"/>
                </a:ext>
              </a:extLst>
            </p:cNvPr>
            <p:cNvSpPr txBox="1">
              <a:spLocks/>
            </p:cNvSpPr>
            <p:nvPr/>
          </p:nvSpPr>
          <p:spPr>
            <a:xfrm>
              <a:off x="8374955" y="641372"/>
              <a:ext cx="660585" cy="3450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1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9pPr>
            </a:lstStyle>
            <a:p>
              <a:pPr algn="ctr"/>
              <a:r>
                <a:rPr lang="en" sz="500" dirty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CORPORATE PLANNING 2026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770396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0">
          <a:extLst>
            <a:ext uri="{FF2B5EF4-FFF2-40B4-BE49-F238E27FC236}">
              <a16:creationId xmlns:a16="http://schemas.microsoft.com/office/drawing/2014/main" id="{B255E81F-15C0-AEE0-E4AC-9531654FC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31;g3694320abce_0_0">
            <a:extLst>
              <a:ext uri="{FF2B5EF4-FFF2-40B4-BE49-F238E27FC236}">
                <a16:creationId xmlns:a16="http://schemas.microsoft.com/office/drawing/2014/main" id="{8E60C14C-96EB-5B94-6D2F-093A4EBA9006}"/>
              </a:ext>
            </a:extLst>
          </p:cNvPr>
          <p:cNvSpPr/>
          <p:nvPr/>
        </p:nvSpPr>
        <p:spPr>
          <a:xfrm>
            <a:off x="2570857" y="2597846"/>
            <a:ext cx="6573145" cy="85893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2000">
              <a:solidFill>
                <a:schemeClr val="lt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F12982A-7360-AB00-89CF-958F1DD14AAA}"/>
              </a:ext>
            </a:extLst>
          </p:cNvPr>
          <p:cNvSpPr txBox="1">
            <a:spLocks/>
          </p:cNvSpPr>
          <p:nvPr/>
        </p:nvSpPr>
        <p:spPr>
          <a:xfrm>
            <a:off x="2570855" y="2120289"/>
            <a:ext cx="3404060" cy="477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5200" b="1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9pPr>
          </a:lstStyle>
          <a:p>
            <a:pPr algn="l"/>
            <a:r>
              <a:rPr lang="en-ID" sz="24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Strategic Priority</a:t>
            </a:r>
            <a:endParaRPr lang="en-US" sz="2000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DC840C0-87A6-08E8-6E9D-0ED4CD1C4940}"/>
              </a:ext>
            </a:extLst>
          </p:cNvPr>
          <p:cNvGrpSpPr/>
          <p:nvPr/>
        </p:nvGrpSpPr>
        <p:grpSpPr>
          <a:xfrm>
            <a:off x="1552624" y="2014883"/>
            <a:ext cx="910181" cy="1383082"/>
            <a:chOff x="1552624" y="2160811"/>
            <a:chExt cx="910181" cy="1383082"/>
          </a:xfrm>
        </p:grpSpPr>
        <p:pic>
          <p:nvPicPr>
            <p:cNvPr id="3" name="Picture 2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C6C05710-3DA8-82D3-C78A-68BB5E2FEC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73437"/>
            <a:stretch>
              <a:fillRect/>
            </a:stretch>
          </p:blipFill>
          <p:spPr>
            <a:xfrm>
              <a:off x="1552624" y="2160811"/>
              <a:ext cx="910181" cy="1045856"/>
            </a:xfrm>
            <a:prstGeom prst="rect">
              <a:avLst/>
            </a:prstGeom>
          </p:spPr>
        </p:pic>
        <p:sp>
          <p:nvSpPr>
            <p:cNvPr id="4" name="Title 1">
              <a:extLst>
                <a:ext uri="{FF2B5EF4-FFF2-40B4-BE49-F238E27FC236}">
                  <a16:creationId xmlns:a16="http://schemas.microsoft.com/office/drawing/2014/main" id="{ADDA6C24-51E2-1F80-0AFF-EA4361B7B429}"/>
                </a:ext>
              </a:extLst>
            </p:cNvPr>
            <p:cNvSpPr txBox="1">
              <a:spLocks/>
            </p:cNvSpPr>
            <p:nvPr/>
          </p:nvSpPr>
          <p:spPr>
            <a:xfrm>
              <a:off x="1552624" y="3206667"/>
              <a:ext cx="910181" cy="33722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1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9pPr>
            </a:lstStyle>
            <a:p>
              <a:pPr algn="ctr"/>
              <a:r>
                <a:rPr lang="en" sz="700" dirty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CORPORATE PLANNING </a:t>
              </a:r>
            </a:p>
            <a:p>
              <a:pPr algn="ctr"/>
              <a:r>
                <a:rPr lang="en" sz="700" dirty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2026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934910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Shape 664">
          <a:extLst>
            <a:ext uri="{FF2B5EF4-FFF2-40B4-BE49-F238E27FC236}">
              <a16:creationId xmlns:a16="http://schemas.microsoft.com/office/drawing/2014/main" id="{9E0B8211-08B7-B76F-625E-F351C63B6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51">
            <a:extLst>
              <a:ext uri="{FF2B5EF4-FFF2-40B4-BE49-F238E27FC236}">
                <a16:creationId xmlns:a16="http://schemas.microsoft.com/office/drawing/2014/main" id="{6F81E823-B609-6C97-BE2A-0D9314619CDF}"/>
              </a:ext>
            </a:extLst>
          </p:cNvPr>
          <p:cNvSpPr txBox="1"/>
          <p:nvPr/>
        </p:nvSpPr>
        <p:spPr>
          <a:xfrm>
            <a:off x="247806" y="488901"/>
            <a:ext cx="8032193" cy="4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91425" rIns="91425" bIns="91425" anchor="ctr" anchorCtr="0">
            <a:noAutofit/>
          </a:bodyPr>
          <a:lstStyle/>
          <a:p>
            <a:r>
              <a:rPr lang="en" sz="16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nquin"/>
                <a:cs typeface="Arial" panose="020B0604020202020204" pitchFamily="34" charset="0"/>
                <a:sym typeface="Palanquin"/>
              </a:rPr>
              <a:t>(Based by PLANNING)</a:t>
            </a:r>
            <a:endParaRPr sz="1600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nquin"/>
              <a:cs typeface="Arial" panose="020B0604020202020204" pitchFamily="34" charset="0"/>
              <a:sym typeface="Palanquin"/>
            </a:endParaRPr>
          </a:p>
        </p:txBody>
      </p:sp>
      <p:sp>
        <p:nvSpPr>
          <p:cNvPr id="4" name="Google Shape;231;g3694320abce_0_0">
            <a:extLst>
              <a:ext uri="{FF2B5EF4-FFF2-40B4-BE49-F238E27FC236}">
                <a16:creationId xmlns:a16="http://schemas.microsoft.com/office/drawing/2014/main" id="{6BC224A3-8C4A-7494-40F5-360136AEE7BE}"/>
              </a:ext>
            </a:extLst>
          </p:cNvPr>
          <p:cNvSpPr/>
          <p:nvPr/>
        </p:nvSpPr>
        <p:spPr>
          <a:xfrm>
            <a:off x="-1" y="403433"/>
            <a:ext cx="8280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76A6061-0ED4-A3D2-10E2-60E42A212A7B}"/>
              </a:ext>
            </a:extLst>
          </p:cNvPr>
          <p:cNvSpPr txBox="1">
            <a:spLocks/>
          </p:cNvSpPr>
          <p:nvPr/>
        </p:nvSpPr>
        <p:spPr>
          <a:xfrm>
            <a:off x="247808" y="163063"/>
            <a:ext cx="3482620" cy="2173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D" sz="11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BAB XX | </a:t>
            </a:r>
            <a:r>
              <a:rPr lang="en-ID" sz="11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Strategic Priorities</a:t>
            </a:r>
            <a:endParaRPr lang="en-ID" sz="11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sp>
        <p:nvSpPr>
          <p:cNvPr id="6" name="Google Shape;231;g3694320abce_0_0">
            <a:extLst>
              <a:ext uri="{FF2B5EF4-FFF2-40B4-BE49-F238E27FC236}">
                <a16:creationId xmlns:a16="http://schemas.microsoft.com/office/drawing/2014/main" id="{F4099CF7-4C3C-E17B-E64C-1DA5ABDBB225}"/>
              </a:ext>
            </a:extLst>
          </p:cNvPr>
          <p:cNvSpPr/>
          <p:nvPr/>
        </p:nvSpPr>
        <p:spPr>
          <a:xfrm>
            <a:off x="-1" y="4825750"/>
            <a:ext cx="8748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630C6BE-75C0-5ACC-1BCD-DD7B3DBC57BB}"/>
              </a:ext>
            </a:extLst>
          </p:cNvPr>
          <p:cNvSpPr txBox="1">
            <a:spLocks/>
          </p:cNvSpPr>
          <p:nvPr/>
        </p:nvSpPr>
        <p:spPr>
          <a:xfrm>
            <a:off x="8428827" y="4843750"/>
            <a:ext cx="319172" cy="2155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9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xx</a:t>
            </a:r>
            <a:endParaRPr lang="en-ID" sz="9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D8A284A-87C7-6AB1-DB22-FB931E7689B2}"/>
              </a:ext>
            </a:extLst>
          </p:cNvPr>
          <p:cNvGrpSpPr/>
          <p:nvPr/>
        </p:nvGrpSpPr>
        <p:grpSpPr>
          <a:xfrm>
            <a:off x="8374955" y="177830"/>
            <a:ext cx="660585" cy="808613"/>
            <a:chOff x="8374955" y="177830"/>
            <a:chExt cx="660585" cy="808613"/>
          </a:xfrm>
        </p:grpSpPr>
        <p:pic>
          <p:nvPicPr>
            <p:cNvPr id="10" name="Picture 9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F5F7599A-C5CB-9B2B-4D9B-BC1128B1A1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73437"/>
            <a:stretch>
              <a:fillRect/>
            </a:stretch>
          </p:blipFill>
          <p:spPr>
            <a:xfrm>
              <a:off x="8499755" y="177830"/>
              <a:ext cx="410987" cy="501633"/>
            </a:xfrm>
            <a:prstGeom prst="rect">
              <a:avLst/>
            </a:prstGeom>
          </p:spPr>
        </p:pic>
        <p:sp>
          <p:nvSpPr>
            <p:cNvPr id="11" name="Title 1">
              <a:extLst>
                <a:ext uri="{FF2B5EF4-FFF2-40B4-BE49-F238E27FC236}">
                  <a16:creationId xmlns:a16="http://schemas.microsoft.com/office/drawing/2014/main" id="{8A88DEB1-1ACB-2D7B-8392-B661E8D4B9D1}"/>
                </a:ext>
              </a:extLst>
            </p:cNvPr>
            <p:cNvSpPr txBox="1">
              <a:spLocks/>
            </p:cNvSpPr>
            <p:nvPr/>
          </p:nvSpPr>
          <p:spPr>
            <a:xfrm>
              <a:off x="8374955" y="641372"/>
              <a:ext cx="660585" cy="3450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1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9pPr>
            </a:lstStyle>
            <a:p>
              <a:pPr algn="ctr"/>
              <a:r>
                <a:rPr lang="en" sz="500" dirty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CORPORATE PLANNING 2026</a:t>
              </a:r>
            </a:p>
          </p:txBody>
        </p:sp>
      </p:grpSp>
      <p:sp>
        <p:nvSpPr>
          <p:cNvPr id="8" name="Google Shape;668;p51">
            <a:extLst>
              <a:ext uri="{FF2B5EF4-FFF2-40B4-BE49-F238E27FC236}">
                <a16:creationId xmlns:a16="http://schemas.microsoft.com/office/drawing/2014/main" id="{C95835A2-E490-70E8-65D8-47B7ADDC98E5}"/>
              </a:ext>
            </a:extLst>
          </p:cNvPr>
          <p:cNvSpPr txBox="1"/>
          <p:nvPr/>
        </p:nvSpPr>
        <p:spPr>
          <a:xfrm>
            <a:off x="247808" y="1299527"/>
            <a:ext cx="8181019" cy="448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91425" rIns="91425" bIns="91425" anchor="ctr" anchorCtr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</a:rPr>
              <a:t>Optimalisasi</a:t>
            </a:r>
            <a:r>
              <a:rPr lang="en-US" sz="1200" dirty="0">
                <a:solidFill>
                  <a:schemeClr val="accent6">
                    <a:lumMod val="10000"/>
                  </a:schemeClr>
                </a:solidFill>
              </a:rPr>
              <a:t> RIS, </a:t>
            </a:r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</a:rPr>
              <a:t>diharapkan</a:t>
            </a:r>
            <a:r>
              <a:rPr lang="en-US" sz="1200" dirty="0">
                <a:solidFill>
                  <a:schemeClr val="accent6">
                    <a:lumMod val="10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</a:rPr>
              <a:t>Tahun</a:t>
            </a:r>
            <a:r>
              <a:rPr lang="en-US" sz="1200" dirty="0">
                <a:solidFill>
                  <a:schemeClr val="accent6">
                    <a:lumMod val="10000"/>
                  </a:schemeClr>
                </a:solidFill>
              </a:rPr>
              <a:t> 2025 </a:t>
            </a:r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</a:rPr>
              <a:t>untuk</a:t>
            </a:r>
            <a:r>
              <a:rPr lang="en-US" sz="1200" dirty="0">
                <a:solidFill>
                  <a:schemeClr val="accent6">
                    <a:lumMod val="10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</a:rPr>
              <a:t>surat</a:t>
            </a:r>
            <a:r>
              <a:rPr lang="en-US" sz="1200" dirty="0">
                <a:solidFill>
                  <a:schemeClr val="accent6">
                    <a:lumMod val="10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</a:rPr>
              <a:t>permintaan</a:t>
            </a:r>
            <a:r>
              <a:rPr lang="en-US" sz="1200" dirty="0">
                <a:solidFill>
                  <a:schemeClr val="accent6">
                    <a:lumMod val="10000"/>
                  </a:schemeClr>
                </a:solidFill>
              </a:rPr>
              <a:t> data </a:t>
            </a:r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</a:rPr>
              <a:t>ke</a:t>
            </a:r>
            <a:r>
              <a:rPr lang="en-US" sz="1200" dirty="0">
                <a:solidFill>
                  <a:schemeClr val="accent6">
                    <a:lumMod val="10000"/>
                  </a:schemeClr>
                </a:solidFill>
              </a:rPr>
              <a:t> tata </a:t>
            </a:r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</a:rPr>
              <a:t>kota</a:t>
            </a:r>
            <a:r>
              <a:rPr lang="en-US" sz="1200" dirty="0">
                <a:solidFill>
                  <a:schemeClr val="accent6">
                    <a:lumMod val="10000"/>
                  </a:schemeClr>
                </a:solidFill>
              </a:rPr>
              <a:t>, BPN </a:t>
            </a:r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</a:rPr>
              <a:t>dll</a:t>
            </a:r>
            <a:r>
              <a:rPr lang="en-US" sz="1200" dirty="0">
                <a:solidFill>
                  <a:schemeClr val="accent6">
                    <a:lumMod val="10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</a:rPr>
              <a:t>serta</a:t>
            </a:r>
            <a:r>
              <a:rPr lang="en-US" sz="1200" dirty="0">
                <a:solidFill>
                  <a:schemeClr val="accent6">
                    <a:lumMod val="10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</a:rPr>
              <a:t>surat</a:t>
            </a:r>
            <a:r>
              <a:rPr lang="en-US" sz="1200" dirty="0">
                <a:solidFill>
                  <a:schemeClr val="accent6">
                    <a:lumMod val="10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</a:rPr>
              <a:t>konfirmasi</a:t>
            </a:r>
            <a:r>
              <a:rPr lang="en-US" sz="1200" dirty="0">
                <a:solidFill>
                  <a:schemeClr val="accent6">
                    <a:lumMod val="10000"/>
                  </a:schemeClr>
                </a:solidFill>
              </a:rPr>
              <a:t> &amp; </a:t>
            </a:r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</a:rPr>
              <a:t>representasi</a:t>
            </a:r>
            <a:r>
              <a:rPr lang="en-US" sz="1200" dirty="0">
                <a:solidFill>
                  <a:schemeClr val="accent6">
                    <a:lumMod val="10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</a:rPr>
              <a:t>sudah</a:t>
            </a:r>
            <a:r>
              <a:rPr lang="en-US" sz="1200" dirty="0">
                <a:solidFill>
                  <a:schemeClr val="accent6">
                    <a:lumMod val="10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</a:rPr>
              <a:t>bisa</a:t>
            </a:r>
            <a:r>
              <a:rPr lang="en-US" sz="1200" dirty="0">
                <a:solidFill>
                  <a:schemeClr val="accent6">
                    <a:lumMod val="10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</a:rPr>
              <a:t>melalui</a:t>
            </a:r>
            <a:r>
              <a:rPr lang="en-US" sz="1200" dirty="0">
                <a:solidFill>
                  <a:schemeClr val="accent6">
                    <a:lumMod val="10000"/>
                  </a:schemeClr>
                </a:solidFill>
              </a:rPr>
              <a:t> RIS (</a:t>
            </a:r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</a:rPr>
              <a:t>contoh</a:t>
            </a:r>
            <a:r>
              <a:rPr lang="en-US" sz="1200" dirty="0">
                <a:solidFill>
                  <a:schemeClr val="accent6">
                    <a:lumMod val="10000"/>
                  </a:schemeClr>
                </a:solidFill>
              </a:rPr>
              <a:t>)</a:t>
            </a:r>
          </a:p>
        </p:txBody>
      </p:sp>
      <p:sp>
        <p:nvSpPr>
          <p:cNvPr id="15" name="Google Shape;668;p51">
            <a:extLst>
              <a:ext uri="{FF2B5EF4-FFF2-40B4-BE49-F238E27FC236}">
                <a16:creationId xmlns:a16="http://schemas.microsoft.com/office/drawing/2014/main" id="{2985B4D8-674B-A7E4-81D3-3C56CDC4E711}"/>
              </a:ext>
            </a:extLst>
          </p:cNvPr>
          <p:cNvSpPr txBox="1"/>
          <p:nvPr/>
        </p:nvSpPr>
        <p:spPr>
          <a:xfrm>
            <a:off x="247807" y="1748119"/>
            <a:ext cx="8181019" cy="448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91425" rIns="91425" bIns="91425" anchor="ctr" anchorCtr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</a:rPr>
              <a:t>Ect</a:t>
            </a:r>
            <a:endParaRPr lang="en-US" sz="12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6" name="Google Shape;668;p51">
            <a:extLst>
              <a:ext uri="{FF2B5EF4-FFF2-40B4-BE49-F238E27FC236}">
                <a16:creationId xmlns:a16="http://schemas.microsoft.com/office/drawing/2014/main" id="{C26BE335-4FB9-D8E5-73C9-9574FC2304D5}"/>
              </a:ext>
            </a:extLst>
          </p:cNvPr>
          <p:cNvSpPr txBox="1"/>
          <p:nvPr/>
        </p:nvSpPr>
        <p:spPr>
          <a:xfrm>
            <a:off x="247807" y="2196711"/>
            <a:ext cx="8181019" cy="448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91425" rIns="91425" bIns="91425" anchor="ctr" anchorCtr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</a:rPr>
              <a:t>Ect</a:t>
            </a:r>
            <a:endParaRPr lang="en-US" sz="12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7" name="Google Shape;668;p51">
            <a:extLst>
              <a:ext uri="{FF2B5EF4-FFF2-40B4-BE49-F238E27FC236}">
                <a16:creationId xmlns:a16="http://schemas.microsoft.com/office/drawing/2014/main" id="{4AB4A18C-6935-FF4A-349D-8C5323D50AAC}"/>
              </a:ext>
            </a:extLst>
          </p:cNvPr>
          <p:cNvSpPr txBox="1"/>
          <p:nvPr/>
        </p:nvSpPr>
        <p:spPr>
          <a:xfrm>
            <a:off x="247806" y="2645303"/>
            <a:ext cx="8181019" cy="448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91425" rIns="91425" bIns="91425" anchor="ctr" anchorCtr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</a:rPr>
              <a:t>Ect</a:t>
            </a:r>
            <a:endParaRPr lang="en-US" sz="12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8" name="Google Shape;668;p51">
            <a:extLst>
              <a:ext uri="{FF2B5EF4-FFF2-40B4-BE49-F238E27FC236}">
                <a16:creationId xmlns:a16="http://schemas.microsoft.com/office/drawing/2014/main" id="{9BD370ED-9C0B-70DA-F7FA-FD52CFD0092B}"/>
              </a:ext>
            </a:extLst>
          </p:cNvPr>
          <p:cNvSpPr txBox="1"/>
          <p:nvPr/>
        </p:nvSpPr>
        <p:spPr>
          <a:xfrm>
            <a:off x="247806" y="954456"/>
            <a:ext cx="8032193" cy="345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91425" rIns="91425" bIns="91425" anchor="ctr" anchorCtr="0">
            <a:noAutofit/>
          </a:bodyPr>
          <a:lstStyle/>
          <a:p>
            <a:r>
              <a:rPr lang="en-US" sz="1600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nquin"/>
                <a:cs typeface="Arial" panose="020B0604020202020204" pitchFamily="34" charset="0"/>
                <a:sym typeface="Palanquin"/>
              </a:rPr>
              <a:t>Judul</a:t>
            </a:r>
            <a:endParaRPr sz="1600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nquin"/>
              <a:cs typeface="Arial" panose="020B0604020202020204" pitchFamily="34" charset="0"/>
              <a:sym typeface="Palanquin"/>
            </a:endParaRPr>
          </a:p>
        </p:txBody>
      </p:sp>
      <p:sp>
        <p:nvSpPr>
          <p:cNvPr id="19" name="Google Shape;668;p51">
            <a:extLst>
              <a:ext uri="{FF2B5EF4-FFF2-40B4-BE49-F238E27FC236}">
                <a16:creationId xmlns:a16="http://schemas.microsoft.com/office/drawing/2014/main" id="{7CD2EEAD-BA6E-3F30-A13B-10FB522A8DFB}"/>
              </a:ext>
            </a:extLst>
          </p:cNvPr>
          <p:cNvSpPr txBox="1"/>
          <p:nvPr/>
        </p:nvSpPr>
        <p:spPr>
          <a:xfrm>
            <a:off x="247808" y="3438966"/>
            <a:ext cx="8181019" cy="448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91425" rIns="91425" bIns="91425" anchor="ctr" anchorCtr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6">
                    <a:lumMod val="10000"/>
                  </a:schemeClr>
                </a:solidFill>
              </a:rPr>
              <a:t>Pendidikan </a:t>
            </a:r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</a:rPr>
              <a:t>dasar</a:t>
            </a:r>
            <a:r>
              <a:rPr lang="en-US" sz="1200" dirty="0">
                <a:solidFill>
                  <a:schemeClr val="accent6">
                    <a:lumMod val="10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</a:rPr>
              <a:t>penilaian</a:t>
            </a:r>
            <a:r>
              <a:rPr lang="en-US" sz="1200" dirty="0">
                <a:solidFill>
                  <a:schemeClr val="accent6">
                    <a:lumMod val="10000"/>
                  </a:schemeClr>
                </a:solidFill>
              </a:rPr>
              <a:t> dan training </a:t>
            </a:r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</a:rPr>
              <a:t>lainnya</a:t>
            </a:r>
            <a:r>
              <a:rPr lang="en-US" sz="1200" dirty="0">
                <a:solidFill>
                  <a:schemeClr val="accent6">
                    <a:lumMod val="10000"/>
                  </a:schemeClr>
                </a:solidFill>
              </a:rPr>
              <a:t> yang </a:t>
            </a:r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</a:rPr>
              <a:t>terkait</a:t>
            </a:r>
            <a:r>
              <a:rPr lang="en-US" sz="1200" dirty="0">
                <a:solidFill>
                  <a:schemeClr val="accent6">
                    <a:lumMod val="10000"/>
                  </a:schemeClr>
                </a:solidFill>
              </a:rPr>
              <a:t> (</a:t>
            </a:r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</a:rPr>
              <a:t>contoh</a:t>
            </a:r>
            <a:r>
              <a:rPr lang="en-US" sz="1200" dirty="0">
                <a:solidFill>
                  <a:schemeClr val="accent6">
                    <a:lumMod val="10000"/>
                  </a:schemeClr>
                </a:solidFill>
              </a:rPr>
              <a:t>)</a:t>
            </a:r>
          </a:p>
        </p:txBody>
      </p:sp>
      <p:sp>
        <p:nvSpPr>
          <p:cNvPr id="20" name="Google Shape;668;p51">
            <a:extLst>
              <a:ext uri="{FF2B5EF4-FFF2-40B4-BE49-F238E27FC236}">
                <a16:creationId xmlns:a16="http://schemas.microsoft.com/office/drawing/2014/main" id="{A3C1293C-D1B4-1C70-8B83-3247BECF88A8}"/>
              </a:ext>
            </a:extLst>
          </p:cNvPr>
          <p:cNvSpPr txBox="1"/>
          <p:nvPr/>
        </p:nvSpPr>
        <p:spPr>
          <a:xfrm>
            <a:off x="247807" y="3887558"/>
            <a:ext cx="8181019" cy="448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91425" rIns="91425" bIns="91425" anchor="ctr" anchorCtr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</a:rPr>
              <a:t>Ect</a:t>
            </a:r>
            <a:endParaRPr lang="en-US" sz="12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21" name="Google Shape;668;p51">
            <a:extLst>
              <a:ext uri="{FF2B5EF4-FFF2-40B4-BE49-F238E27FC236}">
                <a16:creationId xmlns:a16="http://schemas.microsoft.com/office/drawing/2014/main" id="{5B8783F2-C021-16DC-5896-13CAFB6BC8D7}"/>
              </a:ext>
            </a:extLst>
          </p:cNvPr>
          <p:cNvSpPr txBox="1"/>
          <p:nvPr/>
        </p:nvSpPr>
        <p:spPr>
          <a:xfrm>
            <a:off x="247807" y="4336150"/>
            <a:ext cx="8181019" cy="448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91425" rIns="91425" bIns="91425" anchor="ctr" anchorCtr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</a:rPr>
              <a:t>Ect</a:t>
            </a:r>
            <a:endParaRPr lang="en-US" sz="12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23" name="Google Shape;668;p51">
            <a:extLst>
              <a:ext uri="{FF2B5EF4-FFF2-40B4-BE49-F238E27FC236}">
                <a16:creationId xmlns:a16="http://schemas.microsoft.com/office/drawing/2014/main" id="{E0E191B0-E98A-D89B-131C-BAE23738647F}"/>
              </a:ext>
            </a:extLst>
          </p:cNvPr>
          <p:cNvSpPr txBox="1"/>
          <p:nvPr/>
        </p:nvSpPr>
        <p:spPr>
          <a:xfrm>
            <a:off x="247806" y="3093895"/>
            <a:ext cx="8032193" cy="345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91425" rIns="91425" bIns="91425" anchor="ctr" anchorCtr="0">
            <a:noAutofit/>
          </a:bodyPr>
          <a:lstStyle/>
          <a:p>
            <a:r>
              <a:rPr lang="en-US" sz="1600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nquin"/>
                <a:cs typeface="Arial" panose="020B0604020202020204" pitchFamily="34" charset="0"/>
                <a:sym typeface="Palanquin"/>
              </a:rPr>
              <a:t>Judul</a:t>
            </a:r>
            <a:endParaRPr sz="1600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nquin"/>
              <a:cs typeface="Arial" panose="020B0604020202020204" pitchFamily="34" charset="0"/>
              <a:sym typeface="Palanquin"/>
            </a:endParaRPr>
          </a:p>
        </p:txBody>
      </p:sp>
    </p:spTree>
    <p:extLst>
      <p:ext uri="{BB962C8B-B14F-4D97-AF65-F5344CB8AC3E}">
        <p14:creationId xmlns:p14="http://schemas.microsoft.com/office/powerpoint/2010/main" val="838811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0">
          <a:extLst>
            <a:ext uri="{FF2B5EF4-FFF2-40B4-BE49-F238E27FC236}">
              <a16:creationId xmlns:a16="http://schemas.microsoft.com/office/drawing/2014/main" id="{6443784A-CF5C-33F8-1C6A-3DA56C27D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31;g3694320abce_0_0">
            <a:extLst>
              <a:ext uri="{FF2B5EF4-FFF2-40B4-BE49-F238E27FC236}">
                <a16:creationId xmlns:a16="http://schemas.microsoft.com/office/drawing/2014/main" id="{031C168D-857A-64CE-A185-4B5DBED85A55}"/>
              </a:ext>
            </a:extLst>
          </p:cNvPr>
          <p:cNvSpPr/>
          <p:nvPr/>
        </p:nvSpPr>
        <p:spPr>
          <a:xfrm>
            <a:off x="2570857" y="2597846"/>
            <a:ext cx="6573145" cy="85893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2000">
              <a:solidFill>
                <a:schemeClr val="lt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9D4CC3B-5061-AA79-AE66-793B4546EBA1}"/>
              </a:ext>
            </a:extLst>
          </p:cNvPr>
          <p:cNvSpPr txBox="1">
            <a:spLocks/>
          </p:cNvSpPr>
          <p:nvPr/>
        </p:nvSpPr>
        <p:spPr>
          <a:xfrm>
            <a:off x="2570855" y="2120289"/>
            <a:ext cx="3404060" cy="477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5200" b="1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9pPr>
          </a:lstStyle>
          <a:p>
            <a:pPr algn="l"/>
            <a:r>
              <a:rPr lang="en-ID" sz="24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Action Plan</a:t>
            </a:r>
            <a:endParaRPr lang="en-US" sz="2000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D49AAD6-004C-FF28-B8A8-D22938118C7D}"/>
              </a:ext>
            </a:extLst>
          </p:cNvPr>
          <p:cNvGrpSpPr/>
          <p:nvPr/>
        </p:nvGrpSpPr>
        <p:grpSpPr>
          <a:xfrm>
            <a:off x="1552624" y="2014883"/>
            <a:ext cx="910181" cy="1383082"/>
            <a:chOff x="1552624" y="2160811"/>
            <a:chExt cx="910181" cy="1383082"/>
          </a:xfrm>
        </p:grpSpPr>
        <p:pic>
          <p:nvPicPr>
            <p:cNvPr id="3" name="Picture 2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EDE31625-A2A6-D87D-5189-65003B34E09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73437"/>
            <a:stretch>
              <a:fillRect/>
            </a:stretch>
          </p:blipFill>
          <p:spPr>
            <a:xfrm>
              <a:off x="1552624" y="2160811"/>
              <a:ext cx="910181" cy="1045856"/>
            </a:xfrm>
            <a:prstGeom prst="rect">
              <a:avLst/>
            </a:prstGeom>
          </p:spPr>
        </p:pic>
        <p:sp>
          <p:nvSpPr>
            <p:cNvPr id="4" name="Title 1">
              <a:extLst>
                <a:ext uri="{FF2B5EF4-FFF2-40B4-BE49-F238E27FC236}">
                  <a16:creationId xmlns:a16="http://schemas.microsoft.com/office/drawing/2014/main" id="{E4BD38A5-553D-63E2-3EFD-DAFCBD55149C}"/>
                </a:ext>
              </a:extLst>
            </p:cNvPr>
            <p:cNvSpPr txBox="1">
              <a:spLocks/>
            </p:cNvSpPr>
            <p:nvPr/>
          </p:nvSpPr>
          <p:spPr>
            <a:xfrm>
              <a:off x="1552624" y="3206667"/>
              <a:ext cx="910181" cy="33722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1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9pPr>
            </a:lstStyle>
            <a:p>
              <a:pPr algn="ctr"/>
              <a:r>
                <a:rPr lang="en" sz="700" dirty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CORPORATE PLANNING </a:t>
              </a:r>
            </a:p>
            <a:p>
              <a:pPr algn="ctr"/>
              <a:r>
                <a:rPr lang="en" sz="700" dirty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2026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190248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3" name="Google Shape;863;p59"/>
          <p:cNvGraphicFramePr/>
          <p:nvPr>
            <p:extLst>
              <p:ext uri="{D42A27DB-BD31-4B8C-83A1-F6EECF244321}">
                <p14:modId xmlns:p14="http://schemas.microsoft.com/office/powerpoint/2010/main" val="334412728"/>
              </p:ext>
            </p:extLst>
          </p:nvPr>
        </p:nvGraphicFramePr>
        <p:xfrm>
          <a:off x="561878" y="1079775"/>
          <a:ext cx="7717500" cy="2983950"/>
        </p:xfrm>
        <a:graphic>
          <a:graphicData uri="http://schemas.openxmlformats.org/drawingml/2006/table">
            <a:tbl>
              <a:tblPr>
                <a:noFill/>
                <a:tableStyleId>{63880C63-ABA5-47B6-BCEC-ADF76586A5FF}</a:tableStyleId>
              </a:tblPr>
              <a:tblGrid>
                <a:gridCol w="69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4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4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4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4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43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342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>
                        <a:latin typeface="Arial" panose="020B0604020202020204" pitchFamily="34" charset="0"/>
                        <a:ea typeface="Palanquin"/>
                        <a:cs typeface="Arial" panose="020B0604020202020204" pitchFamily="34" charset="0"/>
                        <a:sym typeface="Palanqui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ea typeface="Palanquin"/>
                          <a:cs typeface="Arial" panose="020B0604020202020204" pitchFamily="34" charset="0"/>
                          <a:sym typeface="Palanquin"/>
                        </a:rPr>
                        <a:t>Q1 </a:t>
                      </a:r>
                      <a:endParaRPr sz="1800" b="1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ea typeface="Palanquin"/>
                        <a:cs typeface="Arial" panose="020B0604020202020204" pitchFamily="34" charset="0"/>
                        <a:sym typeface="Palanqui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ea typeface="Palanquin"/>
                          <a:cs typeface="Arial" panose="020B0604020202020204" pitchFamily="34" charset="0"/>
                          <a:sym typeface="Palanquin"/>
                        </a:rPr>
                        <a:t>Q2</a:t>
                      </a:r>
                      <a:endParaRPr sz="1800" b="1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ea typeface="Palanquin"/>
                        <a:cs typeface="Arial" panose="020B0604020202020204" pitchFamily="34" charset="0"/>
                        <a:sym typeface="Palanqui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ea typeface="Palanquin"/>
                          <a:cs typeface="Arial" panose="020B0604020202020204" pitchFamily="34" charset="0"/>
                          <a:sym typeface="Palanquin"/>
                        </a:rPr>
                        <a:t>Q3</a:t>
                      </a:r>
                      <a:endParaRPr sz="1800" b="1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ea typeface="Palanquin"/>
                        <a:cs typeface="Arial" panose="020B0604020202020204" pitchFamily="34" charset="0"/>
                        <a:sym typeface="Palanqui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ea typeface="Palanquin"/>
                          <a:cs typeface="Arial" panose="020B0604020202020204" pitchFamily="34" charset="0"/>
                          <a:sym typeface="Palanquin"/>
                        </a:rPr>
                        <a:t>Q4</a:t>
                      </a:r>
                      <a:endParaRPr sz="1800" b="1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ea typeface="Palanquin"/>
                        <a:cs typeface="Arial" panose="020B0604020202020204" pitchFamily="34" charset="0"/>
                        <a:sym typeface="Palanqui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Palanquin"/>
                        <a:cs typeface="Arial" panose="020B0604020202020204" pitchFamily="34" charset="0"/>
                        <a:sym typeface="Palanqui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Palanquin"/>
                        <a:cs typeface="Arial" panose="020B0604020202020204" pitchFamily="34" charset="0"/>
                        <a:sym typeface="Palanqui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ea typeface="Palanquin"/>
                          <a:cs typeface="Arial" panose="020B0604020202020204" pitchFamily="34" charset="0"/>
                          <a:sym typeface="Palanquin"/>
                        </a:rPr>
                        <a:t>Project I</a:t>
                      </a:r>
                      <a:endParaRPr sz="16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ea typeface="Palanquin"/>
                        <a:cs typeface="Arial" panose="020B0604020202020204" pitchFamily="34" charset="0"/>
                        <a:sym typeface="Palanqui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ea typeface="Palanquin"/>
                        <a:cs typeface="Arial" panose="020B0604020202020204" pitchFamily="34" charset="0"/>
                        <a:sym typeface="Palanqui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D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Palanquin"/>
                          <a:cs typeface="Arial" panose="020B0604020202020204" pitchFamily="34" charset="0"/>
                          <a:sym typeface="Palanquin"/>
                        </a:rPr>
                        <a:t>Project 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D" sz="16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Palanquin"/>
                          <a:cs typeface="Arial" panose="020B0604020202020204" pitchFamily="34" charset="0"/>
                          <a:sym typeface="Palanquin"/>
                        </a:rPr>
                        <a:t>Project I</a:t>
                      </a:r>
                      <a:endParaRPr kumimoji="0" lang="en-ID" sz="16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Palanquin"/>
                        <a:cs typeface="Arial" panose="020B0604020202020204" pitchFamily="34" charset="0"/>
                        <a:sym typeface="Palanqui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 dirty="0">
                        <a:latin typeface="Arial" panose="020B0604020202020204" pitchFamily="34" charset="0"/>
                        <a:ea typeface="Palanquin"/>
                        <a:cs typeface="Arial" panose="020B0604020202020204" pitchFamily="34" charset="0"/>
                        <a:sym typeface="Palanqui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Palanquin"/>
                        <a:cs typeface="Arial" panose="020B0604020202020204" pitchFamily="34" charset="0"/>
                        <a:sym typeface="Palanqui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D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Palanquin"/>
                          <a:cs typeface="Arial" panose="020B0604020202020204" pitchFamily="34" charset="0"/>
                          <a:sym typeface="Palanquin"/>
                        </a:rPr>
                        <a:t>Project 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D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Palanquin"/>
                          <a:cs typeface="Arial" panose="020B0604020202020204" pitchFamily="34" charset="0"/>
                          <a:sym typeface="Palanquin"/>
                        </a:rPr>
                        <a:t>Project 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D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Palanquin"/>
                          <a:cs typeface="Arial" panose="020B0604020202020204" pitchFamily="34" charset="0"/>
                          <a:sym typeface="Palanquin"/>
                        </a:rPr>
                        <a:t>Project 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D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Palanquin"/>
                          <a:cs typeface="Arial" panose="020B0604020202020204" pitchFamily="34" charset="0"/>
                          <a:sym typeface="Palanquin"/>
                        </a:rPr>
                        <a:t>Project 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 dirty="0">
                        <a:latin typeface="Arial" panose="020B0604020202020204" pitchFamily="34" charset="0"/>
                        <a:ea typeface="Palanquin"/>
                        <a:cs typeface="Arial" panose="020B0604020202020204" pitchFamily="34" charset="0"/>
                        <a:sym typeface="Palanqui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Palanquin"/>
                        <a:cs typeface="Arial" panose="020B0604020202020204" pitchFamily="34" charset="0"/>
                        <a:sym typeface="Palanqui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D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Palanquin"/>
                          <a:cs typeface="Arial" panose="020B0604020202020204" pitchFamily="34" charset="0"/>
                          <a:sym typeface="Palanquin"/>
                        </a:rPr>
                        <a:t>Project 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D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Palanquin"/>
                          <a:cs typeface="Arial" panose="020B0604020202020204" pitchFamily="34" charset="0"/>
                          <a:sym typeface="Palanquin"/>
                        </a:rPr>
                        <a:t>Project 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D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Palanquin"/>
                          <a:cs typeface="Arial" panose="020B0604020202020204" pitchFamily="34" charset="0"/>
                          <a:sym typeface="Palanquin"/>
                        </a:rPr>
                        <a:t>Project 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D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Palanquin"/>
                          <a:cs typeface="Arial" panose="020B0604020202020204" pitchFamily="34" charset="0"/>
                          <a:sym typeface="Palanquin"/>
                        </a:rPr>
                        <a:t>Project 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 dirty="0">
                        <a:solidFill>
                          <a:schemeClr val="accent1"/>
                        </a:solidFill>
                        <a:latin typeface="Arial" panose="020B0604020202020204" pitchFamily="34" charset="0"/>
                        <a:ea typeface="Palanquin"/>
                        <a:cs typeface="Arial" panose="020B0604020202020204" pitchFamily="34" charset="0"/>
                        <a:sym typeface="Palanqui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Palanquin"/>
                        <a:cs typeface="Arial" panose="020B0604020202020204" pitchFamily="34" charset="0"/>
                        <a:sym typeface="Palanqui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D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Palanquin"/>
                          <a:cs typeface="Arial" panose="020B0604020202020204" pitchFamily="34" charset="0"/>
                          <a:sym typeface="Palanquin"/>
                        </a:rPr>
                        <a:t>Project 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ea typeface="Palanquin"/>
                        <a:cs typeface="Arial" panose="020B0604020202020204" pitchFamily="34" charset="0"/>
                        <a:sym typeface="Palanqui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D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Palanquin"/>
                          <a:cs typeface="Arial" panose="020B0604020202020204" pitchFamily="34" charset="0"/>
                          <a:sym typeface="Palanquin"/>
                        </a:rPr>
                        <a:t>Project 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D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Palanquin"/>
                          <a:cs typeface="Arial" panose="020B0604020202020204" pitchFamily="34" charset="0"/>
                          <a:sym typeface="Palanquin"/>
                        </a:rPr>
                        <a:t>Project 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 dirty="0">
                        <a:latin typeface="Arial" panose="020B0604020202020204" pitchFamily="34" charset="0"/>
                        <a:ea typeface="Palanquin"/>
                        <a:cs typeface="Arial" panose="020B0604020202020204" pitchFamily="34" charset="0"/>
                        <a:sym typeface="Palanqui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Google Shape;231;g3694320abce_0_0">
            <a:extLst>
              <a:ext uri="{FF2B5EF4-FFF2-40B4-BE49-F238E27FC236}">
                <a16:creationId xmlns:a16="http://schemas.microsoft.com/office/drawing/2014/main" id="{1B972408-B68D-3165-DCD2-A0D949361011}"/>
              </a:ext>
            </a:extLst>
          </p:cNvPr>
          <p:cNvSpPr/>
          <p:nvPr/>
        </p:nvSpPr>
        <p:spPr>
          <a:xfrm>
            <a:off x="-1" y="403433"/>
            <a:ext cx="8280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23C6F9E-71BF-565F-131E-9985A5B22287}"/>
              </a:ext>
            </a:extLst>
          </p:cNvPr>
          <p:cNvSpPr txBox="1">
            <a:spLocks/>
          </p:cNvSpPr>
          <p:nvPr/>
        </p:nvSpPr>
        <p:spPr>
          <a:xfrm>
            <a:off x="247808" y="163063"/>
            <a:ext cx="3482620" cy="2173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D" sz="11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BAB XX | </a:t>
            </a:r>
            <a:r>
              <a:rPr lang="en-ID" sz="11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Action Plan</a:t>
            </a:r>
            <a:endParaRPr lang="en-ID" sz="11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sp>
        <p:nvSpPr>
          <p:cNvPr id="4" name="Google Shape;231;g3694320abce_0_0">
            <a:extLst>
              <a:ext uri="{FF2B5EF4-FFF2-40B4-BE49-F238E27FC236}">
                <a16:creationId xmlns:a16="http://schemas.microsoft.com/office/drawing/2014/main" id="{B2022CC0-DF05-66BF-926D-FE36206DA0A5}"/>
              </a:ext>
            </a:extLst>
          </p:cNvPr>
          <p:cNvSpPr/>
          <p:nvPr/>
        </p:nvSpPr>
        <p:spPr>
          <a:xfrm>
            <a:off x="-1" y="4825750"/>
            <a:ext cx="8748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43CCACD-67FA-AC2C-87F2-F1CB3470559F}"/>
              </a:ext>
            </a:extLst>
          </p:cNvPr>
          <p:cNvSpPr txBox="1">
            <a:spLocks/>
          </p:cNvSpPr>
          <p:nvPr/>
        </p:nvSpPr>
        <p:spPr>
          <a:xfrm>
            <a:off x="8428827" y="4843750"/>
            <a:ext cx="319172" cy="2155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9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xx</a:t>
            </a:r>
            <a:endParaRPr lang="en-ID" sz="9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3B692D3-46A2-92E5-DDE4-5CE59EC7F8F1}"/>
              </a:ext>
            </a:extLst>
          </p:cNvPr>
          <p:cNvGrpSpPr/>
          <p:nvPr/>
        </p:nvGrpSpPr>
        <p:grpSpPr>
          <a:xfrm>
            <a:off x="8374955" y="177830"/>
            <a:ext cx="660585" cy="808613"/>
            <a:chOff x="8374955" y="177830"/>
            <a:chExt cx="660585" cy="808613"/>
          </a:xfrm>
        </p:grpSpPr>
        <p:pic>
          <p:nvPicPr>
            <p:cNvPr id="8" name="Picture 7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4A0B479D-FFBD-6935-0D21-9DF407EA85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73437"/>
            <a:stretch>
              <a:fillRect/>
            </a:stretch>
          </p:blipFill>
          <p:spPr>
            <a:xfrm>
              <a:off x="8499755" y="177830"/>
              <a:ext cx="410987" cy="501633"/>
            </a:xfrm>
            <a:prstGeom prst="rect">
              <a:avLst/>
            </a:prstGeom>
          </p:spPr>
        </p:pic>
        <p:sp>
          <p:nvSpPr>
            <p:cNvPr id="9" name="Title 1">
              <a:extLst>
                <a:ext uri="{FF2B5EF4-FFF2-40B4-BE49-F238E27FC236}">
                  <a16:creationId xmlns:a16="http://schemas.microsoft.com/office/drawing/2014/main" id="{EFFCE004-478A-411C-2A22-E22775395903}"/>
                </a:ext>
              </a:extLst>
            </p:cNvPr>
            <p:cNvSpPr txBox="1">
              <a:spLocks/>
            </p:cNvSpPr>
            <p:nvPr/>
          </p:nvSpPr>
          <p:spPr>
            <a:xfrm>
              <a:off x="8374955" y="641372"/>
              <a:ext cx="660585" cy="3450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1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9pPr>
            </a:lstStyle>
            <a:p>
              <a:pPr algn="ctr"/>
              <a:r>
                <a:rPr lang="en" sz="500" dirty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CORPORATE PLANNING 2026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erson holding a small plant&#10;&#10;AI-generated content may be incorrect.">
            <a:extLst>
              <a:ext uri="{FF2B5EF4-FFF2-40B4-BE49-F238E27FC236}">
                <a16:creationId xmlns:a16="http://schemas.microsoft.com/office/drawing/2014/main" id="{D8614D74-B096-B75E-9BB4-D82529CA3D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997" t="5297" r="1" b="13702"/>
          <a:stretch>
            <a:fillRect/>
          </a:stretch>
        </p:blipFill>
        <p:spPr>
          <a:xfrm flipH="1">
            <a:off x="353133" y="0"/>
            <a:ext cx="8790866" cy="5143500"/>
          </a:xfrm>
          <a:prstGeom prst="rect">
            <a:avLst/>
          </a:prstGeom>
        </p:spPr>
      </p:pic>
      <p:sp>
        <p:nvSpPr>
          <p:cNvPr id="942" name="Google Shape;942;p64"/>
          <p:cNvSpPr txBox="1">
            <a:spLocks noGrp="1"/>
          </p:cNvSpPr>
          <p:nvPr>
            <p:ph type="title"/>
          </p:nvPr>
        </p:nvSpPr>
        <p:spPr>
          <a:xfrm flipH="1">
            <a:off x="586728" y="3397159"/>
            <a:ext cx="2967177" cy="7117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" sz="280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Terima</a:t>
            </a:r>
            <a:r>
              <a:rPr lang="en" sz="28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Kasih</a:t>
            </a:r>
            <a:endParaRPr lang="en-US" sz="28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 descr="A black and white logo&#10;&#10;AI-generated content may be incorrect.">
            <a:extLst>
              <a:ext uri="{FF2B5EF4-FFF2-40B4-BE49-F238E27FC236}">
                <a16:creationId xmlns:a16="http://schemas.microsoft.com/office/drawing/2014/main" id="{A73225D6-34CD-71E1-1BA2-7DFE76D304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903" y="457721"/>
            <a:ext cx="2132566" cy="691419"/>
          </a:xfrm>
          <a:prstGeom prst="rect">
            <a:avLst/>
          </a:prstGeom>
        </p:spPr>
      </p:pic>
      <p:sp>
        <p:nvSpPr>
          <p:cNvPr id="6" name="Google Shape;231;g3694320abce_0_0">
            <a:extLst>
              <a:ext uri="{FF2B5EF4-FFF2-40B4-BE49-F238E27FC236}">
                <a16:creationId xmlns:a16="http://schemas.microsoft.com/office/drawing/2014/main" id="{5C31D7DD-A97F-1465-C685-0986A64D244D}"/>
              </a:ext>
            </a:extLst>
          </p:cNvPr>
          <p:cNvSpPr/>
          <p:nvPr/>
        </p:nvSpPr>
        <p:spPr>
          <a:xfrm rot="5400000">
            <a:off x="-2395181" y="2395181"/>
            <a:ext cx="5143500" cy="353138"/>
          </a:xfrm>
          <a:prstGeom prst="rect">
            <a:avLst/>
          </a:prstGeom>
          <a:gradFill>
            <a:gsLst>
              <a:gs pos="0">
                <a:srgbClr val="9FA032"/>
              </a:gs>
              <a:gs pos="100000">
                <a:srgbClr val="F0E71A"/>
              </a:gs>
            </a:gsLst>
            <a:lin ang="5400000" scaled="1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2000">
              <a:solidFill>
                <a:schemeClr val="lt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11A5847-C218-D402-63B1-3E05697021AF}"/>
              </a:ext>
            </a:extLst>
          </p:cNvPr>
          <p:cNvSpPr txBox="1">
            <a:spLocks/>
          </p:cNvSpPr>
          <p:nvPr/>
        </p:nvSpPr>
        <p:spPr>
          <a:xfrm>
            <a:off x="586728" y="1362160"/>
            <a:ext cx="4761245" cy="1821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1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9pPr>
          </a:lstStyle>
          <a:p>
            <a:pPr algn="l"/>
            <a:r>
              <a:rPr lang="en" sz="36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CORPORATE PLANNING </a:t>
            </a:r>
            <a:br>
              <a:rPr lang="en" sz="36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" sz="36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2026</a:t>
            </a:r>
          </a:p>
        </p:txBody>
      </p:sp>
      <p:sp>
        <p:nvSpPr>
          <p:cNvPr id="10" name="Google Shape;189;p30">
            <a:hlinkClick r:id="rId5" action="ppaction://hlinksldjump"/>
            <a:extLst>
              <a:ext uri="{FF2B5EF4-FFF2-40B4-BE49-F238E27FC236}">
                <a16:creationId xmlns:a16="http://schemas.microsoft.com/office/drawing/2014/main" id="{B2B02BFB-534F-3CEA-2FD7-1D78B67FE205}"/>
              </a:ext>
            </a:extLst>
          </p:cNvPr>
          <p:cNvSpPr txBox="1"/>
          <p:nvPr/>
        </p:nvSpPr>
        <p:spPr>
          <a:xfrm>
            <a:off x="5820097" y="488349"/>
            <a:ext cx="2990779" cy="524100"/>
          </a:xfrm>
          <a:prstGeom prst="rect">
            <a:avLst/>
          </a:prstGeom>
          <a:solidFill>
            <a:srgbClr val="F1E81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ID" sz="25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Signika"/>
                <a:cs typeface="Arial" panose="020B0604020202020204" pitchFamily="34" charset="0"/>
                <a:sym typeface="Signika"/>
              </a:rPr>
              <a:t>Branch</a:t>
            </a:r>
            <a:r>
              <a:rPr lang="en" sz="30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Signika"/>
                <a:cs typeface="Arial" panose="020B0604020202020204" pitchFamily="34" charset="0"/>
                <a:sym typeface="Signika"/>
              </a:rPr>
              <a:t> / </a:t>
            </a:r>
            <a:r>
              <a:rPr lang="en" sz="25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Signika"/>
                <a:cs typeface="Arial" panose="020B0604020202020204" pitchFamily="34" charset="0"/>
                <a:sym typeface="Signika"/>
              </a:rPr>
              <a:t>Division</a:t>
            </a:r>
            <a:endParaRPr sz="25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Signika"/>
              <a:cs typeface="Arial" panose="020B0604020202020204" pitchFamily="34" charset="0"/>
              <a:sym typeface="Signik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niversity Digital Choice Boards by Slidesgo">
  <a:themeElements>
    <a:clrScheme name="Simple Light">
      <a:dk1>
        <a:srgbClr val="0C4F72"/>
      </a:dk1>
      <a:lt1>
        <a:srgbClr val="D62828"/>
      </a:lt1>
      <a:dk2>
        <a:srgbClr val="F77F00"/>
      </a:dk2>
      <a:lt2>
        <a:srgbClr val="FCBF49"/>
      </a:lt2>
      <a:accent1>
        <a:srgbClr val="EAE2B7"/>
      </a:accent1>
      <a:accent2>
        <a:srgbClr val="0C4F72"/>
      </a:accent2>
      <a:accent3>
        <a:srgbClr val="D62828"/>
      </a:accent3>
      <a:accent4>
        <a:srgbClr val="F77F00"/>
      </a:accent4>
      <a:accent5>
        <a:srgbClr val="FCBF49"/>
      </a:accent5>
      <a:accent6>
        <a:srgbClr val="EAE2B7"/>
      </a:accent6>
      <a:hlink>
        <a:srgbClr val="0C4F7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13510</TotalTime>
  <Words>817</Words>
  <Application>Microsoft Office PowerPoint</Application>
  <PresentationFormat>On-screen Show (16:9)</PresentationFormat>
  <Paragraphs>260</Paragraphs>
  <Slides>24</Slides>
  <Notes>22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University Digital Choice Boards by Slidesgo</vt:lpstr>
      <vt:lpstr>PowerPoint Presentation</vt:lpstr>
      <vt:lpstr>PowerPoint Presentation</vt:lpstr>
      <vt:lpstr>Reviews</vt:lpstr>
      <vt:lpstr>PowerPoint Presentation</vt:lpstr>
      <vt:lpstr>Financial Target &amp; Actual 2024</vt:lpstr>
      <vt:lpstr>Top 5 Clients 2024</vt:lpstr>
      <vt:lpstr>Top 3 valuation purpose based on revenue 2024</vt:lpstr>
      <vt:lpstr>PowerPoint Presentation</vt:lpstr>
      <vt:lpstr>PowerPoint Presentation</vt:lpstr>
      <vt:lpstr>PowerPoint Presentation</vt:lpstr>
      <vt:lpstr>PowerPoint Presentation</vt:lpstr>
      <vt:lpstr>Tercapai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Terima Kasih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CORPORATE PLAN 2024</dc:title>
  <dc:creator>HP</dc:creator>
  <cp:lastModifiedBy>Edwardo Krisna Sembiring</cp:lastModifiedBy>
  <cp:revision>53</cp:revision>
  <dcterms:modified xsi:type="dcterms:W3CDTF">2026-01-21T09:28:31Z</dcterms:modified>
</cp:coreProperties>
</file>